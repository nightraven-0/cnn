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the working system for this paper: the trained model, the explanation layer on top of it, and the results. The writing, the framing and where it gets submitted are your call. We'll go through the data, the network layer by layer, what came out, what broke along the way, and what we think should happen next. Every number on these slides comes from the saved runs.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 of priorities matters. Explainability comes first: for every prediction we show which part of the X-ray drove it, and then we test whether that picture deserves trust. Localisation comes second, and most of it falls out of the same maps. The third point is scope. For this stage we wanted a working model whose numbers can sit next to published ones, and improving it comes after.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one slide to remember, it's this one. Classification is in line with published work on the official split, not better than it. The explanations point at the radiologist's box well over twice as often as a random map does. And the three ways of testing an explanation don't agree on which method is best, which we think is the most interesting result for a paper. The last line lists what's still wrong; each of those gets its own slide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ChestX-ray14 is the standard public chest X-ray benchmark. Two things matter most for us: the official split by patient, which makes our numbers comparable with published ones, and the 984 radiologist boxes, which let us grade the explanations. We carved validation out of the official training list by patient, and the code fails loudly if any patient ends up in two splits. Notice the imbalance: Hernia has 86 positive images in a test set of 25,596.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reasons: comparable numbers, an answer key for the explanations that the model never trained on, and no access agreement, so we could start straight away. The costs are real too. The labels come from text mining of reports, so some are wrong, and every paper on this dataset shares that problem. The boxes are few, and it's all one hospital. VinDr-CXR was our first choice. It has better labels and many more boxes, but there's little published work on a fixed split to compare with, and access needs signed agreements. We'd like it as the second test 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DenseNet-121 is the network CheXNet used and the usual baseline on this dataset, so anyone reading can place our numbers. The bigger reason is explainability. The head is one average pool and one linear layer, and with that head the class activation map is exact rather than approximate. Slide 10 shows why. We train at 512 pixels instead of CheXNet's 224, which makes the last feature grid 16 by 16 instead of 7 by 7. That costs about five times the compute but fits on our 16 GB card. A newer backbone might score higher, but it would break the comparison, so it's on the later list.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left to right. The X-ray comes in at 512 by 512. The stem shrinks it to 128 by 128. Then come four dense blocks, and between each pair a transition layer halves the grid and the number of channels. Box heights follow the grid size. By the end of dense block 4 we have 1024 channels on a 16 by 16 grid, and every explanation map is taken from there. Pooling and one linear layer turn that into 14 scores, and a sigmoid turns each score into its own probability, because findings aren't mutually exclusive.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path as the previous slide, with exact output sizes. We checked the sizes by passing a 512 pixel image through our model, not by copying them from the paper. The 121 counts layers that have weights: the stem convolution, two convolutions in each of the 58 dense layers, three transition convolutions and the final linear layer. In total about 7.0 million weights. Only the 14,350 in the new output layer start from scratch; the rest start from ImageNet.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a block, each layer takes every earlier feature map in that block as its input, stacked together. A 1 by 1 convolution squeezes that stack to 128 channels, then a 3 by 3 convolution makes 32 new channels, which join the stack for the next layer. That is why block 1 grows from 64 to 256 channels in steps of 32. Because layers can reuse what earlier layers already found, the network gets by with far fewer weights than a ResNet-50: about 7 million against 25 million.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reason we picked this network. The score for a finding, before the sigmoid, is a weighted sum of the 1024 pooled feature maps plus a bias. Pooling is just an average, so you can apply the weights first and average afterwards and get exactly the same number. Before averaging, that weighted sum is a 16 by 16 map, the class activation map. Its average plus the bias is the score, so CAM splits the prediction across the image rather than estimating it. A unit test checks the equality. The other methods estimate similar maps in other ways, which makes CAM a natural reference 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this is standard. Two choices deserve a sentence. The positive-class weight uses the square root of the imbalance ratio. The full ratio would weight Hernia about 626 times, which makes a very noisy loss; the square root gives 25. And we don't flip images left to right, because a flipped chest X-ray puts the heart on the wrong side and our localisation reports left and right. Each run took about an hour on the RTX 5070 Ti.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run gives one number and no idea how much of it is luck, so we trained the same recipe three times with different seeds. Each row is a run, each column is the validation score after that epoch, and the highlighted cell is the epoch whose weights we kept. All three peak at epoch 4 or 5, and early stopping ends each run three epochs later. The test scores land within 0.0032 of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a run, validation decides. We keep the best epoch, and the later ones show the start of overfitting: training loss keeps falling while validation slips. Across runs, validation can't decide. The run with the best validation score has the worst test score, and each run validated on different patients anyway. So we report the first run, which was fixed as the main one before the other two existed, and we quote the spread. Choosing seed 2024 because it tests best would mean choosing on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work on this dataset builds on DenseNet-121 with ImageNet weights. The recent top scores come from transformers pretrained on hundreds of thousands of chest X-rays, which is a different and much bigger kind of project. Input size falls into three groups: 224 pixels for CheXNet and the transformer papers, 512 for the papers that study explanations and localisation, and the full 1024 for the original baseline and Guendel and colleagues. We picked what the explanation-focused papers use, Hermoza and colleagues and XProtoNet, which also keeps our numbers directly comparable. Links for every paper are on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figure here was checked against the table in the paper itself, and all of them are on the official test split. DenseNet-121 results run from 0.807 to 0.822. Ours sit in that range, a little below the two best DenseNet-121 results, Hermoza and colleagues and XProtoNet, which also train at 512 pixels. The strongest numbers come from transformers pretrained on hundreds of thousands of chest X-rays. We also trained our exact recipe at 224 pixels, with the same seed, to see whether resolution matters for accuracy. It scored 0.802, well outside the spread of the 512 pixel runs, so the larger input helps the score as well as the maps. One trap: CheXNet's 0.841 is often quoted, but it was measured on its own random split, and Baltruschat and colleagues showed that the split alone moves results, so it doesn't belong in this table.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per-finding AUROCs for the original baseline and for the two best DenseNet-121 papers on this split, both of which also train at 512 pixels, next to the average of our three runs. The highlighted value is the best of the four in each row. We beat the original baseline everywhere and hold our own on most findings. The clearest gaps are on the small or subtle findings, so that's where a better recipe would have to earn its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AUROC can look fine for a rare finding while the model is of little practical use for it. Pneumonia is the example: 0.711 AUROC but 0.048 AUPRC. A random guess gets an AUPRC equal to the prevalence, 0.022, so the model is only about twice as good as chance at picking out pneumonia. Hernia looks good, but it rests on 86 test cases, and its AUPRC interval runs from 0.28 to 0.52. All the intervals are in the per-class results file.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run several methods because they rest on different assumptions and fail in different ways. CAM is exact for this network. Grad-CAM and Grad-CAM++ are what most medical imaging papers use. EigenCAM uses no gradients and ignores which finding you ask about, so it points at the same place whatever the question. The random map is the control: if it also does well on a test, the test proves nothing. Three more methods are written and unit-tested but not yet scored, so we don't report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question catches a different failure. A map can point at the right place for the wrong reason, so pointing alone isn't enough. A map can be faithful to the model and still land where no radiologist would look. And a map can look sensible while having nothing to do with the model, just following edges in the image, which is what Adebayo's randomisation check catches. Arun and colleagues found that every saliency method they tried on chest X-rays failed at least one trust test, so we measure instead of just showing pictures.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column by column. Grad-CAM++ localises best. Grad-CAM and CAM are the most faithful. In the last column lower is better, because a map should change when the model is scrambled: CAM changes the most, Grad-CAM++ the least. So which method looks best depends on which test you run. Every method at least doubles the random map on pointing, so the test isn't trivial. We think this disagreement is the most useful result for a paper, since reporting one test for one method amounts to picking an answer.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gaps between findings are much bigger than the gaps between methods. Cardiomegaly is large and always in the same place, so everything finds it. Pneumothorax is the weakest: even with the best method, the hottest point misses the box in about four cases out of five. Nodules score low too, but for a different reason,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nodule box is about the size of one cell of the 16 by 16 map. So any box drawn from a map comes out around twelve times larger than the nodule, and the standard overlap score can't reach 0.5 no matter where the map points. That held in all 79 cases. So we asked a question the grid can answer: does the box from the map contain the nodule's centre? Grad-CAM++ manages that 61% of the time, a random map 13%. The maps do find nodules; the standard score just can't see it. The containment check is our own and hasn't been validated anywhere else, so a paper would need to treat it carefully.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published localisation results on the same radiologist boxes that we can compare with. On Wang and colleagues' own measure, a box counts when at least half of it lies inside the radiologist's box. There we're a little below their original numbers, with the same easy and hard findings. On IoU, which also punishes a box of the wrong size, Grad-CAM++ beats the original baseline but sits well below Hermoza and colleagues, whose method is built to localise. Most of that gap is cardiomegaly: our box comes from the hottest 5% of the map, which is much smaller than an enlarged heart, so the overlap stays low even when the box sits inside it. Neither comparison is exactly like for like, because Wang and colleagues can place several boxes on one image.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were drawn at random from the test set, not picked to look good. Two things stand out. First, the NIH label and the model often disagree, and neither is automatically right: the labels were text-mined and the probabilities aren't calibrated. The last image is labelled No Finding, yet it's an AP film with several lines and tubes, and the model gives Infiltration 0.64. Second, the third image. It's labelled No Finding, and the model's evidence for Infiltration sits over the left shoulder, around the L marker, outside the lungs. That's the kind of shortcut DeGrave and colleagues found in COVID-19 models. One image proves nothing, so the next step is to measure this over the whole test set.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came from the model. The download took the most time: 45 GB over a slow connection, a PC that slept for nine hours in the middle, three power cuts, and NIH's Box folder starting to return 404 errors. Everything now resumes from where it stopped. The label mismatch is in NIH's own files and would have quietly dropped 123 boxes. The GPU memory one is worth knowing on Windows: the driver doesn't fail when memory runs out, it just gets twenty times slower. The last one cost a re-run of the test pass, but the trained weights were never at risk.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traps anyone implementing these checks can walk into. The BatchNorm one is the subtle one. Scrambling a network's weights isn't enough, because BatchNorm keeps running statistics outside the weights, and with scrambled layers those statistics push activations to infinity. Before the fix, every method came back as NaN, which could easily have been read as every method failing the test. The threshold bug would have made boxes the size of the whole X-ray, which ruins every overlap score. Unit tests caught that one before any result was reported.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list. Calibration is the cheapest fix and matters most for a demo, since right now 0.5 means something different for every finding. For pneumothorax, Oakden-Rayner and colleagues found models on this dataset leaning on chest drains, the tubes put in to treat it, so that's the first thing we'd check. The shoulder example needs the test-set-wide measurement before we say anything about shortcuts. The data limits can't be fixed on this dataset, only stated.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suggestion for the paper's angle, and it's yours to judge. Many medical imaging papers show a few Grad-CAM pictures and move on. On a model that matches the literature, we can show that the standard tests of an explanation disagree about which method to trust, and where each method breaks down: pneumothorax, nodules at this resolution, and possibly shortcuts. That's a measurement paper, and it doesn't need a better classifier to stand.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column is cheap work on what we already have: calibration, the shortcut measurement and the three unscored methods. All of it runs on our GPU in hours. The second column is what would make a paper stronger: a second hospital, finer maps so nodules get a fair test, and a proper look at pneumothorax. The last column is bigger changes and outside help. NIH's download page also offers re-extracted labels called MAPLEZ, which could help with label noise; we haven't looked at them closely yet. The order after the first column depends on your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decide what we do next, so it would help to settle them today if possible. Everything shown is saved and scripted: all four runs with weights, per-epoch history and test scores, the explanation tables, and 40 passing unit tests. If you like, we can run the model on any test X-ray you pick.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number quoted from these papers was checked against the paper's own table. The links open the paper or its publisher page.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hyperlink" Target="https://arxiv.org/abs/1705.02315" TargetMode="External"/><Relationship Id="rId4" Type="http://schemas.openxmlformats.org/officeDocument/2006/relationships/hyperlink" Target="https://arxiv.org/abs/1711.05225" TargetMode="External"/><Relationship Id="rId5" Type="http://schemas.openxmlformats.org/officeDocument/2006/relationships/hyperlink" Target="https://arxiv.org/abs/1710.10501" TargetMode="External"/><Relationship Id="rId6" Type="http://schemas.openxmlformats.org/officeDocument/2006/relationships/hyperlink" Target="https://arxiv.org/abs/1803.07703" TargetMode="External"/><Relationship Id="rId7" Type="http://schemas.openxmlformats.org/officeDocument/2006/relationships/hyperlink" Target="https://arxiv.org/abs/1803.04565" TargetMode="External"/><Relationship Id="rId8" Type="http://schemas.openxmlformats.org/officeDocument/2006/relationships/hyperlink" Target="https://www.nature.com/articles/s41598-019-42294-8" TargetMode="External"/><Relationship Id="rId9" Type="http://schemas.openxmlformats.org/officeDocument/2006/relationships/hyperlink" Target="https://doi.org/10.1007/978-3-030-32226-7_81" TargetMode="External"/><Relationship Id="rId10" Type="http://schemas.openxmlformats.org/officeDocument/2006/relationships/hyperlink" Target="https://doi.org/10.1016/j.patrec.2018.10.027" TargetMode="External"/><Relationship Id="rId11" Type="http://schemas.openxmlformats.org/officeDocument/2006/relationships/hyperlink" Target="https://arxiv.org/abs/2005.10550" TargetMode="External"/><Relationship Id="rId12" Type="http://schemas.openxmlformats.org/officeDocument/2006/relationships/hyperlink" Target="https://arxiv.org/abs/2103.10663" TargetMode="External"/><Relationship Id="rId13" Type="http://schemas.openxmlformats.org/officeDocument/2006/relationships/hyperlink" Target="https://arxiv.org/abs/2206.04246" TargetMode="External"/><Relationship Id="rId14" Type="http://schemas.openxmlformats.org/officeDocument/2006/relationships/hyperlink" Target="https://arxiv.org/abs/2210.12843" TargetMode="External"/><Relationship Id="rId15" Type="http://schemas.openxmlformats.org/officeDocument/2006/relationships/hyperlink" Target="https://arxiv.org/abs/2404.18933" TargetMode="External"/><Relationship Id="rId16" Type="http://schemas.openxmlformats.org/officeDocument/2006/relationships/hyperlink" Target="https://arxiv.org/abs/1608.06993" TargetMode="External"/><Relationship Id="rId17" Type="http://schemas.openxmlformats.org/officeDocument/2006/relationships/hyperlink" Target="https://arxiv.org/abs/1810.03292" TargetMode="External"/><Relationship Id="rId18" Type="http://schemas.openxmlformats.org/officeDocument/2006/relationships/hyperlink" Target="https://doi.org/10.1148/ryai.2021200267" TargetMode="External"/><Relationship Id="rId19" Type="http://schemas.openxmlformats.org/officeDocument/2006/relationships/hyperlink" Target="https://doi.org/10.1038/s42256-021-00338-7" TargetMode="External"/><Relationship Id="rId20" Type="http://schemas.openxmlformats.org/officeDocument/2006/relationships/hyperlink" Target="https://doi.org/10.1038/s42256-022-00536-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822960" y="2071116"/>
            <a:ext cx="118872" cy="118872"/>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2002536"/>
            <a:ext cx="5486400" cy="274320"/>
          </a:xfrm>
          <a:prstGeom prst="rect">
            <a:avLst/>
          </a:prstGeom>
          <a:noFill/>
        </p:spPr>
        <p:txBody>
          <a:bodyPr wrap="square" lIns="0" rIns="0" tIns="0" bIns="0" anchor="t">
            <a:noAutofit/>
          </a:bodyPr>
          <a:lstStyle/>
          <a:p>
            <a:pPr algn="l">
              <a:lnSpc>
                <a:spcPct val="105000"/>
              </a:lnSpc>
              <a:spcAft>
                <a:spcPts val="0"/>
              </a:spcAft>
            </a:pPr>
            <a:r>
              <a:rPr sz="1300" b="1" spc="250">
                <a:solidFill>
                  <a:srgbClr val="F2994A"/>
                </a:solidFill>
                <a:latin typeface="Calibri"/>
              </a:rPr>
              <a:t>FIRST REVIEW</a:t>
            </a:r>
            <a:endParaRPr sz="1300"/>
          </a:p>
        </p:txBody>
      </p:sp>
      <p:sp>
        <p:nvSpPr>
          <p:cNvPr id="4" name="TextBox 3"/>
          <p:cNvSpPr txBox="1"/>
          <p:nvPr/>
        </p:nvSpPr>
        <p:spPr>
          <a:xfrm>
            <a:off x="822960" y="2377440"/>
            <a:ext cx="10972800" cy="914400"/>
          </a:xfrm>
          <a:prstGeom prst="rect">
            <a:avLst/>
          </a:prstGeom>
          <a:noFill/>
        </p:spPr>
        <p:txBody>
          <a:bodyPr wrap="square" lIns="0" rIns="0" tIns="0" bIns="0" anchor="t">
            <a:noAutofit/>
          </a:bodyPr>
          <a:lstStyle/>
          <a:p>
            <a:pPr algn="l">
              <a:lnSpc>
                <a:spcPct val="105000"/>
              </a:lnSpc>
              <a:spcAft>
                <a:spcPts val="0"/>
              </a:spcAft>
            </a:pPr>
            <a:r>
              <a:rPr sz="4600" b="1">
                <a:solidFill>
                  <a:srgbClr val="FFFFFF"/>
                </a:solidFill>
                <a:latin typeface="Calibri"/>
              </a:rPr>
              <a:t>Explainable chest X-ray classification</a:t>
            </a:r>
            <a:endParaRPr sz="4600"/>
          </a:p>
        </p:txBody>
      </p:sp>
      <p:sp>
        <p:nvSpPr>
          <p:cNvPr id="5" name="TextBox 4"/>
          <p:cNvSpPr txBox="1"/>
          <p:nvPr/>
        </p:nvSpPr>
        <p:spPr>
          <a:xfrm>
            <a:off x="822960" y="3383280"/>
            <a:ext cx="9144000" cy="914400"/>
          </a:xfrm>
          <a:prstGeom prst="rect">
            <a:avLst/>
          </a:prstGeom>
          <a:noFill/>
        </p:spPr>
        <p:txBody>
          <a:bodyPr wrap="square" lIns="0" rIns="0" tIns="0" bIns="0" anchor="t">
            <a:noAutofit/>
          </a:bodyPr>
          <a:lstStyle/>
          <a:p>
            <a:pPr algn="l">
              <a:lnSpc>
                <a:spcPct val="110000"/>
              </a:lnSpc>
              <a:spcAft>
                <a:spcPts val="0"/>
              </a:spcAft>
            </a:pPr>
            <a:r>
              <a:rPr sz="2200" b="0">
                <a:solidFill>
                  <a:srgbClr val="D2D2D2"/>
                </a:solidFill>
                <a:latin typeface="Calibri"/>
              </a:rPr>
              <a:t>A DenseNet-121 trained on NIH ChestX-ray14, and three tests of whether its explanations can be trusted</a:t>
            </a:r>
            <a:endParaRPr sz="2200"/>
          </a:p>
        </p:txBody>
      </p:sp>
      <p:sp>
        <p:nvSpPr>
          <p:cNvPr id="6" name="TextBox 5"/>
          <p:cNvSpPr txBox="1"/>
          <p:nvPr/>
        </p:nvSpPr>
        <p:spPr>
          <a:xfrm>
            <a:off x="822960" y="5532120"/>
            <a:ext cx="8229600" cy="640080"/>
          </a:xfrm>
          <a:prstGeom prst="rect">
            <a:avLst/>
          </a:prstGeom>
          <a:noFill/>
        </p:spPr>
        <p:txBody>
          <a:bodyPr wrap="square" lIns="0" rIns="0" tIns="0" bIns="0" anchor="t">
            <a:noAutofit/>
          </a:bodyPr>
          <a:lstStyle/>
          <a:p>
            <a:pPr algn="l">
              <a:lnSpc>
                <a:spcPct val="105000"/>
              </a:lnSpc>
              <a:spcAft>
                <a:spcPts val="300"/>
              </a:spcAft>
            </a:pPr>
            <a:r>
              <a:rPr sz="1400" b="0">
                <a:solidFill>
                  <a:srgbClr val="8F8F8F"/>
                </a:solidFill>
                <a:latin typeface="Calibri"/>
              </a:rPr>
              <a:t>Prepared by [team names] for [mentor name]</a:t>
            </a:r>
            <a:endParaRPr sz="1400"/>
          </a:p>
          <a:p>
            <a:pPr algn="l">
              <a:lnSpc>
                <a:spcPct val="105000"/>
              </a:lnSpc>
              <a:spcAft>
                <a:spcPts val="0"/>
              </a:spcAft>
            </a:pPr>
            <a:r>
              <a:rPr sz="1400" b="0">
                <a:solidFill>
                  <a:srgbClr val="8F8F8F"/>
                </a:solidFill>
                <a:latin typeface="Calibri"/>
              </a:rPr>
              <a:t>September 2026</a:t>
            </a:r>
            <a:endParaRPr sz="14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THE BRIEF</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Explanations first, localisation second</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a:t>
            </a:r>
            <a:endParaRPr sz="1000"/>
          </a:p>
        </p:txBody>
      </p:sp>
      <p:sp>
        <p:nvSpPr>
          <p:cNvPr id="6" name="TextBox 5"/>
          <p:cNvSpPr txBox="1"/>
          <p:nvPr/>
        </p:nvSpPr>
        <p:spPr>
          <a:xfrm>
            <a:off x="548640" y="1691640"/>
            <a:ext cx="1097280" cy="868680"/>
          </a:xfrm>
          <a:prstGeom prst="rect">
            <a:avLst/>
          </a:prstGeom>
          <a:noFill/>
        </p:spPr>
        <p:txBody>
          <a:bodyPr wrap="square" lIns="0" rIns="0" tIns="0" bIns="0" anchor="b">
            <a:noAutofit/>
          </a:bodyPr>
          <a:lstStyle/>
          <a:p>
            <a:pPr algn="l">
              <a:lnSpc>
                <a:spcPct val="105000"/>
              </a:lnSpc>
              <a:spcAft>
                <a:spcPts val="0"/>
              </a:spcAft>
            </a:pPr>
            <a:r>
              <a:rPr sz="6000" b="0">
                <a:solidFill>
                  <a:srgbClr val="F2994A"/>
                </a:solidFill>
                <a:latin typeface="Calibri Light"/>
              </a:rPr>
              <a:t>1</a:t>
            </a:r>
            <a:endParaRPr sz="6000"/>
          </a:p>
        </p:txBody>
      </p:sp>
      <p:sp>
        <p:nvSpPr>
          <p:cNvPr id="7" name="TextBox 6"/>
          <p:cNvSpPr txBox="1"/>
          <p:nvPr/>
        </p:nvSpPr>
        <p:spPr>
          <a:xfrm>
            <a:off x="548640" y="2743200"/>
            <a:ext cx="3442106" cy="457200"/>
          </a:xfrm>
          <a:prstGeom prst="rect">
            <a:avLst/>
          </a:prstGeom>
          <a:noFill/>
        </p:spPr>
        <p:txBody>
          <a:bodyPr wrap="square" lIns="0" rIns="0" tIns="0" bIns="0" anchor="t">
            <a:noAutofit/>
          </a:bodyPr>
          <a:lstStyle/>
          <a:p>
            <a:pPr algn="l">
              <a:lnSpc>
                <a:spcPct val="105000"/>
              </a:lnSpc>
              <a:spcAft>
                <a:spcPts val="0"/>
              </a:spcAft>
            </a:pPr>
            <a:r>
              <a:rPr sz="2100" b="1">
                <a:solidFill>
                  <a:srgbClr val="FFFFFF"/>
                </a:solidFill>
                <a:latin typeface="Calibri"/>
              </a:rPr>
              <a:t>Explain every prediction</a:t>
            </a:r>
            <a:endParaRPr sz="2100"/>
          </a:p>
        </p:txBody>
      </p:sp>
      <p:sp>
        <p:nvSpPr>
          <p:cNvPr id="8" name="TextBox 7"/>
          <p:cNvSpPr txBox="1"/>
          <p:nvPr/>
        </p:nvSpPr>
        <p:spPr>
          <a:xfrm>
            <a:off x="548640" y="3246120"/>
            <a:ext cx="3350666" cy="1828800"/>
          </a:xfrm>
          <a:prstGeom prst="rect">
            <a:avLst/>
          </a:prstGeom>
          <a:noFill/>
        </p:spPr>
        <p:txBody>
          <a:bodyPr wrap="square" lIns="0" rIns="0" tIns="0" bIns="0" anchor="t">
            <a:noAutofit/>
          </a:bodyPr>
          <a:lstStyle/>
          <a:p>
            <a:pPr algn="l">
              <a:lnSpc>
                <a:spcPct val="110000"/>
              </a:lnSpc>
              <a:spcAft>
                <a:spcPts val="0"/>
              </a:spcAft>
            </a:pPr>
            <a:r>
              <a:rPr sz="1700" b="0">
                <a:solidFill>
                  <a:srgbClr val="D2D2D2"/>
                </a:solidFill>
                <a:latin typeface="Calibri"/>
              </a:rPr>
              <a:t>Show which part of the X-ray drove each finding, and measure how far that picture can be trusted.</a:t>
            </a:r>
            <a:endParaRPr sz="1700"/>
          </a:p>
        </p:txBody>
      </p:sp>
      <p:sp>
        <p:nvSpPr>
          <p:cNvPr id="9" name="TextBox 8"/>
          <p:cNvSpPr txBox="1"/>
          <p:nvPr/>
        </p:nvSpPr>
        <p:spPr>
          <a:xfrm>
            <a:off x="4374794" y="1691640"/>
            <a:ext cx="1097280" cy="868680"/>
          </a:xfrm>
          <a:prstGeom prst="rect">
            <a:avLst/>
          </a:prstGeom>
          <a:noFill/>
        </p:spPr>
        <p:txBody>
          <a:bodyPr wrap="square" lIns="0" rIns="0" tIns="0" bIns="0" anchor="b">
            <a:noAutofit/>
          </a:bodyPr>
          <a:lstStyle/>
          <a:p>
            <a:pPr algn="l">
              <a:lnSpc>
                <a:spcPct val="105000"/>
              </a:lnSpc>
              <a:spcAft>
                <a:spcPts val="0"/>
              </a:spcAft>
            </a:pPr>
            <a:r>
              <a:rPr sz="6000" b="0">
                <a:solidFill>
                  <a:srgbClr val="F2994A"/>
                </a:solidFill>
                <a:latin typeface="Calibri Light"/>
              </a:rPr>
              <a:t>2</a:t>
            </a:r>
            <a:endParaRPr sz="6000"/>
          </a:p>
        </p:txBody>
      </p:sp>
      <p:sp>
        <p:nvSpPr>
          <p:cNvPr id="10" name="TextBox 9"/>
          <p:cNvSpPr txBox="1"/>
          <p:nvPr/>
        </p:nvSpPr>
        <p:spPr>
          <a:xfrm>
            <a:off x="4374794" y="2743200"/>
            <a:ext cx="3442106" cy="457200"/>
          </a:xfrm>
          <a:prstGeom prst="rect">
            <a:avLst/>
          </a:prstGeom>
          <a:noFill/>
        </p:spPr>
        <p:txBody>
          <a:bodyPr wrap="square" lIns="0" rIns="0" tIns="0" bIns="0" anchor="t">
            <a:noAutofit/>
          </a:bodyPr>
          <a:lstStyle/>
          <a:p>
            <a:pPr algn="l">
              <a:lnSpc>
                <a:spcPct val="105000"/>
              </a:lnSpc>
              <a:spcAft>
                <a:spcPts val="0"/>
              </a:spcAft>
            </a:pPr>
            <a:r>
              <a:rPr sz="2100" b="1">
                <a:solidFill>
                  <a:srgbClr val="FFFFFF"/>
                </a:solidFill>
                <a:latin typeface="Calibri"/>
              </a:rPr>
              <a:t>Localise the finding</a:t>
            </a:r>
            <a:endParaRPr sz="2100"/>
          </a:p>
        </p:txBody>
      </p:sp>
      <p:sp>
        <p:nvSpPr>
          <p:cNvPr id="11" name="TextBox 10"/>
          <p:cNvSpPr txBox="1"/>
          <p:nvPr/>
        </p:nvSpPr>
        <p:spPr>
          <a:xfrm>
            <a:off x="4374794" y="3246120"/>
            <a:ext cx="3350666" cy="1828800"/>
          </a:xfrm>
          <a:prstGeom prst="rect">
            <a:avLst/>
          </a:prstGeom>
          <a:noFill/>
        </p:spPr>
        <p:txBody>
          <a:bodyPr wrap="square" lIns="0" rIns="0" tIns="0" bIns="0" anchor="t">
            <a:noAutofit/>
          </a:bodyPr>
          <a:lstStyle/>
          <a:p>
            <a:pPr algn="l">
              <a:lnSpc>
                <a:spcPct val="110000"/>
              </a:lnSpc>
              <a:spcAft>
                <a:spcPts val="0"/>
              </a:spcAft>
            </a:pPr>
            <a:r>
              <a:rPr sz="1700" b="0">
                <a:solidFill>
                  <a:srgbClr val="D2D2D2"/>
                </a:solidFill>
                <a:latin typeface="Calibri"/>
              </a:rPr>
              <a:t>Turn the same maps into boxes and rough zones, and score them against boxes drawn by radiologists.</a:t>
            </a:r>
            <a:endParaRPr sz="1700"/>
          </a:p>
        </p:txBody>
      </p:sp>
      <p:sp>
        <p:nvSpPr>
          <p:cNvPr id="12" name="TextBox 11"/>
          <p:cNvSpPr txBox="1"/>
          <p:nvPr/>
        </p:nvSpPr>
        <p:spPr>
          <a:xfrm>
            <a:off x="8200948" y="1691640"/>
            <a:ext cx="1097280" cy="868680"/>
          </a:xfrm>
          <a:prstGeom prst="rect">
            <a:avLst/>
          </a:prstGeom>
          <a:noFill/>
        </p:spPr>
        <p:txBody>
          <a:bodyPr wrap="square" lIns="0" rIns="0" tIns="0" bIns="0" anchor="b">
            <a:noAutofit/>
          </a:bodyPr>
          <a:lstStyle/>
          <a:p>
            <a:pPr algn="l">
              <a:lnSpc>
                <a:spcPct val="105000"/>
              </a:lnSpc>
              <a:spcAft>
                <a:spcPts val="0"/>
              </a:spcAft>
            </a:pPr>
            <a:r>
              <a:rPr sz="6000" b="0">
                <a:solidFill>
                  <a:srgbClr val="F2994A"/>
                </a:solidFill>
                <a:latin typeface="Calibri Light"/>
              </a:rPr>
              <a:t>3</a:t>
            </a:r>
            <a:endParaRPr sz="6000"/>
          </a:p>
        </p:txBody>
      </p:sp>
      <p:sp>
        <p:nvSpPr>
          <p:cNvPr id="13" name="TextBox 12"/>
          <p:cNvSpPr txBox="1"/>
          <p:nvPr/>
        </p:nvSpPr>
        <p:spPr>
          <a:xfrm>
            <a:off x="8200948" y="2743200"/>
            <a:ext cx="3442106" cy="457200"/>
          </a:xfrm>
          <a:prstGeom prst="rect">
            <a:avLst/>
          </a:prstGeom>
          <a:noFill/>
        </p:spPr>
        <p:txBody>
          <a:bodyPr wrap="square" lIns="0" rIns="0" tIns="0" bIns="0" anchor="t">
            <a:noAutofit/>
          </a:bodyPr>
          <a:lstStyle/>
          <a:p>
            <a:pPr algn="l">
              <a:lnSpc>
                <a:spcPct val="105000"/>
              </a:lnSpc>
              <a:spcAft>
                <a:spcPts val="0"/>
              </a:spcAft>
            </a:pPr>
            <a:r>
              <a:rPr sz="2100" b="1">
                <a:solidFill>
                  <a:srgbClr val="FFFFFF"/>
                </a:solidFill>
                <a:latin typeface="Calibri"/>
              </a:rPr>
              <a:t>Stay comparable</a:t>
            </a:r>
            <a:endParaRPr sz="2100"/>
          </a:p>
        </p:txBody>
      </p:sp>
      <p:sp>
        <p:nvSpPr>
          <p:cNvPr id="14" name="TextBox 13"/>
          <p:cNvSpPr txBox="1"/>
          <p:nvPr/>
        </p:nvSpPr>
        <p:spPr>
          <a:xfrm>
            <a:off x="8200948" y="3246120"/>
            <a:ext cx="3350666" cy="1828800"/>
          </a:xfrm>
          <a:prstGeom prst="rect">
            <a:avLst/>
          </a:prstGeom>
          <a:noFill/>
        </p:spPr>
        <p:txBody>
          <a:bodyPr wrap="square" lIns="0" rIns="0" tIns="0" bIns="0" anchor="t">
            <a:noAutofit/>
          </a:bodyPr>
          <a:lstStyle/>
          <a:p>
            <a:pPr algn="l">
              <a:lnSpc>
                <a:spcPct val="110000"/>
              </a:lnSpc>
              <a:spcAft>
                <a:spcPts val="0"/>
              </a:spcAft>
            </a:pPr>
            <a:r>
              <a:rPr sz="1700" b="0">
                <a:solidFill>
                  <a:srgbClr val="D2D2D2"/>
                </a:solidFill>
                <a:latin typeface="Calibri"/>
              </a:rPr>
              <a:t>A working model whose numbers sit next to published ones on the official test split. Making it better comes later.</a:t>
            </a:r>
            <a:endParaRPr sz="1700"/>
          </a:p>
        </p:txBody>
      </p:sp>
      <p:sp>
        <p:nvSpPr>
          <p:cNvPr id="15" name="TextBox 14"/>
          <p:cNvSpPr txBox="1"/>
          <p:nvPr/>
        </p:nvSpPr>
        <p:spPr>
          <a:xfrm>
            <a:off x="548640" y="5760720"/>
            <a:ext cx="11094415" cy="36576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Research prototype on one public dataset. Not a diagnostic tool.</a:t>
            </a:r>
            <a:endParaRPr sz="13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SUMMARY</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Where things stand</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3</a:t>
            </a:r>
            <a:endParaRPr sz="1000"/>
          </a:p>
        </p:txBody>
      </p:sp>
      <p:sp>
        <p:nvSpPr>
          <p:cNvPr id="6" name="TextBox 5"/>
          <p:cNvSpPr txBox="1"/>
          <p:nvPr/>
        </p:nvSpPr>
        <p:spPr>
          <a:xfrm>
            <a:off x="548640" y="1600200"/>
            <a:ext cx="3442106" cy="960120"/>
          </a:xfrm>
          <a:prstGeom prst="rect">
            <a:avLst/>
          </a:prstGeom>
          <a:noFill/>
        </p:spPr>
        <p:txBody>
          <a:bodyPr wrap="square" lIns="0" rIns="0" tIns="0" bIns="0" anchor="b">
            <a:noAutofit/>
          </a:bodyPr>
          <a:lstStyle/>
          <a:p>
            <a:pPr algn="l">
              <a:lnSpc>
                <a:spcPct val="90000"/>
              </a:lnSpc>
              <a:spcAft>
                <a:spcPts val="0"/>
              </a:spcAft>
            </a:pPr>
            <a:r>
              <a:rPr sz="6000" b="0">
                <a:solidFill>
                  <a:srgbClr val="FFFFFF"/>
                </a:solidFill>
                <a:latin typeface="Calibri Light"/>
              </a:rPr>
              <a:t>0.816</a:t>
            </a:r>
            <a:endParaRPr sz="6000"/>
          </a:p>
        </p:txBody>
      </p:sp>
      <p:sp>
        <p:nvSpPr>
          <p:cNvPr id="7" name="TextBox 6"/>
          <p:cNvSpPr txBox="1"/>
          <p:nvPr/>
        </p:nvSpPr>
        <p:spPr>
          <a:xfrm>
            <a:off x="548640" y="2651760"/>
            <a:ext cx="3442106" cy="1645920"/>
          </a:xfrm>
          <a:prstGeom prst="rect">
            <a:avLst/>
          </a:prstGeom>
          <a:noFill/>
        </p:spPr>
        <p:txBody>
          <a:bodyPr wrap="square" lIns="0" rIns="0" tIns="0" bIns="0" anchor="t">
            <a:noAutofit/>
          </a:bodyPr>
          <a:lstStyle/>
          <a:p>
            <a:pPr algn="l">
              <a:lnSpc>
                <a:spcPct val="105000"/>
              </a:lnSpc>
              <a:spcAft>
                <a:spcPts val="0"/>
              </a:spcAft>
            </a:pPr>
            <a:r>
              <a:rPr sz="1600" b="0">
                <a:solidFill>
                  <a:srgbClr val="D2D2D2"/>
                </a:solidFill>
                <a:latin typeface="Calibri"/>
              </a:rPr>
              <a:t>Mean AUROC over 14 findings on NIH's official test split. Repeat runs gave 0.819 and 0.816. Published DenseNet-121 results: 0.807 to 0.822.</a:t>
            </a:r>
            <a:endParaRPr sz="1600"/>
          </a:p>
        </p:txBody>
      </p:sp>
      <p:sp>
        <p:nvSpPr>
          <p:cNvPr id="8" name="TextBox 7"/>
          <p:cNvSpPr txBox="1"/>
          <p:nvPr/>
        </p:nvSpPr>
        <p:spPr>
          <a:xfrm>
            <a:off x="4374794" y="1600200"/>
            <a:ext cx="3442106" cy="960120"/>
          </a:xfrm>
          <a:prstGeom prst="rect">
            <a:avLst/>
          </a:prstGeom>
          <a:noFill/>
        </p:spPr>
        <p:txBody>
          <a:bodyPr wrap="square" lIns="0" rIns="0" tIns="0" bIns="0" anchor="b">
            <a:noAutofit/>
          </a:bodyPr>
          <a:lstStyle/>
          <a:p>
            <a:pPr algn="l">
              <a:lnSpc>
                <a:spcPct val="90000"/>
              </a:lnSpc>
              <a:spcAft>
                <a:spcPts val="0"/>
              </a:spcAft>
            </a:pPr>
            <a:r>
              <a:rPr sz="6000" b="0">
                <a:solidFill>
                  <a:srgbClr val="FFFFFF"/>
                </a:solidFill>
                <a:latin typeface="Calibri Light"/>
              </a:rPr>
              <a:t>2.4×</a:t>
            </a:r>
            <a:endParaRPr sz="6000"/>
          </a:p>
        </p:txBody>
      </p:sp>
      <p:sp>
        <p:nvSpPr>
          <p:cNvPr id="9" name="TextBox 8"/>
          <p:cNvSpPr txBox="1"/>
          <p:nvPr/>
        </p:nvSpPr>
        <p:spPr>
          <a:xfrm>
            <a:off x="4374794" y="2651760"/>
            <a:ext cx="3442106" cy="1645920"/>
          </a:xfrm>
          <a:prstGeom prst="rect">
            <a:avLst/>
          </a:prstGeom>
          <a:noFill/>
        </p:spPr>
        <p:txBody>
          <a:bodyPr wrap="square" lIns="0" rIns="0" tIns="0" bIns="0" anchor="t">
            <a:noAutofit/>
          </a:bodyPr>
          <a:lstStyle/>
          <a:p>
            <a:pPr algn="l">
              <a:lnSpc>
                <a:spcPct val="105000"/>
              </a:lnSpc>
              <a:spcAft>
                <a:spcPts val="0"/>
              </a:spcAft>
            </a:pPr>
            <a:r>
              <a:rPr sz="1600" b="0">
                <a:solidFill>
                  <a:srgbClr val="D2D2D2"/>
                </a:solidFill>
                <a:latin typeface="Calibri"/>
              </a:rPr>
              <a:t>How much more often the best method's hottest point lands in the radiologist's box than a random map's (0.544 against 0.228).</a:t>
            </a:r>
            <a:endParaRPr sz="1600"/>
          </a:p>
        </p:txBody>
      </p:sp>
      <p:sp>
        <p:nvSpPr>
          <p:cNvPr id="10" name="TextBox 9"/>
          <p:cNvSpPr txBox="1"/>
          <p:nvPr/>
        </p:nvSpPr>
        <p:spPr>
          <a:xfrm>
            <a:off x="8200948" y="1600200"/>
            <a:ext cx="3442106" cy="960120"/>
          </a:xfrm>
          <a:prstGeom prst="rect">
            <a:avLst/>
          </a:prstGeom>
          <a:noFill/>
        </p:spPr>
        <p:txBody>
          <a:bodyPr wrap="square" lIns="0" rIns="0" tIns="0" bIns="0" anchor="b">
            <a:noAutofit/>
          </a:bodyPr>
          <a:lstStyle/>
          <a:p>
            <a:pPr algn="l">
              <a:lnSpc>
                <a:spcPct val="90000"/>
              </a:lnSpc>
              <a:spcAft>
                <a:spcPts val="0"/>
              </a:spcAft>
            </a:pPr>
            <a:r>
              <a:rPr sz="4400" b="0">
                <a:solidFill>
                  <a:srgbClr val="FFFFFF"/>
                </a:solidFill>
                <a:latin typeface="Calibri Light"/>
              </a:rPr>
              <a:t>No single best</a:t>
            </a:r>
            <a:endParaRPr sz="4400"/>
          </a:p>
        </p:txBody>
      </p:sp>
      <p:sp>
        <p:nvSpPr>
          <p:cNvPr id="11" name="TextBox 10"/>
          <p:cNvSpPr txBox="1"/>
          <p:nvPr/>
        </p:nvSpPr>
        <p:spPr>
          <a:xfrm>
            <a:off x="8200948" y="2651760"/>
            <a:ext cx="3442106" cy="1645920"/>
          </a:xfrm>
          <a:prstGeom prst="rect">
            <a:avLst/>
          </a:prstGeom>
          <a:noFill/>
        </p:spPr>
        <p:txBody>
          <a:bodyPr wrap="square" lIns="0" rIns="0" tIns="0" bIns="0" anchor="t">
            <a:noAutofit/>
          </a:bodyPr>
          <a:lstStyle/>
          <a:p>
            <a:pPr algn="l">
              <a:lnSpc>
                <a:spcPct val="105000"/>
              </a:lnSpc>
              <a:spcAft>
                <a:spcPts val="0"/>
              </a:spcAft>
            </a:pPr>
            <a:r>
              <a:rPr sz="1600" b="0">
                <a:solidFill>
                  <a:srgbClr val="D2D2D2"/>
                </a:solidFill>
                <a:latin typeface="Calibri"/>
              </a:rPr>
              <a:t>Grad-CAM++ localises best but changes least when the model is scrambled. CAM and Grad-CAM are the most faithful.</a:t>
            </a:r>
            <a:endParaRPr sz="1600"/>
          </a:p>
        </p:txBody>
      </p:sp>
      <p:sp>
        <p:nvSpPr>
          <p:cNvPr id="12" name="Rectangle 11"/>
          <p:cNvSpPr/>
          <p:nvPr/>
        </p:nvSpPr>
        <p:spPr>
          <a:xfrm>
            <a:off x="548640" y="4846320"/>
            <a:ext cx="11094415" cy="1005840"/>
          </a:xfrm>
          <a:prstGeom prst="rect">
            <a:avLst/>
          </a:prstGeom>
          <a:solidFill>
            <a:srgbClr val="15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846320"/>
            <a:ext cx="10454335" cy="1005840"/>
          </a:xfrm>
          <a:prstGeom prst="rect">
            <a:avLst/>
          </a:prstGeom>
          <a:noFill/>
        </p:spPr>
        <p:txBody>
          <a:bodyPr wrap="square" lIns="0" rIns="0" tIns="0" bIns="0" anchor="ctr">
            <a:noAutofit/>
          </a:bodyPr>
          <a:lstStyle/>
          <a:p>
            <a:pPr algn="l">
              <a:lnSpc>
                <a:spcPct val="110000"/>
              </a:lnSpc>
              <a:spcAft>
                <a:spcPts val="0"/>
              </a:spcAft>
            </a:pPr>
            <a:r>
              <a:rPr sz="1600" b="1">
                <a:solidFill>
                  <a:srgbClr val="F2994A"/>
                </a:solidFill>
                <a:latin typeface="Calibri"/>
              </a:rPr>
              <a:t>Still wrong</a:t>
            </a:r>
            <a:r>
              <a:rPr sz="1600" b="0">
                <a:solidFill>
                  <a:srgbClr val="D2D2D2"/>
                </a:solidFill>
                <a:latin typeface="Calibri"/>
              </a:rPr>
              <a:t>   Probabilities are not calibrated, pneumothorax maps point away from the radiologist's box, and one of four random test images puts its evidence on the shoulder.</a:t>
            </a:r>
            <a:endParaRPr sz="16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DATASET</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NIH ChestX-ray14</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4</a:t>
            </a:r>
            <a:endParaRPr sz="1000"/>
          </a:p>
        </p:txBody>
      </p:sp>
      <p:sp>
        <p:nvSpPr>
          <p:cNvPr id="6" name="TextBox 5"/>
          <p:cNvSpPr txBox="1"/>
          <p:nvPr/>
        </p:nvSpPr>
        <p:spPr>
          <a:xfrm>
            <a:off x="548640" y="1554480"/>
            <a:ext cx="2533573"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112,120</a:t>
            </a:r>
            <a:endParaRPr sz="4600"/>
          </a:p>
        </p:txBody>
      </p:sp>
      <p:sp>
        <p:nvSpPr>
          <p:cNvPr id="7" name="TextBox 6"/>
          <p:cNvSpPr txBox="1"/>
          <p:nvPr/>
        </p:nvSpPr>
        <p:spPr>
          <a:xfrm>
            <a:off x="548640" y="2423160"/>
            <a:ext cx="2533573"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frontal chest X-rays, 1024 × 1024 PNG, about 45 GB</a:t>
            </a:r>
            <a:endParaRPr sz="1500"/>
          </a:p>
        </p:txBody>
      </p:sp>
      <p:sp>
        <p:nvSpPr>
          <p:cNvPr id="8" name="TextBox 7"/>
          <p:cNvSpPr txBox="1"/>
          <p:nvPr/>
        </p:nvSpPr>
        <p:spPr>
          <a:xfrm>
            <a:off x="3402253" y="1554480"/>
            <a:ext cx="2533573"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30,805</a:t>
            </a:r>
            <a:endParaRPr sz="4600"/>
          </a:p>
        </p:txBody>
      </p:sp>
      <p:sp>
        <p:nvSpPr>
          <p:cNvPr id="9" name="TextBox 8"/>
          <p:cNvSpPr txBox="1"/>
          <p:nvPr/>
        </p:nvSpPr>
        <p:spPr>
          <a:xfrm>
            <a:off x="3402253" y="2423160"/>
            <a:ext cx="2533573"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patients, and every split is made by patient</a:t>
            </a:r>
            <a:endParaRPr sz="1500"/>
          </a:p>
        </p:txBody>
      </p:sp>
      <p:sp>
        <p:nvSpPr>
          <p:cNvPr id="10" name="TextBox 9"/>
          <p:cNvSpPr txBox="1"/>
          <p:nvPr/>
        </p:nvSpPr>
        <p:spPr>
          <a:xfrm>
            <a:off x="6255867" y="1554480"/>
            <a:ext cx="2533573"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14</a:t>
            </a:r>
            <a:endParaRPr sz="4600"/>
          </a:p>
        </p:txBody>
      </p:sp>
      <p:sp>
        <p:nvSpPr>
          <p:cNvPr id="11" name="TextBox 10"/>
          <p:cNvSpPr txBox="1"/>
          <p:nvPr/>
        </p:nvSpPr>
        <p:spPr>
          <a:xfrm>
            <a:off x="6255867" y="2423160"/>
            <a:ext cx="2533573"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findings. One X-ray can have several, or none.</a:t>
            </a:r>
            <a:endParaRPr sz="1500"/>
          </a:p>
        </p:txBody>
      </p:sp>
      <p:sp>
        <p:nvSpPr>
          <p:cNvPr id="12" name="TextBox 11"/>
          <p:cNvSpPr txBox="1"/>
          <p:nvPr/>
        </p:nvSpPr>
        <p:spPr>
          <a:xfrm>
            <a:off x="9109481" y="1554480"/>
            <a:ext cx="2533573"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984</a:t>
            </a:r>
            <a:endParaRPr sz="4600"/>
          </a:p>
        </p:txBody>
      </p:sp>
      <p:sp>
        <p:nvSpPr>
          <p:cNvPr id="13" name="TextBox 12"/>
          <p:cNvSpPr txBox="1"/>
          <p:nvPr/>
        </p:nvSpPr>
        <p:spPr>
          <a:xfrm>
            <a:off x="9109481" y="2423160"/>
            <a:ext cx="2533573"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radiologist boxes on 880 test images, covering 8 findings</a:t>
            </a:r>
            <a:endParaRPr sz="1500"/>
          </a:p>
        </p:txBody>
      </p:sp>
      <p:graphicFrame>
        <p:nvGraphicFramePr>
          <p:cNvPr id="14" name="Table 13"/>
          <p:cNvGraphicFramePr>
            <a:graphicFrameLocks noGrp="1"/>
          </p:cNvGraphicFramePr>
          <p:nvPr/>
        </p:nvGraphicFramePr>
        <p:xfrm>
          <a:off x="548640" y="3657600"/>
          <a:ext cx="11094415" cy="1673352"/>
        </p:xfrm>
        <a:graphic>
          <a:graphicData uri="http://schemas.openxmlformats.org/drawingml/2006/table">
            <a:tbl>
              <a:tblPr firstRow="0" bandRow="0">
                <a:tableStyleId>{2D5ABB26-0587-4C30-8999-92F81FD0307C}</a:tableStyleId>
              </a:tblPr>
              <a:tblGrid>
                <a:gridCol w="1828800"/>
                <a:gridCol w="1463040"/>
                <a:gridCol w="7802575"/>
              </a:tblGrid>
              <a:tr h="411480">
                <a:tc>
                  <a:txBody>
                    <a:bodyPr wrap="square"/>
                    <a:lstStyle/>
                    <a:p>
                      <a:pPr algn="l">
                        <a:lnSpc>
                          <a:spcPct val="105000"/>
                        </a:lnSpc>
                        <a:spcAft>
                          <a:spcPts val="0"/>
                        </a:spcAft>
                      </a:pPr>
                      <a:r>
                        <a:rPr sz="1200" b="0">
                          <a:solidFill>
                            <a:srgbClr val="8F8F8F"/>
                          </a:solidFill>
                          <a:latin typeface="Calibri"/>
                        </a:rPr>
                        <a:t>split</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images</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where it comes from</a:t>
                      </a:r>
                      <a:endParaRPr sz="1200"/>
                    </a:p>
                  </a:txBody>
                  <a:tcPr marL="73152" marR="73152" marT="27432" marB="27432" anchor="ctr">
                    <a:lnL w="0">
                      <a:noFill/>
                    </a:lnL>
                    <a:lnR w="0">
                      <a:noFill/>
                    </a:lnR>
                    <a:lnT w="0">
                      <a:noFill/>
                    </a:lnT>
                    <a:lnB w="12700">
                      <a:solidFill>
                        <a:srgbClr val="5C5C5C"/>
                      </a:solidFill>
                    </a:lnB>
                    <a:noFill/>
                  </a:tcPr>
                </a:tc>
              </a:tr>
              <a:tr h="420624">
                <a:tc>
                  <a:txBody>
                    <a:bodyPr wrap="square"/>
                    <a:lstStyle/>
                    <a:p>
                      <a:pPr algn="l">
                        <a:lnSpc>
                          <a:spcPct val="105000"/>
                        </a:lnSpc>
                        <a:spcAft>
                          <a:spcPts val="0"/>
                        </a:spcAft>
                      </a:pPr>
                      <a:r>
                        <a:rPr sz="1600" b="1">
                          <a:solidFill>
                            <a:srgbClr val="FFFFFF"/>
                          </a:solidFill>
                          <a:latin typeface="Calibri"/>
                        </a:rPr>
                        <a:t>train</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78,327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NIH's official train and validation list, 90% of its patients</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1">
                          <a:solidFill>
                            <a:srgbClr val="FFFFFF"/>
                          </a:solidFill>
                          <a:latin typeface="Calibri"/>
                        </a:rPr>
                        <a:t>validation</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8,197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the same list, the other 10% of patients (seed 1337)</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1">
                          <a:solidFill>
                            <a:srgbClr val="FFFFFF"/>
                          </a:solidFill>
                          <a:latin typeface="Calibri"/>
                        </a:rPr>
                        <a:t>test</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25,596</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NIH's official test list, untouched. All 984 boxes are in it.</a:t>
                      </a:r>
                      <a:endParaRPr sz="1600"/>
                    </a:p>
                  </a:txBody>
                  <a:tcPr marL="73152" marR="73152" marT="27432" marB="27432" anchor="ctr">
                    <a:lnL w="0">
                      <a:noFill/>
                    </a:lnL>
                    <a:lnR w="0">
                      <a:noFill/>
                    </a:lnR>
                    <a:lnT w="0">
                      <a:noFill/>
                    </a:lnT>
                    <a:lnB w="9525">
                      <a:solidFill>
                        <a:srgbClr val="2E2E2E"/>
                      </a:solidFill>
                    </a:lnB>
                    <a:noFill/>
                  </a:tcPr>
                </a:tc>
              </a:tr>
            </a:tbl>
          </a:graphicData>
        </a:graphic>
      </p:graphicFrame>
      <p:sp>
        <p:nvSpPr>
          <p:cNvPr id="15" name="TextBox 14"/>
          <p:cNvSpPr txBox="1"/>
          <p:nvPr/>
        </p:nvSpPr>
        <p:spPr>
          <a:xfrm>
            <a:off x="548640" y="5715000"/>
            <a:ext cx="11094415" cy="45720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Findings range from Infiltration, in 24% of test images, to Hernia, in 0.3% (86 images). We resize every image to 512 × 512.</a:t>
            </a:r>
            <a:endParaRPr sz="13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DATASET</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Why this dataset</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5</a:t>
            </a:r>
            <a:endParaRPr sz="1000"/>
          </a:p>
        </p:txBody>
      </p:sp>
      <p:sp>
        <p:nvSpPr>
          <p:cNvPr id="6" name="TextBox 5"/>
          <p:cNvSpPr txBox="1"/>
          <p:nvPr/>
        </p:nvSpPr>
        <p:spPr>
          <a:xfrm>
            <a:off x="548640" y="1645920"/>
            <a:ext cx="5341467" cy="411480"/>
          </a:xfrm>
          <a:prstGeom prst="rect">
            <a:avLst/>
          </a:prstGeom>
          <a:noFill/>
        </p:spPr>
        <p:txBody>
          <a:bodyPr wrap="square" lIns="0" rIns="0" tIns="0" bIns="0" anchor="t">
            <a:noAutofit/>
          </a:bodyPr>
          <a:lstStyle/>
          <a:p>
            <a:pPr algn="l">
              <a:lnSpc>
                <a:spcPct val="105000"/>
              </a:lnSpc>
              <a:spcAft>
                <a:spcPts val="0"/>
              </a:spcAft>
            </a:pPr>
            <a:r>
              <a:rPr sz="2000" b="1">
                <a:solidFill>
                  <a:srgbClr val="FFFFFF"/>
                </a:solidFill>
                <a:latin typeface="Calibri"/>
              </a:rPr>
              <a:t>What it gives us</a:t>
            </a:r>
            <a:endParaRPr sz="2000"/>
          </a:p>
        </p:txBody>
      </p:sp>
      <p:sp>
        <p:nvSpPr>
          <p:cNvPr id="7" name="TextBox 6"/>
          <p:cNvSpPr txBox="1"/>
          <p:nvPr/>
        </p:nvSpPr>
        <p:spPr>
          <a:xfrm>
            <a:off x="548640" y="2148840"/>
            <a:ext cx="5341467" cy="2651760"/>
          </a:xfrm>
          <a:prstGeom prst="rect">
            <a:avLst/>
          </a:prstGeom>
          <a:noFill/>
        </p:spPr>
        <p:txBody>
          <a:bodyPr wrap="square" lIns="0" rIns="0" tIns="0" bIns="0" anchor="t">
            <a:noAutofit/>
          </a:bodyPr>
          <a:lstStyle/>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An official test split made by patient, so our numbers line up with published ones</a:t>
            </a:r>
            <a:endParaRPr sz="1600"/>
          </a:p>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Radiologist boxes, all on test images, so explanations are graded on cases the model never trained on</a:t>
            </a:r>
            <a:endParaRPr sz="1600"/>
          </a:p>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No access agreement. It asks only for attribution: cite Wang et al. 2017 and credit the NIH Clinical Center</a:t>
            </a:r>
            <a:endParaRPr sz="1600"/>
          </a:p>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The most used benchmark for this task since CheXNet</a:t>
            </a:r>
            <a:endParaRPr sz="1600"/>
          </a:p>
        </p:txBody>
      </p:sp>
      <p:sp>
        <p:nvSpPr>
          <p:cNvPr id="8" name="TextBox 7"/>
          <p:cNvSpPr txBox="1"/>
          <p:nvPr/>
        </p:nvSpPr>
        <p:spPr>
          <a:xfrm>
            <a:off x="6301587" y="1645920"/>
            <a:ext cx="5341467" cy="411480"/>
          </a:xfrm>
          <a:prstGeom prst="rect">
            <a:avLst/>
          </a:prstGeom>
          <a:noFill/>
        </p:spPr>
        <p:txBody>
          <a:bodyPr wrap="square" lIns="0" rIns="0" tIns="0" bIns="0" anchor="t">
            <a:noAutofit/>
          </a:bodyPr>
          <a:lstStyle/>
          <a:p>
            <a:pPr algn="l">
              <a:lnSpc>
                <a:spcPct val="105000"/>
              </a:lnSpc>
              <a:spcAft>
                <a:spcPts val="0"/>
              </a:spcAft>
            </a:pPr>
            <a:r>
              <a:rPr sz="2000" b="1">
                <a:solidFill>
                  <a:srgbClr val="FFFFFF"/>
                </a:solidFill>
                <a:latin typeface="Calibri"/>
              </a:rPr>
              <a:t>What it costs us</a:t>
            </a:r>
            <a:endParaRPr sz="2000"/>
          </a:p>
        </p:txBody>
      </p:sp>
      <p:sp>
        <p:nvSpPr>
          <p:cNvPr id="9" name="TextBox 8"/>
          <p:cNvSpPr txBox="1"/>
          <p:nvPr/>
        </p:nvSpPr>
        <p:spPr>
          <a:xfrm>
            <a:off x="6301587" y="2148840"/>
            <a:ext cx="5341467" cy="2651760"/>
          </a:xfrm>
          <a:prstGeom prst="rect">
            <a:avLst/>
          </a:prstGeom>
          <a:noFill/>
        </p:spPr>
        <p:txBody>
          <a:bodyPr wrap="square" lIns="0" rIns="0" tIns="0" bIns="0" anchor="t">
            <a:noAutofit/>
          </a:bodyPr>
          <a:lstStyle/>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Labels were text-mined from radiology reports, so some of them are wrong</a:t>
            </a:r>
            <a:endParaRPr sz="1600"/>
          </a:p>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Boxes exist for 8 of the 14 findings, on under a thousand images</a:t>
            </a:r>
            <a:endParaRPr sz="1600"/>
          </a:p>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Every image comes from one hospital</a:t>
            </a:r>
            <a:endParaRPr sz="1600"/>
          </a:p>
        </p:txBody>
      </p:sp>
      <p:sp>
        <p:nvSpPr>
          <p:cNvPr id="10" name="Rectangle 9"/>
          <p:cNvSpPr/>
          <p:nvPr/>
        </p:nvSpPr>
        <p:spPr>
          <a:xfrm>
            <a:off x="548640" y="4892040"/>
            <a:ext cx="11094415" cy="960120"/>
          </a:xfrm>
          <a:prstGeom prst="rect">
            <a:avLst/>
          </a:prstGeom>
          <a:solidFill>
            <a:srgbClr val="15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892040"/>
            <a:ext cx="10454335" cy="960120"/>
          </a:xfrm>
          <a:prstGeom prst="rect">
            <a:avLst/>
          </a:prstGeom>
          <a:noFill/>
        </p:spPr>
        <p:txBody>
          <a:bodyPr wrap="square" lIns="0" rIns="0" tIns="0" bIns="0" anchor="ctr">
            <a:noAutofit/>
          </a:bodyPr>
          <a:lstStyle/>
          <a:p>
            <a:pPr algn="l">
              <a:lnSpc>
                <a:spcPct val="110000"/>
              </a:lnSpc>
              <a:spcAft>
                <a:spcPts val="0"/>
              </a:spcAft>
            </a:pPr>
            <a:r>
              <a:rPr sz="1500" b="1">
                <a:solidFill>
                  <a:srgbClr val="FFFFFF"/>
                </a:solidFill>
                <a:latin typeface="Calibri"/>
              </a:rPr>
              <a:t>VinDr-CXR was our first plan.</a:t>
            </a:r>
            <a:r>
              <a:rPr sz="1500" b="0">
                <a:solidFill>
                  <a:srgbClr val="D2D2D2"/>
                </a:solidFill>
                <a:latin typeface="Calibri"/>
              </a:rPr>
              <a:t> Cleaner labels and far more boxes, but few published results on a fixed split to compare against, and access needs signed agreements. It stays on the list as a second test set.</a:t>
            </a:r>
            <a:endParaRPr sz="15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MODEL</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DenseNet-121, pretrained on ImageNet</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6</a:t>
            </a:r>
            <a:endParaRPr sz="1000"/>
          </a:p>
        </p:txBody>
      </p:sp>
      <p:sp>
        <p:nvSpPr>
          <p:cNvPr id="6" name="TextBox 5"/>
          <p:cNvSpPr txBox="1"/>
          <p:nvPr/>
        </p:nvSpPr>
        <p:spPr>
          <a:xfrm>
            <a:off x="548640" y="1554480"/>
            <a:ext cx="3291840" cy="822960"/>
          </a:xfrm>
          <a:prstGeom prst="rect">
            <a:avLst/>
          </a:prstGeom>
          <a:noFill/>
        </p:spPr>
        <p:txBody>
          <a:bodyPr wrap="square" lIns="0" rIns="0" tIns="0" bIns="0" anchor="b">
            <a:noAutofit/>
          </a:bodyPr>
          <a:lstStyle/>
          <a:p>
            <a:pPr algn="l">
              <a:lnSpc>
                <a:spcPct val="90000"/>
              </a:lnSpc>
              <a:spcAft>
                <a:spcPts val="0"/>
              </a:spcAft>
            </a:pPr>
            <a:r>
              <a:rPr sz="5400" b="0">
                <a:solidFill>
                  <a:srgbClr val="FFFFFF"/>
                </a:solidFill>
                <a:latin typeface="Calibri Light"/>
              </a:rPr>
              <a:t>121</a:t>
            </a:r>
            <a:endParaRPr sz="5400"/>
          </a:p>
        </p:txBody>
      </p:sp>
      <p:sp>
        <p:nvSpPr>
          <p:cNvPr id="7" name="TextBox 6"/>
          <p:cNvSpPr txBox="1"/>
          <p:nvPr/>
        </p:nvSpPr>
        <p:spPr>
          <a:xfrm>
            <a:off x="548640" y="2468880"/>
            <a:ext cx="3291840" cy="365760"/>
          </a:xfrm>
          <a:prstGeom prst="rect">
            <a:avLst/>
          </a:prstGeom>
          <a:noFill/>
        </p:spPr>
        <p:txBody>
          <a:bodyPr wrap="square" lIns="0" rIns="0" tIns="0" bIns="0" anchor="t">
            <a:noAutofit/>
          </a:bodyPr>
          <a:lstStyle/>
          <a:p>
            <a:pPr algn="l">
              <a:lnSpc>
                <a:spcPct val="105000"/>
              </a:lnSpc>
              <a:spcAft>
                <a:spcPts val="0"/>
              </a:spcAft>
            </a:pPr>
            <a:r>
              <a:rPr sz="1500" b="0">
                <a:solidFill>
                  <a:srgbClr val="8F8F8F"/>
                </a:solidFill>
                <a:latin typeface="Calibri"/>
              </a:rPr>
              <a:t>layers with weights</a:t>
            </a:r>
            <a:endParaRPr sz="1500"/>
          </a:p>
        </p:txBody>
      </p:sp>
      <p:sp>
        <p:nvSpPr>
          <p:cNvPr id="8" name="TextBox 7"/>
          <p:cNvSpPr txBox="1"/>
          <p:nvPr/>
        </p:nvSpPr>
        <p:spPr>
          <a:xfrm>
            <a:off x="548640" y="2880360"/>
            <a:ext cx="3291840" cy="822960"/>
          </a:xfrm>
          <a:prstGeom prst="rect">
            <a:avLst/>
          </a:prstGeom>
          <a:noFill/>
        </p:spPr>
        <p:txBody>
          <a:bodyPr wrap="square" lIns="0" rIns="0" tIns="0" bIns="0" anchor="b">
            <a:noAutofit/>
          </a:bodyPr>
          <a:lstStyle/>
          <a:p>
            <a:pPr algn="l">
              <a:lnSpc>
                <a:spcPct val="90000"/>
              </a:lnSpc>
              <a:spcAft>
                <a:spcPts val="0"/>
              </a:spcAft>
            </a:pPr>
            <a:r>
              <a:rPr sz="5400" b="0">
                <a:solidFill>
                  <a:srgbClr val="FFFFFF"/>
                </a:solidFill>
                <a:latin typeface="Calibri Light"/>
              </a:rPr>
              <a:t>7.0 M</a:t>
            </a:r>
            <a:endParaRPr sz="5400"/>
          </a:p>
        </p:txBody>
      </p:sp>
      <p:sp>
        <p:nvSpPr>
          <p:cNvPr id="9" name="TextBox 8"/>
          <p:cNvSpPr txBox="1"/>
          <p:nvPr/>
        </p:nvSpPr>
        <p:spPr>
          <a:xfrm>
            <a:off x="548640" y="3794759"/>
            <a:ext cx="3291840" cy="365760"/>
          </a:xfrm>
          <a:prstGeom prst="rect">
            <a:avLst/>
          </a:prstGeom>
          <a:noFill/>
        </p:spPr>
        <p:txBody>
          <a:bodyPr wrap="square" lIns="0" rIns="0" tIns="0" bIns="0" anchor="t">
            <a:noAutofit/>
          </a:bodyPr>
          <a:lstStyle/>
          <a:p>
            <a:pPr algn="l">
              <a:lnSpc>
                <a:spcPct val="105000"/>
              </a:lnSpc>
              <a:spcAft>
                <a:spcPts val="0"/>
              </a:spcAft>
            </a:pPr>
            <a:r>
              <a:rPr sz="1500" b="0">
                <a:solidFill>
                  <a:srgbClr val="8F8F8F"/>
                </a:solidFill>
                <a:latin typeface="Calibri"/>
              </a:rPr>
              <a:t>weights, of which 14,350 are new</a:t>
            </a:r>
            <a:endParaRPr sz="1500"/>
          </a:p>
        </p:txBody>
      </p:sp>
      <p:sp>
        <p:nvSpPr>
          <p:cNvPr id="10" name="TextBox 9"/>
          <p:cNvSpPr txBox="1"/>
          <p:nvPr/>
        </p:nvSpPr>
        <p:spPr>
          <a:xfrm>
            <a:off x="548640" y="4343400"/>
            <a:ext cx="3383280" cy="1371600"/>
          </a:xfrm>
          <a:prstGeom prst="rect">
            <a:avLst/>
          </a:prstGeom>
          <a:noFill/>
        </p:spPr>
        <p:txBody>
          <a:bodyPr wrap="square" lIns="0" rIns="0" tIns="0" bIns="0" anchor="t">
            <a:noAutofit/>
          </a:bodyPr>
          <a:lstStyle/>
          <a:p>
            <a:pPr algn="l">
              <a:lnSpc>
                <a:spcPct val="110000"/>
              </a:lnSpc>
              <a:spcAft>
                <a:spcPts val="0"/>
              </a:spcAft>
            </a:pPr>
            <a:r>
              <a:rPr sz="1500" b="0">
                <a:solidFill>
                  <a:srgbClr val="D2D2D2"/>
                </a:solidFill>
                <a:latin typeface="Calibri"/>
              </a:rPr>
              <a:t>The 1000-class ImageNet output is replaced by 14 outputs, one per finding, each through its own sigmoid.</a:t>
            </a:r>
            <a:endParaRPr sz="1500"/>
          </a:p>
        </p:txBody>
      </p:sp>
      <p:sp>
        <p:nvSpPr>
          <p:cNvPr id="11" name="TextBox 10"/>
          <p:cNvSpPr txBox="1"/>
          <p:nvPr/>
        </p:nvSpPr>
        <p:spPr>
          <a:xfrm>
            <a:off x="4617720" y="1645920"/>
            <a:ext cx="7025335" cy="411480"/>
          </a:xfrm>
          <a:prstGeom prst="rect">
            <a:avLst/>
          </a:prstGeom>
          <a:noFill/>
        </p:spPr>
        <p:txBody>
          <a:bodyPr wrap="square" lIns="0" rIns="0" tIns="0" bIns="0" anchor="t">
            <a:noAutofit/>
          </a:bodyPr>
          <a:lstStyle/>
          <a:p>
            <a:pPr algn="l">
              <a:lnSpc>
                <a:spcPct val="105000"/>
              </a:lnSpc>
              <a:spcAft>
                <a:spcPts val="0"/>
              </a:spcAft>
            </a:pPr>
            <a:r>
              <a:rPr sz="2000" b="1">
                <a:solidFill>
                  <a:srgbClr val="FFFFFF"/>
                </a:solidFill>
                <a:latin typeface="Calibri"/>
              </a:rPr>
              <a:t>Why this network</a:t>
            </a:r>
            <a:endParaRPr sz="2000"/>
          </a:p>
        </p:txBody>
      </p:sp>
      <p:sp>
        <p:nvSpPr>
          <p:cNvPr id="12" name="TextBox 11"/>
          <p:cNvSpPr txBox="1"/>
          <p:nvPr/>
        </p:nvSpPr>
        <p:spPr>
          <a:xfrm>
            <a:off x="4617720" y="2103120"/>
            <a:ext cx="7025335" cy="2103120"/>
          </a:xfrm>
          <a:prstGeom prst="rect">
            <a:avLst/>
          </a:prstGeom>
          <a:noFill/>
        </p:spPr>
        <p:txBody>
          <a:bodyPr wrap="square" lIns="0" rIns="0" tIns="0" bIns="0" anchor="t">
            <a:noAutofit/>
          </a:bodyPr>
          <a:lstStyle/>
          <a:p>
            <a:pPr algn="l" marL="237744" indent="-237744">
              <a:lnSpc>
                <a:spcPct val="105000"/>
              </a:lnSpc>
              <a:spcAft>
                <a:spcPts val="800"/>
              </a:spcAft>
              <a:buClr>
                <a:srgbClr val="F2994A"/>
              </a:buClr>
              <a:buSzPct val="85000"/>
              <a:buFont typeface="Arial"/>
              <a:buChar char="▪"/>
            </a:pPr>
            <a:r>
              <a:rPr sz="1600" b="0">
                <a:solidFill>
                  <a:srgbClr val="D2D2D2"/>
                </a:solidFill>
                <a:latin typeface="Calibri"/>
              </a:rPr>
              <a:t>It is the most common network in published work on this dataset, from CheXNet to XProtoNet, so our numbers are easy to place</a:t>
            </a:r>
            <a:endParaRPr sz="1600"/>
          </a:p>
          <a:p>
            <a:pPr algn="l" marL="237744" indent="-237744">
              <a:lnSpc>
                <a:spcPct val="105000"/>
              </a:lnSpc>
              <a:spcAft>
                <a:spcPts val="800"/>
              </a:spcAft>
              <a:buClr>
                <a:srgbClr val="F2994A"/>
              </a:buClr>
              <a:buSzPct val="85000"/>
              <a:buFont typeface="Arial"/>
              <a:buChar char="▪"/>
            </a:pPr>
            <a:r>
              <a:rPr sz="1600" b="0">
                <a:solidFill>
                  <a:srgbClr val="D2D2D2"/>
                </a:solidFill>
                <a:latin typeface="Calibri"/>
              </a:rPr>
              <a:t>Its head is one average pool and one linear layer, which makes the class activation map add up exactly to the prediction</a:t>
            </a:r>
            <a:endParaRPr sz="1600"/>
          </a:p>
          <a:p>
            <a:pPr algn="l" marL="237744" indent="-237744">
              <a:lnSpc>
                <a:spcPct val="105000"/>
              </a:lnSpc>
              <a:spcAft>
                <a:spcPts val="800"/>
              </a:spcAft>
              <a:buClr>
                <a:srgbClr val="F2994A"/>
              </a:buClr>
              <a:buSzPct val="85000"/>
              <a:buFont typeface="Arial"/>
              <a:buChar char="▪"/>
            </a:pPr>
            <a:r>
              <a:rPr sz="1600" b="0">
                <a:solidFill>
                  <a:srgbClr val="D2D2D2"/>
                </a:solidFill>
                <a:latin typeface="Calibri"/>
              </a:rPr>
              <a:t>Explanation-focused papers on this dataset use it at 512 px too (Hermoza 2020, XProtoNet 2021), and it fits our 16 GB GPU at batch 32</a:t>
            </a:r>
            <a:endParaRPr sz="1600"/>
          </a:p>
        </p:txBody>
      </p:sp>
      <p:sp>
        <p:nvSpPr>
          <p:cNvPr id="13" name="TextBox 12"/>
          <p:cNvSpPr txBox="1"/>
          <p:nvPr/>
        </p:nvSpPr>
        <p:spPr>
          <a:xfrm>
            <a:off x="4617720" y="4160520"/>
            <a:ext cx="7025335" cy="411480"/>
          </a:xfrm>
          <a:prstGeom prst="rect">
            <a:avLst/>
          </a:prstGeom>
          <a:noFill/>
        </p:spPr>
        <p:txBody>
          <a:bodyPr wrap="square" lIns="0" rIns="0" tIns="0" bIns="0" anchor="t">
            <a:noAutofit/>
          </a:bodyPr>
          <a:lstStyle/>
          <a:p>
            <a:pPr algn="l">
              <a:lnSpc>
                <a:spcPct val="105000"/>
              </a:lnSpc>
              <a:spcAft>
                <a:spcPts val="0"/>
              </a:spcAft>
            </a:pPr>
            <a:r>
              <a:rPr sz="2000" b="1">
                <a:solidFill>
                  <a:srgbClr val="FFFFFF"/>
                </a:solidFill>
                <a:latin typeface="Calibri"/>
              </a:rPr>
              <a:t>Why 512 px and not 224</a:t>
            </a:r>
            <a:endParaRPr sz="2000"/>
          </a:p>
        </p:txBody>
      </p:sp>
      <p:sp>
        <p:nvSpPr>
          <p:cNvPr id="14" name="TextBox 13"/>
          <p:cNvSpPr txBox="1"/>
          <p:nvPr/>
        </p:nvSpPr>
        <p:spPr>
          <a:xfrm>
            <a:off x="4617720" y="4617720"/>
            <a:ext cx="7025335" cy="822960"/>
          </a:xfrm>
          <a:prstGeom prst="rect">
            <a:avLst/>
          </a:prstGeom>
          <a:noFill/>
        </p:spPr>
        <p:txBody>
          <a:bodyPr wrap="square" lIns="0" rIns="0" tIns="0" bIns="0" anchor="t">
            <a:noAutofit/>
          </a:bodyPr>
          <a:lstStyle/>
          <a:p>
            <a:pPr algn="l">
              <a:lnSpc>
                <a:spcPct val="105000"/>
              </a:lnSpc>
              <a:spcAft>
                <a:spcPts val="0"/>
              </a:spcAft>
            </a:pPr>
            <a:r>
              <a:rPr sz="1600" b="0">
                <a:solidFill>
                  <a:srgbClr val="D2D2D2"/>
                </a:solidFill>
                <a:latin typeface="Calibri"/>
              </a:rPr>
              <a:t>The last feature grid becomes 16 × 16 instead of 7 × 7, so explanation maps are finer, at about five times the compute per image. It scores higher too: 0.816 against 0.802 at 224 px, same recipe and seed.</a:t>
            </a:r>
            <a:endParaRPr sz="1600"/>
          </a:p>
        </p:txBody>
      </p:sp>
      <p:sp>
        <p:nvSpPr>
          <p:cNvPr id="15" name="TextBox 14"/>
          <p:cNvSpPr txBox="1"/>
          <p:nvPr/>
        </p:nvSpPr>
        <p:spPr>
          <a:xfrm>
            <a:off x="4617720" y="5532120"/>
            <a:ext cx="7025335" cy="5486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What it costs: it isn't the strongest backbone today. A newer one might score higher, but it would break the comparison with published work.</a:t>
            </a:r>
            <a:endParaRPr sz="13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ARCHITECTURE</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From a 512 px X-ray to 14 probabilities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7</a:t>
            </a:r>
            <a:endParaRPr sz="1000"/>
          </a:p>
        </p:txBody>
      </p:sp>
      <p:sp>
        <p:nvSpPr>
          <p:cNvPr id="6" name="Rectangle 5"/>
          <p:cNvSpPr/>
          <p:nvPr/>
        </p:nvSpPr>
        <p:spPr>
          <a:xfrm>
            <a:off x="548640" y="1691640"/>
            <a:ext cx="1005840" cy="274320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Input</a:t>
            </a:r>
            <a:endParaRPr sz="1300"/>
          </a:p>
        </p:txBody>
      </p:sp>
      <p:sp>
        <p:nvSpPr>
          <p:cNvPr id="7" name="TextBox 6"/>
          <p:cNvSpPr txBox="1"/>
          <p:nvPr/>
        </p:nvSpPr>
        <p:spPr>
          <a:xfrm>
            <a:off x="416509" y="4617720"/>
            <a:ext cx="127010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3 × 512 × 512</a:t>
            </a:r>
            <a:endParaRPr sz="1200"/>
          </a:p>
          <a:p>
            <a:pPr algn="ctr">
              <a:lnSpc>
                <a:spcPct val="100000"/>
              </a:lnSpc>
              <a:spcAft>
                <a:spcPts val="0"/>
              </a:spcAft>
            </a:pPr>
            <a:r>
              <a:rPr sz="1100" b="0">
                <a:solidFill>
                  <a:srgbClr val="8F8F8F"/>
                </a:solidFill>
                <a:latin typeface="Calibri"/>
              </a:rPr>
              <a:t>grey X-ray as 3 channels</a:t>
            </a:r>
            <a:endParaRPr sz="1100"/>
          </a:p>
        </p:txBody>
      </p:sp>
      <p:cxnSp>
        <p:nvCxnSpPr>
          <p:cNvPr id="8" name="Connector 7"/>
          <p:cNvCxnSpPr/>
          <p:nvPr/>
        </p:nvCxnSpPr>
        <p:spPr>
          <a:xfrm>
            <a:off x="1618488" y="3063240"/>
            <a:ext cx="209397"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891893" y="2011680"/>
            <a:ext cx="1005840" cy="210312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Stem</a:t>
            </a:r>
            <a:endParaRPr sz="1300"/>
          </a:p>
        </p:txBody>
      </p:sp>
      <p:sp>
        <p:nvSpPr>
          <p:cNvPr id="10" name="TextBox 9"/>
          <p:cNvSpPr txBox="1"/>
          <p:nvPr/>
        </p:nvSpPr>
        <p:spPr>
          <a:xfrm>
            <a:off x="1759762" y="4617720"/>
            <a:ext cx="127010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64 × 128 × 128</a:t>
            </a:r>
            <a:endParaRPr sz="1200"/>
          </a:p>
          <a:p>
            <a:pPr algn="ctr">
              <a:lnSpc>
                <a:spcPct val="100000"/>
              </a:lnSpc>
              <a:spcAft>
                <a:spcPts val="0"/>
              </a:spcAft>
            </a:pPr>
            <a:r>
              <a:rPr sz="1100" b="0">
                <a:solidFill>
                  <a:srgbClr val="8F8F8F"/>
                </a:solidFill>
                <a:latin typeface="Calibri"/>
              </a:rPr>
              <a:t>7×7 conv, max pool</a:t>
            </a:r>
            <a:endParaRPr sz="1100"/>
          </a:p>
        </p:txBody>
      </p:sp>
      <p:cxnSp>
        <p:nvCxnSpPr>
          <p:cNvPr id="11" name="Connector 10"/>
          <p:cNvCxnSpPr/>
          <p:nvPr/>
        </p:nvCxnSpPr>
        <p:spPr>
          <a:xfrm>
            <a:off x="2961741" y="3063240"/>
            <a:ext cx="209398"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235147" y="2011680"/>
            <a:ext cx="1143000" cy="210312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Dense</a:t>
            </a:r>
            <a:endParaRPr sz="1300"/>
          </a:p>
          <a:p>
            <a:pPr algn="ctr">
              <a:lnSpc>
                <a:spcPct val="95000"/>
              </a:lnSpc>
              <a:spcAft>
                <a:spcPts val="0"/>
              </a:spcAft>
            </a:pPr>
            <a:r>
              <a:rPr sz="1300" b="1">
                <a:solidFill>
                  <a:srgbClr val="FFFFFF"/>
                </a:solidFill>
                <a:latin typeface="Calibri"/>
              </a:rPr>
              <a:t>block 1</a:t>
            </a:r>
            <a:endParaRPr sz="1300"/>
          </a:p>
        </p:txBody>
      </p:sp>
      <p:sp>
        <p:nvSpPr>
          <p:cNvPr id="13" name="TextBox 12"/>
          <p:cNvSpPr txBox="1"/>
          <p:nvPr/>
        </p:nvSpPr>
        <p:spPr>
          <a:xfrm>
            <a:off x="3103016" y="4617720"/>
            <a:ext cx="140726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256 × 128 × 128</a:t>
            </a:r>
            <a:endParaRPr sz="1200"/>
          </a:p>
          <a:p>
            <a:pPr algn="ctr">
              <a:lnSpc>
                <a:spcPct val="100000"/>
              </a:lnSpc>
              <a:spcAft>
                <a:spcPts val="0"/>
              </a:spcAft>
            </a:pPr>
            <a:r>
              <a:rPr sz="1100" b="0">
                <a:solidFill>
                  <a:srgbClr val="8F8F8F"/>
                </a:solidFill>
                <a:latin typeface="Calibri"/>
              </a:rPr>
              <a:t>6 layers</a:t>
            </a:r>
            <a:endParaRPr sz="1100"/>
          </a:p>
        </p:txBody>
      </p:sp>
      <p:cxnSp>
        <p:nvCxnSpPr>
          <p:cNvPr id="14" name="Connector 13"/>
          <p:cNvCxnSpPr/>
          <p:nvPr/>
        </p:nvCxnSpPr>
        <p:spPr>
          <a:xfrm>
            <a:off x="4442155" y="3063240"/>
            <a:ext cx="209397"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715560" y="2286000"/>
            <a:ext cx="1143000" cy="155448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Dense</a:t>
            </a:r>
            <a:endParaRPr sz="1300"/>
          </a:p>
          <a:p>
            <a:pPr algn="ctr">
              <a:lnSpc>
                <a:spcPct val="95000"/>
              </a:lnSpc>
              <a:spcAft>
                <a:spcPts val="0"/>
              </a:spcAft>
            </a:pPr>
            <a:r>
              <a:rPr sz="1300" b="1">
                <a:solidFill>
                  <a:srgbClr val="FFFFFF"/>
                </a:solidFill>
                <a:latin typeface="Calibri"/>
              </a:rPr>
              <a:t>block 2</a:t>
            </a:r>
            <a:endParaRPr sz="1300"/>
          </a:p>
        </p:txBody>
      </p:sp>
      <p:sp>
        <p:nvSpPr>
          <p:cNvPr id="16" name="TextBox 15"/>
          <p:cNvSpPr txBox="1"/>
          <p:nvPr/>
        </p:nvSpPr>
        <p:spPr>
          <a:xfrm>
            <a:off x="4583430" y="4617720"/>
            <a:ext cx="140726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512 × 64 × 64</a:t>
            </a:r>
            <a:endParaRPr sz="1200"/>
          </a:p>
          <a:p>
            <a:pPr algn="ctr">
              <a:lnSpc>
                <a:spcPct val="100000"/>
              </a:lnSpc>
              <a:spcAft>
                <a:spcPts val="0"/>
              </a:spcAft>
            </a:pPr>
            <a:r>
              <a:rPr sz="1100" b="0">
                <a:solidFill>
                  <a:srgbClr val="8F8F8F"/>
                </a:solidFill>
                <a:latin typeface="Calibri"/>
              </a:rPr>
              <a:t>12 layers</a:t>
            </a:r>
            <a:endParaRPr sz="1100"/>
          </a:p>
        </p:txBody>
      </p:sp>
      <p:cxnSp>
        <p:nvCxnSpPr>
          <p:cNvPr id="17" name="Connector 16"/>
          <p:cNvCxnSpPr/>
          <p:nvPr/>
        </p:nvCxnSpPr>
        <p:spPr>
          <a:xfrm>
            <a:off x="5922568" y="3063240"/>
            <a:ext cx="209398"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195974" y="2491740"/>
            <a:ext cx="1143000" cy="114300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Dense</a:t>
            </a:r>
            <a:endParaRPr sz="1300"/>
          </a:p>
          <a:p>
            <a:pPr algn="ctr">
              <a:lnSpc>
                <a:spcPct val="95000"/>
              </a:lnSpc>
              <a:spcAft>
                <a:spcPts val="0"/>
              </a:spcAft>
            </a:pPr>
            <a:r>
              <a:rPr sz="1300" b="1">
                <a:solidFill>
                  <a:srgbClr val="FFFFFF"/>
                </a:solidFill>
                <a:latin typeface="Calibri"/>
              </a:rPr>
              <a:t>block 3</a:t>
            </a:r>
            <a:endParaRPr sz="1300"/>
          </a:p>
        </p:txBody>
      </p:sp>
      <p:sp>
        <p:nvSpPr>
          <p:cNvPr id="19" name="TextBox 18"/>
          <p:cNvSpPr txBox="1"/>
          <p:nvPr/>
        </p:nvSpPr>
        <p:spPr>
          <a:xfrm>
            <a:off x="6063843" y="4617720"/>
            <a:ext cx="140726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1024 × 32 × 32</a:t>
            </a:r>
            <a:endParaRPr sz="1200"/>
          </a:p>
          <a:p>
            <a:pPr algn="ctr">
              <a:lnSpc>
                <a:spcPct val="100000"/>
              </a:lnSpc>
              <a:spcAft>
                <a:spcPts val="0"/>
              </a:spcAft>
            </a:pPr>
            <a:r>
              <a:rPr sz="1100" b="0">
                <a:solidFill>
                  <a:srgbClr val="8F8F8F"/>
                </a:solidFill>
                <a:latin typeface="Calibri"/>
              </a:rPr>
              <a:t>24 layers</a:t>
            </a:r>
            <a:endParaRPr sz="1100"/>
          </a:p>
        </p:txBody>
      </p:sp>
      <p:cxnSp>
        <p:nvCxnSpPr>
          <p:cNvPr id="20" name="Connector 19"/>
          <p:cNvCxnSpPr/>
          <p:nvPr/>
        </p:nvCxnSpPr>
        <p:spPr>
          <a:xfrm>
            <a:off x="7402982" y="3063240"/>
            <a:ext cx="209397"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676388" y="2651760"/>
            <a:ext cx="1143000" cy="822960"/>
          </a:xfrm>
          <a:prstGeom prst="rect">
            <a:avLst/>
          </a:prstGeom>
          <a:solidFill>
            <a:srgbClr val="151515"/>
          </a:solidFill>
          <a:ln w="22225">
            <a:solidFill>
              <a:srgbClr val="F2994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Dense</a:t>
            </a:r>
            <a:endParaRPr sz="1300"/>
          </a:p>
          <a:p>
            <a:pPr algn="ctr">
              <a:lnSpc>
                <a:spcPct val="95000"/>
              </a:lnSpc>
              <a:spcAft>
                <a:spcPts val="0"/>
              </a:spcAft>
            </a:pPr>
            <a:r>
              <a:rPr sz="1300" b="1">
                <a:solidFill>
                  <a:srgbClr val="FFFFFF"/>
                </a:solidFill>
                <a:latin typeface="Calibri"/>
              </a:rPr>
              <a:t>block 4</a:t>
            </a:r>
            <a:endParaRPr sz="1300"/>
          </a:p>
        </p:txBody>
      </p:sp>
      <p:sp>
        <p:nvSpPr>
          <p:cNvPr id="22" name="TextBox 21"/>
          <p:cNvSpPr txBox="1"/>
          <p:nvPr/>
        </p:nvSpPr>
        <p:spPr>
          <a:xfrm>
            <a:off x="7544257" y="4617720"/>
            <a:ext cx="140726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2994A"/>
                </a:solidFill>
                <a:latin typeface="Calibri"/>
              </a:rPr>
              <a:t>1024 × 16 × 16</a:t>
            </a:r>
            <a:endParaRPr sz="1200"/>
          </a:p>
          <a:p>
            <a:pPr algn="ctr">
              <a:lnSpc>
                <a:spcPct val="100000"/>
              </a:lnSpc>
              <a:spcAft>
                <a:spcPts val="0"/>
              </a:spcAft>
            </a:pPr>
            <a:r>
              <a:rPr sz="1100" b="0">
                <a:solidFill>
                  <a:srgbClr val="8F8F8F"/>
                </a:solidFill>
                <a:latin typeface="Calibri"/>
              </a:rPr>
              <a:t>16 layers; maps are taken here</a:t>
            </a:r>
            <a:endParaRPr sz="1100"/>
          </a:p>
        </p:txBody>
      </p:sp>
      <p:cxnSp>
        <p:nvCxnSpPr>
          <p:cNvPr id="23" name="Connector 22"/>
          <p:cNvCxnSpPr/>
          <p:nvPr/>
        </p:nvCxnSpPr>
        <p:spPr>
          <a:xfrm>
            <a:off x="8883396" y="3063240"/>
            <a:ext cx="209397"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56801" y="2651760"/>
            <a:ext cx="1097280" cy="82296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Pool and</a:t>
            </a:r>
            <a:endParaRPr sz="1300"/>
          </a:p>
          <a:p>
            <a:pPr algn="ctr">
              <a:lnSpc>
                <a:spcPct val="95000"/>
              </a:lnSpc>
              <a:spcAft>
                <a:spcPts val="0"/>
              </a:spcAft>
            </a:pPr>
            <a:r>
              <a:rPr sz="1300" b="1">
                <a:solidFill>
                  <a:srgbClr val="FFFFFF"/>
                </a:solidFill>
                <a:latin typeface="Calibri"/>
              </a:rPr>
              <a:t>linear</a:t>
            </a:r>
            <a:endParaRPr sz="1300"/>
          </a:p>
        </p:txBody>
      </p:sp>
      <p:sp>
        <p:nvSpPr>
          <p:cNvPr id="25" name="TextBox 24"/>
          <p:cNvSpPr txBox="1"/>
          <p:nvPr/>
        </p:nvSpPr>
        <p:spPr>
          <a:xfrm>
            <a:off x="9024670" y="4617720"/>
            <a:ext cx="136154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1024 → 14</a:t>
            </a:r>
            <a:endParaRPr sz="1200"/>
          </a:p>
          <a:p>
            <a:pPr algn="ctr">
              <a:lnSpc>
                <a:spcPct val="100000"/>
              </a:lnSpc>
              <a:spcAft>
                <a:spcPts val="0"/>
              </a:spcAft>
            </a:pPr>
            <a:r>
              <a:rPr sz="1100" b="0">
                <a:solidFill>
                  <a:srgbClr val="8F8F8F"/>
                </a:solidFill>
                <a:latin typeface="Calibri"/>
              </a:rPr>
              <a:t>average each map, then weight</a:t>
            </a:r>
            <a:endParaRPr sz="1100"/>
          </a:p>
        </p:txBody>
      </p:sp>
      <p:cxnSp>
        <p:nvCxnSpPr>
          <p:cNvPr id="26" name="Connector 25"/>
          <p:cNvCxnSpPr/>
          <p:nvPr/>
        </p:nvCxnSpPr>
        <p:spPr>
          <a:xfrm>
            <a:off x="10318089" y="3063240"/>
            <a:ext cx="209398"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0591495" y="2651760"/>
            <a:ext cx="1051560" cy="82296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Sigmoid</a:t>
            </a:r>
            <a:endParaRPr sz="1300"/>
          </a:p>
        </p:txBody>
      </p:sp>
      <p:sp>
        <p:nvSpPr>
          <p:cNvPr id="28" name="TextBox 27"/>
          <p:cNvSpPr txBox="1"/>
          <p:nvPr/>
        </p:nvSpPr>
        <p:spPr>
          <a:xfrm>
            <a:off x="10459364" y="4617720"/>
            <a:ext cx="131582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14</a:t>
            </a:r>
            <a:endParaRPr sz="1200"/>
          </a:p>
          <a:p>
            <a:pPr algn="ctr">
              <a:lnSpc>
                <a:spcPct val="100000"/>
              </a:lnSpc>
              <a:spcAft>
                <a:spcPts val="0"/>
              </a:spcAft>
            </a:pPr>
            <a:r>
              <a:rPr sz="1100" b="0">
                <a:solidFill>
                  <a:srgbClr val="8F8F8F"/>
                </a:solidFill>
                <a:latin typeface="Calibri"/>
              </a:rPr>
              <a:t>one probability per finding</a:t>
            </a:r>
            <a:endParaRPr sz="1100"/>
          </a:p>
        </p:txBody>
      </p:sp>
      <p:sp>
        <p:nvSpPr>
          <p:cNvPr id="29" name="TextBox 28"/>
          <p:cNvSpPr txBox="1"/>
          <p:nvPr/>
        </p:nvSpPr>
        <p:spPr>
          <a:xfrm>
            <a:off x="548640" y="5760720"/>
            <a:ext cx="11094415" cy="45720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Each arrow between dense blocks is a transition layer: a 1 × 1 convolution and a 2 × 2 average pool that halve both the channel count and the grid.</a:t>
            </a:r>
            <a:endParaRPr sz="13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ARCHITECTURE</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Layer by layer</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8</a:t>
            </a:r>
            <a:endParaRPr sz="1000"/>
          </a:p>
        </p:txBody>
      </p:sp>
      <p:graphicFrame>
        <p:nvGraphicFramePr>
          <p:cNvPr id="6" name="Table 5"/>
          <p:cNvGraphicFramePr>
            <a:graphicFrameLocks noGrp="1"/>
          </p:cNvGraphicFramePr>
          <p:nvPr/>
        </p:nvGraphicFramePr>
        <p:xfrm>
          <a:off x="548640" y="1508760"/>
          <a:ext cx="11091672" cy="4251960"/>
        </p:xfrm>
        <a:graphic>
          <a:graphicData uri="http://schemas.openxmlformats.org/drawingml/2006/table">
            <a:tbl>
              <a:tblPr firstRow="0" bandRow="0">
                <a:tableStyleId>{2D5ABB26-0587-4C30-8999-92F81FD0307C}</a:tableStyleId>
              </a:tblPr>
              <a:tblGrid>
                <a:gridCol w="2057400"/>
                <a:gridCol w="3520440"/>
                <a:gridCol w="3685032"/>
                <a:gridCol w="1828800"/>
              </a:tblGrid>
              <a:tr h="329184">
                <a:tc>
                  <a:txBody>
                    <a:bodyPr wrap="square"/>
                    <a:lstStyle/>
                    <a:p>
                      <a:pPr algn="l">
                        <a:lnSpc>
                          <a:spcPct val="105000"/>
                        </a:lnSpc>
                        <a:spcAft>
                          <a:spcPts val="0"/>
                        </a:spcAft>
                      </a:pPr>
                      <a:r>
                        <a:rPr sz="1200" b="0">
                          <a:solidFill>
                            <a:srgbClr val="8F8F8F"/>
                          </a:solidFill>
                          <a:latin typeface="Calibri"/>
                        </a:rPr>
                        <a:t>stage</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layers</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what it does</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output</a:t>
                      </a:r>
                      <a:endParaRPr sz="1200"/>
                    </a:p>
                  </a:txBody>
                  <a:tcPr marL="73152" marR="73152" marT="27432" marB="27432" anchor="ctr">
                    <a:lnL w="0">
                      <a:noFill/>
                    </a:lnL>
                    <a:lnR w="0">
                      <a:noFill/>
                    </a:lnR>
                    <a:lnT w="0">
                      <a:noFill/>
                    </a:lnT>
                    <a:lnB w="12700">
                      <a:solidFill>
                        <a:srgbClr val="5C5C5C"/>
                      </a:solidFill>
                    </a:lnB>
                    <a:noFill/>
                  </a:tcPr>
                </a:tc>
              </a:tr>
              <a:tr h="301752">
                <a:tc>
                  <a:txBody>
                    <a:bodyPr wrap="square"/>
                    <a:lstStyle/>
                    <a:p>
                      <a:pPr algn="l">
                        <a:lnSpc>
                          <a:spcPct val="105000"/>
                        </a:lnSpc>
                        <a:spcAft>
                          <a:spcPts val="0"/>
                        </a:spcAft>
                      </a:pPr>
                      <a:r>
                        <a:rPr sz="1300" b="1">
                          <a:solidFill>
                            <a:srgbClr val="FFFFFF"/>
                          </a:solidFill>
                          <a:latin typeface="Calibri"/>
                        </a:rPr>
                        <a:t>Input</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Grey X-ray as 3 channels, ImageNet normalisation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3 × 512 × 512</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Stem</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7×7 conv and 3×3 max pool, both stride 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Early edges and texture; 512 → 128 per side</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64 × 128 × 128</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Dense block 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6 dense layers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Each dense layer adds 32 channels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256 × 128 × 128</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Transition 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BN · ReLU · 1×1 conv · 2×2 avg pool</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Halves the channels and the grid</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128 × 64 × 64</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Dense block 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12 dense layers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512 × 64 × 64</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Transition 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same as transition 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256 × 32 × 32</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Dense block 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24 dense layers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1024 × 32 × 32</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Transition 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same as transition 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512 × 16 × 16</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2994A"/>
                          </a:solidFill>
                          <a:latin typeface="Calibri"/>
                        </a:rPr>
                        <a:t>Dense block 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1">
                          <a:solidFill>
                            <a:srgbClr val="F2994A"/>
                          </a:solidFill>
                          <a:latin typeface="Calibri"/>
                        </a:rPr>
                        <a:t>16 dense layers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1">
                          <a:solidFill>
                            <a:srgbClr val="F2994A"/>
                          </a:solidFill>
                          <a:latin typeface="Calibri"/>
                        </a:rPr>
                        <a:t>Last features. Explanation maps are taken here</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1024 × 16 × 16</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Final BN · ReLU</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1024 × 16 × 16</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Average pool</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over the 16 × 16 grid</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One number per channel</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1024</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Linear</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1024 → 14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One score per finding</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14</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Sigmoid</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Turns each score into its own probability</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14</a:t>
                      </a:r>
                      <a:endParaRPr sz="13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548640" y="6053328"/>
            <a:ext cx="11094415" cy="36576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121 = 1 stem conv + 58 dense layers × 2 convs + 3 transition convs + 1 linear layer. 6,968,206 weights in total.</a:t>
            </a:r>
            <a:endParaRPr sz="13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ARCHITECTURE</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Inside a dense block</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9</a:t>
            </a:r>
            <a:endParaRPr sz="1000"/>
          </a:p>
        </p:txBody>
      </p:sp>
      <p:sp>
        <p:nvSpPr>
          <p:cNvPr id="6" name="Rectangle 5"/>
          <p:cNvSpPr/>
          <p:nvPr/>
        </p:nvSpPr>
        <p:spPr>
          <a:xfrm>
            <a:off x="548640" y="1691640"/>
            <a:ext cx="4480560" cy="713232"/>
          </a:xfrm>
          <a:prstGeom prst="rect">
            <a:avLst/>
          </a:prstGeom>
          <a:solidFill>
            <a:srgbClr val="151515"/>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5000"/>
              </a:lnSpc>
              <a:spcAft>
                <a:spcPts val="0"/>
              </a:spcAft>
            </a:pPr>
            <a:r>
              <a:rPr sz="1600" b="0">
                <a:solidFill>
                  <a:srgbClr val="FFFFFF"/>
                </a:solidFill>
                <a:latin typeface="Calibri"/>
              </a:rPr>
              <a:t>Every earlier feature map in the block, stacked</a:t>
            </a:r>
            <a:endParaRPr sz="1600"/>
          </a:p>
        </p:txBody>
      </p:sp>
      <p:cxnSp>
        <p:nvCxnSpPr>
          <p:cNvPr id="7" name="Connector 6"/>
          <p:cNvCxnSpPr/>
          <p:nvPr/>
        </p:nvCxnSpPr>
        <p:spPr>
          <a:xfrm>
            <a:off x="2788920" y="2450591"/>
            <a:ext cx="0" cy="274321"/>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48640" y="2770632"/>
            <a:ext cx="4480560" cy="713232"/>
          </a:xfrm>
          <a:prstGeom prst="rect">
            <a:avLst/>
          </a:prstGeom>
          <a:solidFill>
            <a:srgbClr val="151515"/>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5000"/>
              </a:lnSpc>
              <a:spcAft>
                <a:spcPts val="0"/>
              </a:spcAft>
            </a:pPr>
            <a:r>
              <a:rPr sz="1600" b="0">
                <a:solidFill>
                  <a:srgbClr val="FFFFFF"/>
                </a:solidFill>
                <a:latin typeface="Calibri"/>
              </a:rPr>
              <a:t>BN · ReLU · 1 × 1 conv → 128 channels</a:t>
            </a:r>
            <a:endParaRPr sz="1600"/>
          </a:p>
        </p:txBody>
      </p:sp>
      <p:cxnSp>
        <p:nvCxnSpPr>
          <p:cNvPr id="9" name="Connector 8"/>
          <p:cNvCxnSpPr/>
          <p:nvPr/>
        </p:nvCxnSpPr>
        <p:spPr>
          <a:xfrm>
            <a:off x="2788920" y="3529584"/>
            <a:ext cx="0" cy="27432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48640" y="3849624"/>
            <a:ext cx="4480560" cy="713232"/>
          </a:xfrm>
          <a:prstGeom prst="rect">
            <a:avLst/>
          </a:prstGeom>
          <a:solidFill>
            <a:srgbClr val="151515"/>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5000"/>
              </a:lnSpc>
              <a:spcAft>
                <a:spcPts val="0"/>
              </a:spcAft>
            </a:pPr>
            <a:r>
              <a:rPr sz="1600" b="0">
                <a:solidFill>
                  <a:srgbClr val="FFFFFF"/>
                </a:solidFill>
                <a:latin typeface="Calibri"/>
              </a:rPr>
              <a:t>BN · ReLU · 3 × 3 conv → 32 channels</a:t>
            </a:r>
            <a:endParaRPr sz="1600"/>
          </a:p>
        </p:txBody>
      </p:sp>
      <p:cxnSp>
        <p:nvCxnSpPr>
          <p:cNvPr id="11" name="Connector 10"/>
          <p:cNvCxnSpPr/>
          <p:nvPr/>
        </p:nvCxnSpPr>
        <p:spPr>
          <a:xfrm>
            <a:off x="2788920" y="4608576"/>
            <a:ext cx="0" cy="27432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48640" y="4928616"/>
            <a:ext cx="4480560" cy="713232"/>
          </a:xfrm>
          <a:prstGeom prst="rect">
            <a:avLst/>
          </a:prstGeom>
          <a:solidFill>
            <a:srgbClr val="151515"/>
          </a:solidFill>
          <a:ln w="15875">
            <a:solidFill>
              <a:srgbClr val="F2994A"/>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5000"/>
              </a:lnSpc>
              <a:spcAft>
                <a:spcPts val="0"/>
              </a:spcAft>
            </a:pPr>
            <a:r>
              <a:rPr sz="1600" b="0">
                <a:solidFill>
                  <a:srgbClr val="FFFFFF"/>
                </a:solidFill>
                <a:latin typeface="Calibri"/>
              </a:rPr>
              <a:t>Append the 32 new channels to the stack</a:t>
            </a:r>
            <a:endParaRPr sz="1600"/>
          </a:p>
        </p:txBody>
      </p:sp>
      <p:sp>
        <p:nvSpPr>
          <p:cNvPr id="13" name="TextBox 12"/>
          <p:cNvSpPr txBox="1"/>
          <p:nvPr/>
        </p:nvSpPr>
        <p:spPr>
          <a:xfrm>
            <a:off x="5577840" y="1691640"/>
            <a:ext cx="6065215" cy="2926080"/>
          </a:xfrm>
          <a:prstGeom prst="rect">
            <a:avLst/>
          </a:prstGeom>
          <a:noFill/>
        </p:spPr>
        <p:txBody>
          <a:bodyPr wrap="square" lIns="0" rIns="0" tIns="0" bIns="0" anchor="t">
            <a:noAutofit/>
          </a:bodyPr>
          <a:lstStyle/>
          <a:p>
            <a:pPr algn="l" marL="237744" indent="-237744">
              <a:lnSpc>
                <a:spcPct val="105000"/>
              </a:lnSpc>
              <a:spcAft>
                <a:spcPts val="1000"/>
              </a:spcAft>
              <a:buClr>
                <a:srgbClr val="F2994A"/>
              </a:buClr>
              <a:buSzPct val="85000"/>
              <a:buFont typeface="Arial"/>
              <a:buChar char="▪"/>
            </a:pPr>
            <a:r>
              <a:rPr sz="1700" b="0">
                <a:solidFill>
                  <a:srgbClr val="D2D2D2"/>
                </a:solidFill>
                <a:latin typeface="Calibri"/>
              </a:rPr>
              <a:t>Each layer reads every earlier feature map in its block, not only the one just before it</a:t>
            </a:r>
            <a:endParaRPr sz="1700"/>
          </a:p>
          <a:p>
            <a:pPr algn="l" marL="237744" indent="-237744">
              <a:lnSpc>
                <a:spcPct val="105000"/>
              </a:lnSpc>
              <a:spcAft>
                <a:spcPts val="1000"/>
              </a:spcAft>
              <a:buClr>
                <a:srgbClr val="F2994A"/>
              </a:buClr>
              <a:buSzPct val="85000"/>
              <a:buFont typeface="Arial"/>
              <a:buChar char="▪"/>
            </a:pPr>
            <a:r>
              <a:rPr sz="1700" b="0">
                <a:solidFill>
                  <a:srgbClr val="D2D2D2"/>
                </a:solidFill>
                <a:latin typeface="Calibri"/>
              </a:rPr>
              <a:t>The 1 × 1 convolution squeezes that stack to 128 channels, so the 3 × 3 convolution stays cheap</a:t>
            </a:r>
            <a:endParaRPr sz="1700"/>
          </a:p>
          <a:p>
            <a:pPr algn="l" marL="237744" indent="-237744">
              <a:lnSpc>
                <a:spcPct val="105000"/>
              </a:lnSpc>
              <a:spcAft>
                <a:spcPts val="1000"/>
              </a:spcAft>
              <a:buClr>
                <a:srgbClr val="F2994A"/>
              </a:buClr>
              <a:buSzPct val="85000"/>
              <a:buFont typeface="Arial"/>
              <a:buChar char="▪"/>
            </a:pPr>
            <a:r>
              <a:rPr sz="1700" b="0">
                <a:solidFill>
                  <a:srgbClr val="D2D2D2"/>
                </a:solidFill>
                <a:latin typeface="Calibri"/>
              </a:rPr>
              <a:t>Each layer adds 32 channels, called the growth rate</a:t>
            </a:r>
            <a:endParaRPr sz="1700"/>
          </a:p>
          <a:p>
            <a:pPr algn="l" marL="237744" indent="-237744">
              <a:lnSpc>
                <a:spcPct val="105000"/>
              </a:lnSpc>
              <a:spcAft>
                <a:spcPts val="1000"/>
              </a:spcAft>
              <a:buClr>
                <a:srgbClr val="F2994A"/>
              </a:buClr>
              <a:buSzPct val="85000"/>
              <a:buFont typeface="Arial"/>
              <a:buChar char="▪"/>
            </a:pPr>
            <a:r>
              <a:rPr sz="1700" b="0">
                <a:solidFill>
                  <a:srgbClr val="D2D2D2"/>
                </a:solidFill>
                <a:latin typeface="Calibri"/>
              </a:rPr>
              <a:t>Features are reused instead of relearned, so the whole network needs about 7 million weights. ResNet-50 needs about 25 million.</a:t>
            </a:r>
            <a:endParaRPr sz="1700"/>
          </a:p>
        </p:txBody>
      </p:sp>
      <p:sp>
        <p:nvSpPr>
          <p:cNvPr id="14" name="TextBox 13"/>
          <p:cNvSpPr txBox="1"/>
          <p:nvPr/>
        </p:nvSpPr>
        <p:spPr>
          <a:xfrm>
            <a:off x="5577840" y="4800600"/>
            <a:ext cx="6065215" cy="3200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Channels in block 1, one layer at a time</a:t>
            </a:r>
            <a:endParaRPr sz="1300"/>
          </a:p>
        </p:txBody>
      </p:sp>
      <p:sp>
        <p:nvSpPr>
          <p:cNvPr id="15" name="TextBox 14"/>
          <p:cNvSpPr txBox="1"/>
          <p:nvPr/>
        </p:nvSpPr>
        <p:spPr>
          <a:xfrm>
            <a:off x="5577840" y="5120640"/>
            <a:ext cx="6065215" cy="548640"/>
          </a:xfrm>
          <a:prstGeom prst="rect">
            <a:avLst/>
          </a:prstGeom>
          <a:noFill/>
        </p:spPr>
        <p:txBody>
          <a:bodyPr wrap="square" lIns="0" rIns="0" tIns="0" bIns="0" anchor="t">
            <a:noAutofit/>
          </a:bodyPr>
          <a:lstStyle/>
          <a:p>
            <a:pPr algn="l">
              <a:lnSpc>
                <a:spcPct val="105000"/>
              </a:lnSpc>
              <a:spcAft>
                <a:spcPts val="0"/>
              </a:spcAft>
            </a:pPr>
            <a:r>
              <a:rPr sz="2600" b="0">
                <a:solidFill>
                  <a:srgbClr val="F2994A"/>
                </a:solidFill>
                <a:latin typeface="Calibri Light"/>
              </a:rPr>
              <a:t>64 → 96 → 128 → 160 → 192 → 224 → 256</a:t>
            </a:r>
            <a:endParaRPr sz="26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ARCHITECTURE</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Why the last two layers make the explanation exact</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10</a:t>
            </a:r>
            <a:endParaRPr sz="1000"/>
          </a:p>
        </p:txBody>
      </p:sp>
      <p:sp>
        <p:nvSpPr>
          <p:cNvPr id="6" name="TextBox 5"/>
          <p:cNvSpPr txBox="1"/>
          <p:nvPr/>
        </p:nvSpPr>
        <p:spPr>
          <a:xfrm>
            <a:off x="548640" y="1664207"/>
            <a:ext cx="548640" cy="640080"/>
          </a:xfrm>
          <a:prstGeom prst="rect">
            <a:avLst/>
          </a:prstGeom>
          <a:noFill/>
        </p:spPr>
        <p:txBody>
          <a:bodyPr wrap="square" lIns="0" rIns="0" tIns="0" bIns="0" anchor="t">
            <a:noAutofit/>
          </a:bodyPr>
          <a:lstStyle/>
          <a:p>
            <a:pPr algn="l">
              <a:lnSpc>
                <a:spcPct val="105000"/>
              </a:lnSpc>
              <a:spcAft>
                <a:spcPts val="0"/>
              </a:spcAft>
            </a:pPr>
            <a:r>
              <a:rPr sz="3600" b="0">
                <a:solidFill>
                  <a:srgbClr val="F2994A"/>
                </a:solidFill>
                <a:latin typeface="Calibri Light"/>
              </a:rPr>
              <a:t>1</a:t>
            </a:r>
            <a:endParaRPr sz="3600"/>
          </a:p>
        </p:txBody>
      </p:sp>
      <p:sp>
        <p:nvSpPr>
          <p:cNvPr id="7" name="TextBox 6"/>
          <p:cNvSpPr txBox="1"/>
          <p:nvPr/>
        </p:nvSpPr>
        <p:spPr>
          <a:xfrm>
            <a:off x="1143000" y="1737360"/>
            <a:ext cx="4297680" cy="914400"/>
          </a:xfrm>
          <a:prstGeom prst="rect">
            <a:avLst/>
          </a:prstGeom>
          <a:noFill/>
        </p:spPr>
        <p:txBody>
          <a:bodyPr wrap="square" lIns="0" rIns="0" tIns="0" bIns="0" anchor="t">
            <a:noAutofit/>
          </a:bodyPr>
          <a:lstStyle/>
          <a:p>
            <a:pPr algn="l">
              <a:lnSpc>
                <a:spcPct val="105000"/>
              </a:lnSpc>
              <a:spcAft>
                <a:spcPts val="0"/>
              </a:spcAft>
            </a:pPr>
            <a:r>
              <a:rPr sz="1700" b="0">
                <a:solidFill>
                  <a:srgbClr val="D2D2D2"/>
                </a:solidFill>
                <a:latin typeface="Calibri"/>
              </a:rPr>
              <a:t>Dense block 4 ends with 1024 feature maps, each 16 × 16.</a:t>
            </a:r>
            <a:endParaRPr sz="1700"/>
          </a:p>
        </p:txBody>
      </p:sp>
      <p:sp>
        <p:nvSpPr>
          <p:cNvPr id="8" name="TextBox 7"/>
          <p:cNvSpPr txBox="1"/>
          <p:nvPr/>
        </p:nvSpPr>
        <p:spPr>
          <a:xfrm>
            <a:off x="548640" y="2578608"/>
            <a:ext cx="548640" cy="640080"/>
          </a:xfrm>
          <a:prstGeom prst="rect">
            <a:avLst/>
          </a:prstGeom>
          <a:noFill/>
        </p:spPr>
        <p:txBody>
          <a:bodyPr wrap="square" lIns="0" rIns="0" tIns="0" bIns="0" anchor="t">
            <a:noAutofit/>
          </a:bodyPr>
          <a:lstStyle/>
          <a:p>
            <a:pPr algn="l">
              <a:lnSpc>
                <a:spcPct val="105000"/>
              </a:lnSpc>
              <a:spcAft>
                <a:spcPts val="0"/>
              </a:spcAft>
            </a:pPr>
            <a:r>
              <a:rPr sz="3600" b="0">
                <a:solidFill>
                  <a:srgbClr val="F2994A"/>
                </a:solidFill>
                <a:latin typeface="Calibri Light"/>
              </a:rPr>
              <a:t>2</a:t>
            </a:r>
            <a:endParaRPr sz="3600"/>
          </a:p>
        </p:txBody>
      </p:sp>
      <p:sp>
        <p:nvSpPr>
          <p:cNvPr id="9" name="TextBox 8"/>
          <p:cNvSpPr txBox="1"/>
          <p:nvPr/>
        </p:nvSpPr>
        <p:spPr>
          <a:xfrm>
            <a:off x="1143000" y="2651760"/>
            <a:ext cx="4297680" cy="914400"/>
          </a:xfrm>
          <a:prstGeom prst="rect">
            <a:avLst/>
          </a:prstGeom>
          <a:noFill/>
        </p:spPr>
        <p:txBody>
          <a:bodyPr wrap="square" lIns="0" rIns="0" tIns="0" bIns="0" anchor="t">
            <a:noAutofit/>
          </a:bodyPr>
          <a:lstStyle/>
          <a:p>
            <a:pPr algn="l">
              <a:lnSpc>
                <a:spcPct val="105000"/>
              </a:lnSpc>
              <a:spcAft>
                <a:spcPts val="0"/>
              </a:spcAft>
            </a:pPr>
            <a:r>
              <a:rPr sz="1700" b="0">
                <a:solidFill>
                  <a:srgbClr val="D2D2D2"/>
                </a:solidFill>
                <a:latin typeface="Calibri"/>
              </a:rPr>
              <a:t>Average pooling turns each map into one number.</a:t>
            </a:r>
            <a:endParaRPr sz="1700"/>
          </a:p>
        </p:txBody>
      </p:sp>
      <p:sp>
        <p:nvSpPr>
          <p:cNvPr id="10" name="TextBox 9"/>
          <p:cNvSpPr txBox="1"/>
          <p:nvPr/>
        </p:nvSpPr>
        <p:spPr>
          <a:xfrm>
            <a:off x="548640" y="3493008"/>
            <a:ext cx="548640" cy="640080"/>
          </a:xfrm>
          <a:prstGeom prst="rect">
            <a:avLst/>
          </a:prstGeom>
          <a:noFill/>
        </p:spPr>
        <p:txBody>
          <a:bodyPr wrap="square" lIns="0" rIns="0" tIns="0" bIns="0" anchor="t">
            <a:noAutofit/>
          </a:bodyPr>
          <a:lstStyle/>
          <a:p>
            <a:pPr algn="l">
              <a:lnSpc>
                <a:spcPct val="105000"/>
              </a:lnSpc>
              <a:spcAft>
                <a:spcPts val="0"/>
              </a:spcAft>
            </a:pPr>
            <a:r>
              <a:rPr sz="3600" b="0">
                <a:solidFill>
                  <a:srgbClr val="F2994A"/>
                </a:solidFill>
                <a:latin typeface="Calibri Light"/>
              </a:rPr>
              <a:t>3</a:t>
            </a:r>
            <a:endParaRPr sz="3600"/>
          </a:p>
        </p:txBody>
      </p:sp>
      <p:sp>
        <p:nvSpPr>
          <p:cNvPr id="11" name="TextBox 10"/>
          <p:cNvSpPr txBox="1"/>
          <p:nvPr/>
        </p:nvSpPr>
        <p:spPr>
          <a:xfrm>
            <a:off x="1143000" y="3566160"/>
            <a:ext cx="4297680" cy="914400"/>
          </a:xfrm>
          <a:prstGeom prst="rect">
            <a:avLst/>
          </a:prstGeom>
          <a:noFill/>
        </p:spPr>
        <p:txBody>
          <a:bodyPr wrap="square" lIns="0" rIns="0" tIns="0" bIns="0" anchor="t">
            <a:noAutofit/>
          </a:bodyPr>
          <a:lstStyle/>
          <a:p>
            <a:pPr algn="l">
              <a:lnSpc>
                <a:spcPct val="105000"/>
              </a:lnSpc>
              <a:spcAft>
                <a:spcPts val="0"/>
              </a:spcAft>
            </a:pPr>
            <a:r>
              <a:rPr sz="1700" b="0">
                <a:solidFill>
                  <a:srgbClr val="D2D2D2"/>
                </a:solidFill>
                <a:latin typeface="Calibri"/>
              </a:rPr>
              <a:t>The linear layer scores each finding as a weighted sum of those 1024 numbers, plus a bias.</a:t>
            </a:r>
            <a:endParaRPr sz="1700"/>
          </a:p>
        </p:txBody>
      </p:sp>
      <p:sp>
        <p:nvSpPr>
          <p:cNvPr id="12" name="Rectangle 11"/>
          <p:cNvSpPr/>
          <p:nvPr/>
        </p:nvSpPr>
        <p:spPr>
          <a:xfrm>
            <a:off x="5669280" y="1691640"/>
            <a:ext cx="5973775" cy="2560320"/>
          </a:xfrm>
          <a:prstGeom prst="rect">
            <a:avLst/>
          </a:prstGeom>
          <a:solidFill>
            <a:srgbClr val="15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9320" y="1920240"/>
            <a:ext cx="5333695" cy="2468880"/>
          </a:xfrm>
          <a:prstGeom prst="rect">
            <a:avLst/>
          </a:prstGeom>
          <a:noFill/>
        </p:spPr>
        <p:txBody>
          <a:bodyPr wrap="square" lIns="0" rIns="0" tIns="0" bIns="0" anchor="t">
            <a:noAutofit/>
          </a:bodyPr>
          <a:lstStyle/>
          <a:p>
            <a:pPr algn="l">
              <a:lnSpc>
                <a:spcPct val="100000"/>
              </a:lnSpc>
              <a:spcAft>
                <a:spcPts val="1200"/>
              </a:spcAft>
            </a:pPr>
            <a:r>
              <a:rPr sz="2300" b="0">
                <a:solidFill>
                  <a:srgbClr val="FFFFFF"/>
                </a:solidFill>
                <a:latin typeface="Cambria Math"/>
              </a:rPr>
              <a:t>score</a:t>
            </a:r>
            <a:r>
              <a:rPr sz="2300" b="0" baseline="-25000">
                <a:solidFill>
                  <a:srgbClr val="FFFFFF"/>
                </a:solidFill>
                <a:latin typeface="Cambria Math"/>
              </a:rPr>
              <a:t>c</a:t>
            </a:r>
            <a:r>
              <a:rPr sz="2300" b="0">
                <a:solidFill>
                  <a:srgbClr val="FFFFFF"/>
                </a:solidFill>
                <a:latin typeface="Cambria Math"/>
              </a:rPr>
              <a:t> = Σ</a:t>
            </a:r>
            <a:r>
              <a:rPr sz="2300" b="0" baseline="-25000">
                <a:solidFill>
                  <a:srgbClr val="FFFFFF"/>
                </a:solidFill>
                <a:latin typeface="Cambria Math"/>
              </a:rPr>
              <a:t>k</a:t>
            </a:r>
            <a:r>
              <a:rPr sz="2300" b="0">
                <a:solidFill>
                  <a:srgbClr val="FFFFFF"/>
                </a:solidFill>
                <a:latin typeface="Cambria Math"/>
              </a:rPr>
              <a:t> w</a:t>
            </a:r>
            <a:r>
              <a:rPr sz="2300" b="0" baseline="-25000">
                <a:solidFill>
                  <a:srgbClr val="FFFFFF"/>
                </a:solidFill>
                <a:latin typeface="Cambria Math"/>
              </a:rPr>
              <a:t>ck</a:t>
            </a:r>
            <a:r>
              <a:rPr sz="2300" b="0">
                <a:solidFill>
                  <a:srgbClr val="FFFFFF"/>
                </a:solidFill>
                <a:latin typeface="Cambria Math"/>
              </a:rPr>
              <a:t> · mean(F</a:t>
            </a:r>
            <a:r>
              <a:rPr sz="2300" b="0" baseline="-25000">
                <a:solidFill>
                  <a:srgbClr val="FFFFFF"/>
                </a:solidFill>
                <a:latin typeface="Cambria Math"/>
              </a:rPr>
              <a:t>k</a:t>
            </a:r>
            <a:r>
              <a:rPr sz="2300" b="0">
                <a:solidFill>
                  <a:srgbClr val="FFFFFF"/>
                </a:solidFill>
                <a:latin typeface="Cambria Math"/>
              </a:rPr>
              <a:t>) + b</a:t>
            </a:r>
            <a:r>
              <a:rPr sz="2300" b="0" baseline="-25000">
                <a:solidFill>
                  <a:srgbClr val="FFFFFF"/>
                </a:solidFill>
                <a:latin typeface="Cambria Math"/>
              </a:rPr>
              <a:t>c</a:t>
            </a:r>
            <a:endParaRPr sz="2300"/>
          </a:p>
          <a:p>
            <a:pPr algn="l">
              <a:lnSpc>
                <a:spcPct val="100000"/>
              </a:lnSpc>
              <a:spcAft>
                <a:spcPts val="2200"/>
              </a:spcAft>
            </a:pPr>
            <a:r>
              <a:rPr sz="2300" b="0">
                <a:solidFill>
                  <a:srgbClr val="FFFFFF"/>
                </a:solidFill>
                <a:latin typeface="Cambria Math"/>
              </a:rPr>
              <a:t>score</a:t>
            </a:r>
            <a:r>
              <a:rPr sz="2300" b="0" baseline="-25000">
                <a:solidFill>
                  <a:srgbClr val="FFFFFF"/>
                </a:solidFill>
                <a:latin typeface="Cambria Math"/>
              </a:rPr>
              <a:t>c</a:t>
            </a:r>
            <a:r>
              <a:rPr sz="2300" b="0">
                <a:solidFill>
                  <a:srgbClr val="FFFFFF"/>
                </a:solidFill>
                <a:latin typeface="Cambria Math"/>
              </a:rPr>
              <a:t> = mean( Σ</a:t>
            </a:r>
            <a:r>
              <a:rPr sz="2300" b="0" baseline="-25000">
                <a:solidFill>
                  <a:srgbClr val="FFFFFF"/>
                </a:solidFill>
                <a:latin typeface="Cambria Math"/>
              </a:rPr>
              <a:t>k</a:t>
            </a:r>
            <a:r>
              <a:rPr sz="2300" b="0">
                <a:solidFill>
                  <a:srgbClr val="FFFFFF"/>
                </a:solidFill>
                <a:latin typeface="Cambria Math"/>
              </a:rPr>
              <a:t> w</a:t>
            </a:r>
            <a:r>
              <a:rPr sz="2300" b="0" baseline="-25000">
                <a:solidFill>
                  <a:srgbClr val="FFFFFF"/>
                </a:solidFill>
                <a:latin typeface="Cambria Math"/>
              </a:rPr>
              <a:t>ck</a:t>
            </a:r>
            <a:r>
              <a:rPr sz="2300" b="0">
                <a:solidFill>
                  <a:srgbClr val="FFFFFF"/>
                </a:solidFill>
                <a:latin typeface="Cambria Math"/>
              </a:rPr>
              <a:t> F</a:t>
            </a:r>
            <a:r>
              <a:rPr sz="2300" b="0" baseline="-25000">
                <a:solidFill>
                  <a:srgbClr val="FFFFFF"/>
                </a:solidFill>
                <a:latin typeface="Cambria Math"/>
              </a:rPr>
              <a:t>k</a:t>
            </a:r>
            <a:r>
              <a:rPr sz="2300" b="0">
                <a:solidFill>
                  <a:srgbClr val="FFFFFF"/>
                </a:solidFill>
                <a:latin typeface="Cambria Math"/>
              </a:rPr>
              <a:t> ) + b</a:t>
            </a:r>
            <a:r>
              <a:rPr sz="2300" b="0" baseline="-25000">
                <a:solidFill>
                  <a:srgbClr val="FFFFFF"/>
                </a:solidFill>
                <a:latin typeface="Cambria Math"/>
              </a:rPr>
              <a:t>c</a:t>
            </a:r>
            <a:endParaRPr sz="2300"/>
          </a:p>
          <a:p>
            <a:pPr algn="l">
              <a:lnSpc>
                <a:spcPct val="100000"/>
              </a:lnSpc>
              <a:spcAft>
                <a:spcPts val="400"/>
              </a:spcAft>
            </a:pPr>
            <a:r>
              <a:rPr sz="2300" b="0">
                <a:solidFill>
                  <a:srgbClr val="F2994A"/>
                </a:solidFill>
                <a:latin typeface="Cambria Math"/>
              </a:rPr>
              <a:t>CAM</a:t>
            </a:r>
            <a:r>
              <a:rPr sz="2300" b="0" baseline="-25000">
                <a:solidFill>
                  <a:srgbClr val="F2994A"/>
                </a:solidFill>
                <a:latin typeface="Cambria Math"/>
              </a:rPr>
              <a:t>c</a:t>
            </a:r>
            <a:r>
              <a:rPr sz="2300" b="0">
                <a:solidFill>
                  <a:srgbClr val="F2994A"/>
                </a:solidFill>
                <a:latin typeface="Cambria Math"/>
              </a:rPr>
              <a:t> = Σ</a:t>
            </a:r>
            <a:r>
              <a:rPr sz="2300" b="0" baseline="-25000">
                <a:solidFill>
                  <a:srgbClr val="F2994A"/>
                </a:solidFill>
                <a:latin typeface="Cambria Math"/>
              </a:rPr>
              <a:t>k</a:t>
            </a:r>
            <a:r>
              <a:rPr sz="2300" b="0">
                <a:solidFill>
                  <a:srgbClr val="F2994A"/>
                </a:solidFill>
                <a:latin typeface="Cambria Math"/>
              </a:rPr>
              <a:t> w</a:t>
            </a:r>
            <a:r>
              <a:rPr sz="2300" b="0" baseline="-25000">
                <a:solidFill>
                  <a:srgbClr val="F2994A"/>
                </a:solidFill>
                <a:latin typeface="Cambria Math"/>
              </a:rPr>
              <a:t>ck</a:t>
            </a:r>
            <a:r>
              <a:rPr sz="2300" b="0">
                <a:solidFill>
                  <a:srgbClr val="F2994A"/>
                </a:solidFill>
                <a:latin typeface="Cambria Math"/>
              </a:rPr>
              <a:t> F</a:t>
            </a:r>
            <a:r>
              <a:rPr sz="2300" b="0" baseline="-25000">
                <a:solidFill>
                  <a:srgbClr val="F2994A"/>
                </a:solidFill>
                <a:latin typeface="Cambria Math"/>
              </a:rPr>
              <a:t>k</a:t>
            </a:r>
            <a:endParaRPr sz="2300"/>
          </a:p>
          <a:p>
            <a:pPr algn="l">
              <a:lnSpc>
                <a:spcPct val="100000"/>
              </a:lnSpc>
              <a:spcAft>
                <a:spcPts val="0"/>
              </a:spcAft>
            </a:pPr>
            <a:r>
              <a:rPr sz="1300" b="0">
                <a:solidFill>
                  <a:srgbClr val="8F8F8F"/>
                </a:solidFill>
                <a:latin typeface="Calibri"/>
              </a:rPr>
              <a:t>a 16 × 16 map for finding c. F</a:t>
            </a:r>
            <a:r>
              <a:rPr sz="1300" b="0" baseline="-25000">
                <a:solidFill>
                  <a:srgbClr val="8F8F8F"/>
                </a:solidFill>
                <a:latin typeface="Calibri"/>
              </a:rPr>
              <a:t>k</a:t>
            </a:r>
            <a:r>
              <a:rPr sz="1300" b="0">
                <a:solidFill>
                  <a:srgbClr val="8F8F8F"/>
                </a:solidFill>
                <a:latin typeface="Calibri"/>
              </a:rPr>
              <a:t> is feature map k, w</a:t>
            </a:r>
            <a:r>
              <a:rPr sz="1300" b="0" baseline="-25000">
                <a:solidFill>
                  <a:srgbClr val="8F8F8F"/>
                </a:solidFill>
                <a:latin typeface="Calibri"/>
              </a:rPr>
              <a:t>ck</a:t>
            </a:r>
            <a:r>
              <a:rPr sz="1300" b="0">
                <a:solidFill>
                  <a:srgbClr val="8F8F8F"/>
                </a:solidFill>
                <a:latin typeface="Calibri"/>
              </a:rPr>
              <a:t> its weight for finding c.</a:t>
            </a:r>
            <a:endParaRPr sz="1300"/>
          </a:p>
        </p:txBody>
      </p:sp>
      <p:sp>
        <p:nvSpPr>
          <p:cNvPr id="14" name="TextBox 13"/>
          <p:cNvSpPr txBox="1"/>
          <p:nvPr/>
        </p:nvSpPr>
        <p:spPr>
          <a:xfrm>
            <a:off x="548640" y="4846320"/>
            <a:ext cx="11094415" cy="822960"/>
          </a:xfrm>
          <a:prstGeom prst="rect">
            <a:avLst/>
          </a:prstGeom>
          <a:noFill/>
        </p:spPr>
        <p:txBody>
          <a:bodyPr wrap="square" lIns="0" rIns="0" tIns="0" bIns="0" anchor="t">
            <a:noAutofit/>
          </a:bodyPr>
          <a:lstStyle/>
          <a:p>
            <a:pPr algn="l">
              <a:lnSpc>
                <a:spcPct val="110000"/>
              </a:lnSpc>
              <a:spcAft>
                <a:spcPts val="0"/>
              </a:spcAft>
            </a:pPr>
            <a:r>
              <a:rPr sz="1700" b="0">
                <a:solidFill>
                  <a:srgbClr val="D2D2D2"/>
                </a:solidFill>
                <a:latin typeface="Calibri"/>
              </a:rPr>
              <a:t>Weighting and averaging can swap places, so the map's average plus the bias </a:t>
            </a:r>
            <a:r>
              <a:rPr sz="1700" b="1">
                <a:solidFill>
                  <a:srgbClr val="FFFFFF"/>
                </a:solidFill>
                <a:latin typeface="Calibri"/>
              </a:rPr>
              <a:t>is</a:t>
            </a:r>
            <a:r>
              <a:rPr sz="1700" b="0">
                <a:solidFill>
                  <a:srgbClr val="D2D2D2"/>
                </a:solidFill>
                <a:latin typeface="Calibri"/>
              </a:rPr>
              <a:t> the score. CAM splits the prediction across the image instead of estimating it, and a unit test checks the equality.</a:t>
            </a:r>
            <a:endParaRPr sz="1700"/>
          </a:p>
        </p:txBody>
      </p:sp>
      <p:sp>
        <p:nvSpPr>
          <p:cNvPr id="15" name="TextBox 14"/>
          <p:cNvSpPr txBox="1"/>
          <p:nvPr/>
        </p:nvSpPr>
        <p:spPr>
          <a:xfrm>
            <a:off x="548640" y="5760720"/>
            <a:ext cx="11094415" cy="45720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One map cell covers 32 × 32 px of the 512 px input, or 64 × 64 px of the original image. That limit comes back with nodules.</a:t>
            </a:r>
            <a:endParaRPr sz="13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TRAINING</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How it was trained</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11</a:t>
            </a:r>
            <a:endParaRPr sz="1000"/>
          </a:p>
        </p:txBody>
      </p:sp>
      <p:graphicFrame>
        <p:nvGraphicFramePr>
          <p:cNvPr id="6" name="Table 5"/>
          <p:cNvGraphicFramePr>
            <a:graphicFrameLocks noGrp="1"/>
          </p:cNvGraphicFramePr>
          <p:nvPr/>
        </p:nvGraphicFramePr>
        <p:xfrm>
          <a:off x="548640" y="1645920"/>
          <a:ext cx="11094415" cy="3968496"/>
        </p:xfrm>
        <a:graphic>
          <a:graphicData uri="http://schemas.openxmlformats.org/drawingml/2006/table">
            <a:tbl>
              <a:tblPr firstRow="0" bandRow="0">
                <a:tableStyleId>{2D5ABB26-0587-4C30-8999-92F81FD0307C}</a:tableStyleId>
              </a:tblPr>
              <a:tblGrid>
                <a:gridCol w="2103120"/>
                <a:gridCol w="8991295"/>
              </a:tblGrid>
              <a:tr h="566928">
                <a:tc>
                  <a:txBody>
                    <a:bodyPr wrap="square"/>
                    <a:lstStyle/>
                    <a:p>
                      <a:pPr algn="l">
                        <a:lnSpc>
                          <a:spcPct val="105000"/>
                        </a:lnSpc>
                        <a:spcAft>
                          <a:spcPts val="0"/>
                        </a:spcAft>
                      </a:pPr>
                      <a:r>
                        <a:rPr sz="1500" b="1">
                          <a:solidFill>
                            <a:srgbClr val="FFFFFF"/>
                          </a:solidFill>
                          <a:latin typeface="Calibri"/>
                        </a:rPr>
                        <a:t>Loss</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Binary cross-entropy for each finding. Positives weighted by √(negatives ÷ positives), so Hernia gets 25× instead of 626×.</a:t>
                      </a:r>
                      <a:endParaRPr sz="15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500" b="1">
                          <a:solidFill>
                            <a:srgbClr val="FFFFFF"/>
                          </a:solidFill>
                          <a:latin typeface="Calibri"/>
                        </a:rPr>
                        <a:t>Optimiser</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AdamW, peak learning rate 1e-4, weight decay 1e-5, one-cycle schedule with a 5% warm-up.</a:t>
                      </a:r>
                      <a:endParaRPr sz="15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500" b="1">
                          <a:solidFill>
                            <a:srgbClr val="FFFFFF"/>
                          </a:solidFill>
                          <a:latin typeface="Calibri"/>
                        </a:rPr>
                        <a:t>Stopping</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Up to 12 epochs. Stop after 3 epochs without a better validation mean AUROC, and keep the best epoch.</a:t>
                      </a:r>
                      <a:endParaRPr sz="15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500" b="1">
                          <a:solidFill>
                            <a:srgbClr val="FFFFFF"/>
                          </a:solidFill>
                          <a:latin typeface="Calibri"/>
                        </a:rPr>
                        <a:t>Augmentation</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Rotation up to 7°, shift up to 5%, zoom within 5%. No horizontal flip: it puts the heart on the wrong side, and we report left and right.</a:t>
                      </a:r>
                      <a:endParaRPr sz="15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500" b="1">
                          <a:solidFill>
                            <a:srgbClr val="FFFFFF"/>
                          </a:solidFill>
                          <a:latin typeface="Calibri"/>
                        </a:rPr>
                        <a:t>Validation</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10% of the official training list, split by patient. A check fails loudly if a patient lands in two splits.</a:t>
                      </a:r>
                      <a:endParaRPr sz="15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500" b="1">
                          <a:solidFill>
                            <a:srgbClr val="FFFFFF"/>
                          </a:solidFill>
                          <a:latin typeface="Calibri"/>
                        </a:rPr>
                        <a:t>Hardware</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RTX 5070 Ti, 16 GB. bfloat16 mixed precision, batch 32, about 12 GB in use. 10.4 min for the first epoch, then about 7.5 min each.</a:t>
                      </a:r>
                      <a:endParaRPr sz="15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500" b="1">
                          <a:solidFill>
                            <a:srgbClr val="FFFFFF"/>
                          </a:solidFill>
                          <a:latin typeface="Calibri"/>
                        </a:rPr>
                        <a:t>Checkpoints</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Everything needed to resume is saved every epoch, added after three power cuts.</a:t>
                      </a:r>
                      <a:endParaRPr sz="1500"/>
                    </a:p>
                  </a:txBody>
                  <a:tcPr marL="73152" marR="73152" marT="27432" marB="27432" anchor="ctr">
                    <a:lnL w="0">
                      <a:noFill/>
                    </a:lnL>
                    <a:lnR w="0">
                      <a:noFill/>
                    </a:lnR>
                    <a:lnT w="0">
                      <a:noFill/>
                    </a:lnT>
                    <a:lnB w="9525">
                      <a:solidFill>
                        <a:srgbClr val="2E2E2E"/>
                      </a:solidFill>
                    </a:lnB>
                    <a:no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RESULTS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Three runs, one recipe, three seeds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12</a:t>
            </a:r>
            <a:endParaRPr sz="1000"/>
          </a:p>
        </p:txBody>
      </p:sp>
      <p:sp>
        <p:nvSpPr>
          <p:cNvPr id="6" name="TextBox 5"/>
          <p:cNvSpPr txBox="1"/>
          <p:nvPr/>
        </p:nvSpPr>
        <p:spPr>
          <a:xfrm>
            <a:off x="548640" y="1572768"/>
            <a:ext cx="11094415" cy="3200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Validation mean AUROC after each epoch. Highlighted: the epoch whose weights were kept.</a:t>
            </a:r>
            <a:endParaRPr sz="1300"/>
          </a:p>
        </p:txBody>
      </p:sp>
      <p:graphicFrame>
        <p:nvGraphicFramePr>
          <p:cNvPr id="7" name="Table 6"/>
          <p:cNvGraphicFramePr>
            <a:graphicFrameLocks noGrp="1"/>
          </p:cNvGraphicFramePr>
          <p:nvPr/>
        </p:nvGraphicFramePr>
        <p:xfrm>
          <a:off x="548640" y="1920240"/>
          <a:ext cx="11091672" cy="1837944"/>
        </p:xfrm>
        <a:graphic>
          <a:graphicData uri="http://schemas.openxmlformats.org/drawingml/2006/table">
            <a:tbl>
              <a:tblPr firstRow="0" bandRow="0">
                <a:tableStyleId>{2D5ABB26-0587-4C30-8999-92F81FD0307C}</a:tableStyleId>
              </a:tblPr>
              <a:tblGrid>
                <a:gridCol w="1188720"/>
                <a:gridCol w="960120"/>
                <a:gridCol w="960120"/>
                <a:gridCol w="960120"/>
                <a:gridCol w="960120"/>
                <a:gridCol w="960120"/>
                <a:gridCol w="960120"/>
                <a:gridCol w="960120"/>
                <a:gridCol w="960120"/>
                <a:gridCol w="2221992"/>
              </a:tblGrid>
              <a:tr h="411480">
                <a:tc>
                  <a:txBody>
                    <a:bodyPr wrap="square"/>
                    <a:lstStyle/>
                    <a:p>
                      <a:pPr algn="l">
                        <a:lnSpc>
                          <a:spcPct val="105000"/>
                        </a:lnSpc>
                        <a:spcAft>
                          <a:spcPts val="0"/>
                        </a:spcAft>
                      </a:pPr>
                      <a:r>
                        <a:rPr sz="1200" b="0">
                          <a:solidFill>
                            <a:srgbClr val="8F8F8F"/>
                          </a:solidFill>
                          <a:latin typeface="Calibri"/>
                        </a:rPr>
                        <a:t>seed</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epoch 1</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2</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3</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4</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5</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6</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7</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8</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test AUROC</a:t>
                      </a:r>
                      <a:endParaRPr sz="1200"/>
                    </a:p>
                  </a:txBody>
                  <a:tcPr marL="73152" marR="73152" marT="27432" marB="27432" anchor="ctr">
                    <a:lnL w="0">
                      <a:noFill/>
                    </a:lnL>
                    <a:lnR w="0">
                      <a:noFill/>
                    </a:lnR>
                    <a:lnT w="0">
                      <a:noFill/>
                    </a:lnT>
                    <a:lnB w="12700">
                      <a:solidFill>
                        <a:srgbClr val="5C5C5C"/>
                      </a:solidFill>
                    </a:lnB>
                    <a:noFill/>
                  </a:tcPr>
                </a:tc>
              </a:tr>
              <a:tr h="475488">
                <a:tc>
                  <a:txBody>
                    <a:bodyPr wrap="square"/>
                    <a:lstStyle/>
                    <a:p>
                      <a:pPr algn="l">
                        <a:lnSpc>
                          <a:spcPct val="105000"/>
                        </a:lnSpc>
                        <a:spcAft>
                          <a:spcPts val="0"/>
                        </a:spcAft>
                      </a:pPr>
                      <a:r>
                        <a:rPr sz="1600" b="1">
                          <a:solidFill>
                            <a:srgbClr val="FFFFFF"/>
                          </a:solidFill>
                          <a:latin typeface="Calibri"/>
                        </a:rPr>
                        <a:t>1337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0.8138</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0.8335</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0.8490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0.8533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0.8514</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0.8525</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0.8510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FFFFF"/>
                          </a:solidFill>
                          <a:latin typeface="Calibri"/>
                        </a:rPr>
                        <a:t>0.8158</a:t>
                      </a:r>
                      <a:endParaRPr sz="1600"/>
                    </a:p>
                  </a:txBody>
                  <a:tcPr marL="73152" marR="73152" marT="27432" marB="27432" anchor="ctr">
                    <a:lnL w="0">
                      <a:noFill/>
                    </a:lnL>
                    <a:lnR w="0">
                      <a:noFill/>
                    </a:lnR>
                    <a:lnT w="0">
                      <a:noFill/>
                    </a:lnT>
                    <a:lnB w="9525">
                      <a:solidFill>
                        <a:srgbClr val="2E2E2E"/>
                      </a:solidFill>
                    </a:lnB>
                    <a:noFill/>
                  </a:tcPr>
                </a:tc>
              </a:tr>
              <a:tr h="475488">
                <a:tc>
                  <a:txBody>
                    <a:bodyPr wrap="square"/>
                    <a:lstStyle/>
                    <a:p>
                      <a:pPr algn="l">
                        <a:lnSpc>
                          <a:spcPct val="105000"/>
                        </a:lnSpc>
                        <a:spcAft>
                          <a:spcPts val="0"/>
                        </a:spcAft>
                      </a:pPr>
                      <a:r>
                        <a:rPr sz="1600" b="1">
                          <a:solidFill>
                            <a:srgbClr val="FFFFFF"/>
                          </a:solidFill>
                          <a:latin typeface="Calibri"/>
                        </a:rPr>
                        <a:t>2024</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0.8077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0.8325</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0.8430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0.8327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0.8479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0.8438</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0.8409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0.8321</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FFFFF"/>
                          </a:solidFill>
                          <a:latin typeface="Calibri"/>
                        </a:rPr>
                        <a:t>0.8190</a:t>
                      </a:r>
                      <a:endParaRPr sz="1600"/>
                    </a:p>
                  </a:txBody>
                  <a:tcPr marL="73152" marR="73152" marT="27432" marB="27432" anchor="ctr">
                    <a:lnL w="0">
                      <a:noFill/>
                    </a:lnL>
                    <a:lnR w="0">
                      <a:noFill/>
                    </a:lnR>
                    <a:lnT w="0">
                      <a:noFill/>
                    </a:lnT>
                    <a:lnB w="9525">
                      <a:solidFill>
                        <a:srgbClr val="2E2E2E"/>
                      </a:solidFill>
                    </a:lnB>
                    <a:noFill/>
                  </a:tcPr>
                </a:tc>
              </a:tr>
              <a:tr h="475488">
                <a:tc>
                  <a:txBody>
                    <a:bodyPr wrap="square"/>
                    <a:lstStyle/>
                    <a:p>
                      <a:pPr algn="l">
                        <a:lnSpc>
                          <a:spcPct val="105000"/>
                        </a:lnSpc>
                        <a:spcAft>
                          <a:spcPts val="0"/>
                        </a:spcAft>
                      </a:pPr>
                      <a:r>
                        <a:rPr sz="1600" b="1">
                          <a:solidFill>
                            <a:srgbClr val="FFFFFF"/>
                          </a:solidFill>
                          <a:latin typeface="Calibri"/>
                        </a:rPr>
                        <a:t>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0.8161</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0.8380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0.8469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0.8479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0.8483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0.8463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0.8404</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0.8353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FFFFF"/>
                          </a:solidFill>
                          <a:latin typeface="Calibri"/>
                        </a:rPr>
                        <a:t>0.8164</a:t>
                      </a:r>
                      <a:endParaRPr sz="1600"/>
                    </a:p>
                  </a:txBody>
                  <a:tcPr marL="73152" marR="73152" marT="27432" marB="27432" anchor="ctr">
                    <a:lnL w="0">
                      <a:noFill/>
                    </a:lnL>
                    <a:lnR w="0">
                      <a:noFill/>
                    </a:lnR>
                    <a:lnT w="0">
                      <a:noFill/>
                    </a:lnT>
                    <a:lnB w="9525">
                      <a:solidFill>
                        <a:srgbClr val="2E2E2E"/>
                      </a:solidFill>
                    </a:lnB>
                    <a:noFill/>
                  </a:tcPr>
                </a:tc>
              </a:tr>
            </a:tbl>
          </a:graphicData>
        </a:graphic>
      </p:graphicFrame>
      <p:sp>
        <p:nvSpPr>
          <p:cNvPr id="8" name="TextBox 7"/>
          <p:cNvSpPr txBox="1"/>
          <p:nvPr/>
        </p:nvSpPr>
        <p:spPr>
          <a:xfrm>
            <a:off x="548640" y="4069080"/>
            <a:ext cx="3442106" cy="731520"/>
          </a:xfrm>
          <a:prstGeom prst="rect">
            <a:avLst/>
          </a:prstGeom>
          <a:noFill/>
        </p:spPr>
        <p:txBody>
          <a:bodyPr wrap="square" lIns="0" rIns="0" tIns="0" bIns="0" anchor="b">
            <a:noAutofit/>
          </a:bodyPr>
          <a:lstStyle/>
          <a:p>
            <a:pPr algn="l">
              <a:lnSpc>
                <a:spcPct val="90000"/>
              </a:lnSpc>
              <a:spcAft>
                <a:spcPts val="0"/>
              </a:spcAft>
            </a:pPr>
            <a:r>
              <a:rPr sz="4400" b="0">
                <a:solidFill>
                  <a:srgbClr val="FFFFFF"/>
                </a:solidFill>
                <a:latin typeface="Calibri Light"/>
              </a:rPr>
              <a:t>0.8171</a:t>
            </a:r>
            <a:endParaRPr sz="4400"/>
          </a:p>
        </p:txBody>
      </p:sp>
      <p:sp>
        <p:nvSpPr>
          <p:cNvPr id="9" name="TextBox 8"/>
          <p:cNvSpPr txBox="1"/>
          <p:nvPr/>
        </p:nvSpPr>
        <p:spPr>
          <a:xfrm>
            <a:off x="548640" y="4892040"/>
            <a:ext cx="3442106" cy="73152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mean test AUROC of the three runs</a:t>
            </a:r>
            <a:endParaRPr sz="1500"/>
          </a:p>
        </p:txBody>
      </p:sp>
      <p:sp>
        <p:nvSpPr>
          <p:cNvPr id="10" name="TextBox 9"/>
          <p:cNvSpPr txBox="1"/>
          <p:nvPr/>
        </p:nvSpPr>
        <p:spPr>
          <a:xfrm>
            <a:off x="4374794" y="4069080"/>
            <a:ext cx="3442106" cy="731520"/>
          </a:xfrm>
          <a:prstGeom prst="rect">
            <a:avLst/>
          </a:prstGeom>
          <a:noFill/>
        </p:spPr>
        <p:txBody>
          <a:bodyPr wrap="square" lIns="0" rIns="0" tIns="0" bIns="0" anchor="b">
            <a:noAutofit/>
          </a:bodyPr>
          <a:lstStyle/>
          <a:p>
            <a:pPr algn="l">
              <a:lnSpc>
                <a:spcPct val="90000"/>
              </a:lnSpc>
              <a:spcAft>
                <a:spcPts val="0"/>
              </a:spcAft>
            </a:pPr>
            <a:r>
              <a:rPr sz="4400" b="0">
                <a:solidFill>
                  <a:srgbClr val="FFFFFF"/>
                </a:solidFill>
                <a:latin typeface="Calibri Light"/>
              </a:rPr>
              <a:t>0.0032</a:t>
            </a:r>
            <a:endParaRPr sz="4400"/>
          </a:p>
        </p:txBody>
      </p:sp>
      <p:sp>
        <p:nvSpPr>
          <p:cNvPr id="11" name="TextBox 10"/>
          <p:cNvSpPr txBox="1"/>
          <p:nvPr/>
        </p:nvSpPr>
        <p:spPr>
          <a:xfrm>
            <a:off x="4374794" y="4892040"/>
            <a:ext cx="3442106" cy="73152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spread between the lowest and highest test score</a:t>
            </a:r>
            <a:endParaRPr sz="1500"/>
          </a:p>
        </p:txBody>
      </p:sp>
      <p:sp>
        <p:nvSpPr>
          <p:cNvPr id="12" name="TextBox 11"/>
          <p:cNvSpPr txBox="1"/>
          <p:nvPr/>
        </p:nvSpPr>
        <p:spPr>
          <a:xfrm>
            <a:off x="8200948" y="4069080"/>
            <a:ext cx="3442106" cy="731520"/>
          </a:xfrm>
          <a:prstGeom prst="rect">
            <a:avLst/>
          </a:prstGeom>
          <a:noFill/>
        </p:spPr>
        <p:txBody>
          <a:bodyPr wrap="square" lIns="0" rIns="0" tIns="0" bIns="0" anchor="b">
            <a:noAutofit/>
          </a:bodyPr>
          <a:lstStyle/>
          <a:p>
            <a:pPr algn="l">
              <a:lnSpc>
                <a:spcPct val="90000"/>
              </a:lnSpc>
              <a:spcAft>
                <a:spcPts val="0"/>
              </a:spcAft>
            </a:pPr>
            <a:r>
              <a:rPr sz="4400" b="0">
                <a:solidFill>
                  <a:srgbClr val="FFFFFF"/>
                </a:solidFill>
                <a:latin typeface="Calibri Light"/>
              </a:rPr>
              <a:t>4 or 5</a:t>
            </a:r>
            <a:endParaRPr sz="4400"/>
          </a:p>
        </p:txBody>
      </p:sp>
      <p:sp>
        <p:nvSpPr>
          <p:cNvPr id="13" name="TextBox 12"/>
          <p:cNvSpPr txBox="1"/>
          <p:nvPr/>
        </p:nvSpPr>
        <p:spPr>
          <a:xfrm>
            <a:off x="8200948" y="4892040"/>
            <a:ext cx="3442106" cy="73152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best epoch in every run. Early stopping ended each run three epochs later.</a:t>
            </a:r>
            <a:endParaRPr sz="1500"/>
          </a:p>
        </p:txBody>
      </p:sp>
      <p:sp>
        <p:nvSpPr>
          <p:cNvPr id="14" name="TextBox 13"/>
          <p:cNvSpPr txBox="1"/>
          <p:nvPr/>
        </p:nvSpPr>
        <p:spPr>
          <a:xfrm>
            <a:off x="548640" y="5852160"/>
            <a:ext cx="11094415" cy="5486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A seed changes the new output layer's starting weights, the shuffling, the augmentation and which patients are held out for validation. The test set never changes.</a:t>
            </a:r>
            <a:endParaRPr sz="13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RESULTS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Why we keep the weights we keep</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13</a:t>
            </a:r>
            <a:endParaRPr sz="1000"/>
          </a:p>
        </p:txBody>
      </p:sp>
      <p:sp>
        <p:nvSpPr>
          <p:cNvPr id="6" name="TextBox 5"/>
          <p:cNvSpPr txBox="1"/>
          <p:nvPr/>
        </p:nvSpPr>
        <p:spPr>
          <a:xfrm>
            <a:off x="548640" y="1536192"/>
            <a:ext cx="640080" cy="731520"/>
          </a:xfrm>
          <a:prstGeom prst="rect">
            <a:avLst/>
          </a:prstGeom>
          <a:noFill/>
        </p:spPr>
        <p:txBody>
          <a:bodyPr wrap="square" lIns="0" rIns="0" tIns="0" bIns="0" anchor="t">
            <a:noAutofit/>
          </a:bodyPr>
          <a:lstStyle/>
          <a:p>
            <a:pPr algn="l">
              <a:lnSpc>
                <a:spcPct val="105000"/>
              </a:lnSpc>
              <a:spcAft>
                <a:spcPts val="0"/>
              </a:spcAft>
            </a:pPr>
            <a:r>
              <a:rPr sz="4400" b="0">
                <a:solidFill>
                  <a:srgbClr val="F2994A"/>
                </a:solidFill>
                <a:latin typeface="Calibri Light"/>
              </a:rPr>
              <a:t>1</a:t>
            </a:r>
            <a:endParaRPr sz="4400"/>
          </a:p>
        </p:txBody>
      </p:sp>
      <p:sp>
        <p:nvSpPr>
          <p:cNvPr id="7" name="TextBox 6"/>
          <p:cNvSpPr txBox="1"/>
          <p:nvPr/>
        </p:nvSpPr>
        <p:spPr>
          <a:xfrm>
            <a:off x="1280160" y="1645920"/>
            <a:ext cx="10362895" cy="411480"/>
          </a:xfrm>
          <a:prstGeom prst="rect">
            <a:avLst/>
          </a:prstGeom>
          <a:noFill/>
        </p:spPr>
        <p:txBody>
          <a:bodyPr wrap="square" lIns="0" rIns="0" tIns="0" bIns="0" anchor="t">
            <a:noAutofit/>
          </a:bodyPr>
          <a:lstStyle/>
          <a:p>
            <a:pPr algn="l">
              <a:lnSpc>
                <a:spcPct val="105000"/>
              </a:lnSpc>
              <a:spcAft>
                <a:spcPts val="0"/>
              </a:spcAft>
            </a:pPr>
            <a:r>
              <a:rPr sz="2100" b="1">
                <a:solidFill>
                  <a:srgbClr val="FFFFFF"/>
                </a:solidFill>
                <a:latin typeface="Calibri"/>
              </a:rPr>
              <a:t>Inside a run, validation picks the epoch</a:t>
            </a:r>
            <a:endParaRPr sz="2100"/>
          </a:p>
        </p:txBody>
      </p:sp>
      <p:sp>
        <p:nvSpPr>
          <p:cNvPr id="8" name="TextBox 7"/>
          <p:cNvSpPr txBox="1"/>
          <p:nvPr/>
        </p:nvSpPr>
        <p:spPr>
          <a:xfrm>
            <a:off x="1280160" y="2084832"/>
            <a:ext cx="10362895" cy="822960"/>
          </a:xfrm>
          <a:prstGeom prst="rect">
            <a:avLst/>
          </a:prstGeom>
          <a:noFill/>
        </p:spPr>
        <p:txBody>
          <a:bodyPr wrap="square" lIns="0" rIns="0" tIns="0" bIns="0" anchor="t">
            <a:noAutofit/>
          </a:bodyPr>
          <a:lstStyle/>
          <a:p>
            <a:pPr algn="l">
              <a:lnSpc>
                <a:spcPct val="108000"/>
              </a:lnSpc>
              <a:spcAft>
                <a:spcPts val="0"/>
              </a:spcAft>
            </a:pPr>
            <a:r>
              <a:rPr sz="1600" b="0">
                <a:solidFill>
                  <a:srgbClr val="D2D2D2"/>
                </a:solidFill>
                <a:latin typeface="Calibri"/>
              </a:rPr>
              <a:t>All three runs peak at epoch 4 or 5 and slip after that, while training loss keeps falling (seed 1337: 0.331 at epoch 4, 0.271 at epoch 7). That is the start of overfitting, so the later epochs are not used.</a:t>
            </a:r>
            <a:endParaRPr sz="1600"/>
          </a:p>
        </p:txBody>
      </p:sp>
      <p:sp>
        <p:nvSpPr>
          <p:cNvPr id="9" name="TextBox 8"/>
          <p:cNvSpPr txBox="1"/>
          <p:nvPr/>
        </p:nvSpPr>
        <p:spPr>
          <a:xfrm>
            <a:off x="548640" y="2907791"/>
            <a:ext cx="640080" cy="731520"/>
          </a:xfrm>
          <a:prstGeom prst="rect">
            <a:avLst/>
          </a:prstGeom>
          <a:noFill/>
        </p:spPr>
        <p:txBody>
          <a:bodyPr wrap="square" lIns="0" rIns="0" tIns="0" bIns="0" anchor="t">
            <a:noAutofit/>
          </a:bodyPr>
          <a:lstStyle/>
          <a:p>
            <a:pPr algn="l">
              <a:lnSpc>
                <a:spcPct val="105000"/>
              </a:lnSpc>
              <a:spcAft>
                <a:spcPts val="0"/>
              </a:spcAft>
            </a:pPr>
            <a:r>
              <a:rPr sz="4400" b="0">
                <a:solidFill>
                  <a:srgbClr val="F2994A"/>
                </a:solidFill>
                <a:latin typeface="Calibri Light"/>
              </a:rPr>
              <a:t>2</a:t>
            </a:r>
            <a:endParaRPr sz="4400"/>
          </a:p>
        </p:txBody>
      </p:sp>
      <p:sp>
        <p:nvSpPr>
          <p:cNvPr id="10" name="TextBox 9"/>
          <p:cNvSpPr txBox="1"/>
          <p:nvPr/>
        </p:nvSpPr>
        <p:spPr>
          <a:xfrm>
            <a:off x="1280160" y="3017520"/>
            <a:ext cx="10362895" cy="411480"/>
          </a:xfrm>
          <a:prstGeom prst="rect">
            <a:avLst/>
          </a:prstGeom>
          <a:noFill/>
        </p:spPr>
        <p:txBody>
          <a:bodyPr wrap="square" lIns="0" rIns="0" tIns="0" bIns="0" anchor="t">
            <a:noAutofit/>
          </a:bodyPr>
          <a:lstStyle/>
          <a:p>
            <a:pPr algn="l">
              <a:lnSpc>
                <a:spcPct val="105000"/>
              </a:lnSpc>
              <a:spcAft>
                <a:spcPts val="0"/>
              </a:spcAft>
            </a:pPr>
            <a:r>
              <a:rPr sz="2100" b="1">
                <a:solidFill>
                  <a:srgbClr val="FFFFFF"/>
                </a:solidFill>
                <a:latin typeface="Calibri"/>
              </a:rPr>
              <a:t>Across runs, validation cannot pick a winner</a:t>
            </a:r>
            <a:endParaRPr sz="2100"/>
          </a:p>
        </p:txBody>
      </p:sp>
      <p:sp>
        <p:nvSpPr>
          <p:cNvPr id="11" name="TextBox 10"/>
          <p:cNvSpPr txBox="1"/>
          <p:nvPr/>
        </p:nvSpPr>
        <p:spPr>
          <a:xfrm>
            <a:off x="1280160" y="3456432"/>
            <a:ext cx="10362895" cy="822960"/>
          </a:xfrm>
          <a:prstGeom prst="rect">
            <a:avLst/>
          </a:prstGeom>
          <a:noFill/>
        </p:spPr>
        <p:txBody>
          <a:bodyPr wrap="square" lIns="0" rIns="0" tIns="0" bIns="0" anchor="t">
            <a:noAutofit/>
          </a:bodyPr>
          <a:lstStyle/>
          <a:p>
            <a:pPr algn="l">
              <a:lnSpc>
                <a:spcPct val="108000"/>
              </a:lnSpc>
              <a:spcAft>
                <a:spcPts val="0"/>
              </a:spcAft>
            </a:pPr>
            <a:r>
              <a:rPr sz="1600" b="0">
                <a:solidFill>
                  <a:srgbClr val="D2D2D2"/>
                </a:solidFill>
                <a:latin typeface="Calibri"/>
              </a:rPr>
              <a:t>Seed 1337 has the best validation score (0.8533) and the lowest test score (0.8158). Each run also validates on different patients, so those scores are not strictly comparable.</a:t>
            </a:r>
            <a:endParaRPr sz="1600"/>
          </a:p>
        </p:txBody>
      </p:sp>
      <p:sp>
        <p:nvSpPr>
          <p:cNvPr id="12" name="TextBox 11"/>
          <p:cNvSpPr txBox="1"/>
          <p:nvPr/>
        </p:nvSpPr>
        <p:spPr>
          <a:xfrm>
            <a:off x="548640" y="4279392"/>
            <a:ext cx="640080" cy="731520"/>
          </a:xfrm>
          <a:prstGeom prst="rect">
            <a:avLst/>
          </a:prstGeom>
          <a:noFill/>
        </p:spPr>
        <p:txBody>
          <a:bodyPr wrap="square" lIns="0" rIns="0" tIns="0" bIns="0" anchor="t">
            <a:noAutofit/>
          </a:bodyPr>
          <a:lstStyle/>
          <a:p>
            <a:pPr algn="l">
              <a:lnSpc>
                <a:spcPct val="105000"/>
              </a:lnSpc>
              <a:spcAft>
                <a:spcPts val="0"/>
              </a:spcAft>
            </a:pPr>
            <a:r>
              <a:rPr sz="4400" b="0">
                <a:solidFill>
                  <a:srgbClr val="F2994A"/>
                </a:solidFill>
                <a:latin typeface="Calibri Light"/>
              </a:rPr>
              <a:t>3</a:t>
            </a:r>
            <a:endParaRPr sz="4400"/>
          </a:p>
        </p:txBody>
      </p:sp>
      <p:sp>
        <p:nvSpPr>
          <p:cNvPr id="13" name="TextBox 12"/>
          <p:cNvSpPr txBox="1"/>
          <p:nvPr/>
        </p:nvSpPr>
        <p:spPr>
          <a:xfrm>
            <a:off x="1280160" y="4389120"/>
            <a:ext cx="10362895" cy="411480"/>
          </a:xfrm>
          <a:prstGeom prst="rect">
            <a:avLst/>
          </a:prstGeom>
          <a:noFill/>
        </p:spPr>
        <p:txBody>
          <a:bodyPr wrap="square" lIns="0" rIns="0" tIns="0" bIns="0" anchor="t">
            <a:noAutofit/>
          </a:bodyPr>
          <a:lstStyle/>
          <a:p>
            <a:pPr algn="l">
              <a:lnSpc>
                <a:spcPct val="105000"/>
              </a:lnSpc>
              <a:spcAft>
                <a:spcPts val="0"/>
              </a:spcAft>
            </a:pPr>
            <a:r>
              <a:rPr sz="2100" b="1">
                <a:solidFill>
                  <a:srgbClr val="FFFFFF"/>
                </a:solidFill>
                <a:latin typeface="Calibri"/>
              </a:rPr>
              <a:t>We report seed 1337, and the spread</a:t>
            </a:r>
            <a:endParaRPr sz="2100"/>
          </a:p>
        </p:txBody>
      </p:sp>
      <p:sp>
        <p:nvSpPr>
          <p:cNvPr id="14" name="TextBox 13"/>
          <p:cNvSpPr txBox="1"/>
          <p:nvPr/>
        </p:nvSpPr>
        <p:spPr>
          <a:xfrm>
            <a:off x="1280160" y="4828031"/>
            <a:ext cx="10362895" cy="822960"/>
          </a:xfrm>
          <a:prstGeom prst="rect">
            <a:avLst/>
          </a:prstGeom>
          <a:noFill/>
        </p:spPr>
        <p:txBody>
          <a:bodyPr wrap="square" lIns="0" rIns="0" tIns="0" bIns="0" anchor="t">
            <a:noAutofit/>
          </a:bodyPr>
          <a:lstStyle/>
          <a:p>
            <a:pPr algn="l">
              <a:lnSpc>
                <a:spcPct val="108000"/>
              </a:lnSpc>
              <a:spcAft>
                <a:spcPts val="0"/>
              </a:spcAft>
            </a:pPr>
            <a:r>
              <a:rPr sz="1600" b="0">
                <a:solidFill>
                  <a:srgbClr val="D2D2D2"/>
                </a:solidFill>
                <a:latin typeface="Calibri"/>
              </a:rPr>
              <a:t>It was fixed as the main run before the other two existed. Picking seed 2024 now because it tests best would mean choosing on the test set, which the official split exists to prevent.</a:t>
            </a:r>
            <a:endParaRPr sz="1600"/>
          </a:p>
        </p:txBody>
      </p:sp>
      <p:sp>
        <p:nvSpPr>
          <p:cNvPr id="15" name="TextBox 14"/>
          <p:cNvSpPr txBox="1"/>
          <p:nvPr/>
        </p:nvSpPr>
        <p:spPr>
          <a:xfrm>
            <a:off x="548640" y="5806440"/>
            <a:ext cx="11094415" cy="411480"/>
          </a:xfrm>
          <a:prstGeom prst="rect">
            <a:avLst/>
          </a:prstGeom>
          <a:noFill/>
        </p:spPr>
        <p:txBody>
          <a:bodyPr wrap="square" lIns="0" rIns="0" tIns="0" bIns="0" anchor="t">
            <a:noAutofit/>
          </a:bodyPr>
          <a:lstStyle/>
          <a:p>
            <a:pPr algn="l">
              <a:lnSpc>
                <a:spcPct val="105000"/>
              </a:lnSpc>
              <a:spcAft>
                <a:spcPts val="0"/>
              </a:spcAft>
            </a:pPr>
            <a:r>
              <a:rPr sz="1700" b="0">
                <a:solidFill>
                  <a:srgbClr val="FFFFFF"/>
                </a:solidFill>
                <a:latin typeface="Calibri"/>
              </a:rPr>
              <a:t>The number to quote: </a:t>
            </a:r>
            <a:r>
              <a:rPr sz="1700" b="1">
                <a:solidFill>
                  <a:srgbClr val="F2994A"/>
                </a:solidFill>
                <a:latin typeface="Calibri"/>
              </a:rPr>
              <a:t>0.817</a:t>
            </a:r>
            <a:r>
              <a:rPr sz="1700" b="0">
                <a:solidFill>
                  <a:srgbClr val="FFFFFF"/>
                </a:solidFill>
                <a:latin typeface="Calibri"/>
              </a:rPr>
              <a:t> on average, between 0.816 and 0.819 across runs.</a:t>
            </a:r>
            <a:endParaRPr sz="17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RELATED WORK</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What published work uses, and what we picked</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14</a:t>
            </a:r>
            <a:endParaRPr sz="1000"/>
          </a:p>
        </p:txBody>
      </p:sp>
      <p:graphicFrame>
        <p:nvGraphicFramePr>
          <p:cNvPr id="6" name="Table 5"/>
          <p:cNvGraphicFramePr>
            <a:graphicFrameLocks noGrp="1"/>
          </p:cNvGraphicFramePr>
          <p:nvPr/>
        </p:nvGraphicFramePr>
        <p:xfrm>
          <a:off x="548640" y="1572768"/>
          <a:ext cx="11094415" cy="4023360"/>
        </p:xfrm>
        <a:graphic>
          <a:graphicData uri="http://schemas.openxmlformats.org/drawingml/2006/table">
            <a:tbl>
              <a:tblPr firstRow="0" bandRow="0">
                <a:tableStyleId>{2D5ABB26-0587-4C30-8999-92F81FD0307C}</a:tableStyleId>
              </a:tblPr>
              <a:tblGrid>
                <a:gridCol w="1600200"/>
                <a:gridCol w="5760720"/>
                <a:gridCol w="3733495"/>
              </a:tblGrid>
              <a:tr h="365760">
                <a:tc>
                  <a:txBody>
                    <a:bodyPr wrap="square"/>
                    <a:lstStyle/>
                    <a:p>
                      <a:pPr algn="l">
                        <a:lnSpc>
                          <a:spcPct val="105000"/>
                        </a:lnSpc>
                        <a:spcAft>
                          <a:spcPts val="0"/>
                        </a:spcAft>
                      </a:pP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published work on ChestX-ray14</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our choice</a:t>
                      </a:r>
                      <a:endParaRPr sz="1200"/>
                    </a:p>
                  </a:txBody>
                  <a:tcPr marL="73152" marR="73152" marT="27432" marB="27432" anchor="ctr">
                    <a:lnL w="0">
                      <a:noFill/>
                    </a:lnL>
                    <a:lnR w="0">
                      <a:noFill/>
                    </a:lnR>
                    <a:lnT w="0">
                      <a:noFill/>
                    </a:lnT>
                    <a:lnB w="12700">
                      <a:solidFill>
                        <a:srgbClr val="5C5C5C"/>
                      </a:solidFill>
                    </a:lnB>
                    <a:noFill/>
                  </a:tcPr>
                </a:tc>
              </a:tr>
              <a:tr h="731520">
                <a:tc>
                  <a:txBody>
                    <a:bodyPr wrap="square"/>
                    <a:lstStyle/>
                    <a:p>
                      <a:pPr algn="l">
                        <a:lnSpc>
                          <a:spcPct val="105000"/>
                        </a:lnSpc>
                        <a:spcAft>
                          <a:spcPts val="0"/>
                        </a:spcAft>
                      </a:pPr>
                      <a:r>
                        <a:rPr sz="1400" b="1">
                          <a:solidFill>
                            <a:srgbClr val="FFFFFF"/>
                          </a:solidFill>
                          <a:latin typeface="Calibri"/>
                        </a:rPr>
                        <a:t>Network</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DenseNet-121 in most papers, from CheXNet to XProtoNet. ResNet-50 in the original baseline. Swin and ViT transformers since 2022.</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FFFFFF"/>
                          </a:solidFill>
                          <a:latin typeface="Calibri"/>
                        </a:rPr>
                        <a:t>DenseNet-121: easy to compare, and its head makes CAM exact</a:t>
                      </a:r>
                      <a:endParaRPr sz="14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400" b="1">
                          <a:solidFill>
                            <a:srgbClr val="FFFFFF"/>
                          </a:solidFill>
                          <a:latin typeface="Calibri"/>
                        </a:rPr>
                        <a:t>Pretraining</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ImageNet in most papers, none in Yao 2018, and self-supervised on 0.3 to 0.5 million X-rays in the newest transformer papers</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FFFFFF"/>
                          </a:solidFill>
                          <a:latin typeface="Calibri"/>
                        </a:rPr>
                        <a:t>ImageNet: standard, and needs no extra data</a:t>
                      </a:r>
                      <a:endParaRPr sz="14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400" b="1">
                          <a:solidFill>
                            <a:srgbClr val="FFFFFF"/>
                          </a:solidFill>
                          <a:latin typeface="Calibri"/>
                        </a:rPr>
                        <a:t>Input size</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224 px in CheXNet, SwinCheX and the MAE papers. 512 px in Yao 2018, Hermoza and XProtoNet. 1024 px in Wang and Guendel.</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FFFFFF"/>
                          </a:solidFill>
                          <a:latin typeface="Calibri"/>
                        </a:rPr>
                        <a:t>512 px, like the papers that study explanations: 16 × 16 maps</a:t>
                      </a:r>
                      <a:endParaRPr sz="14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400" b="1">
                          <a:solidFill>
                            <a:srgbClr val="FFFFFF"/>
                          </a:solidFill>
                          <a:latin typeface="Calibri"/>
                        </a:rPr>
                        <a:t>Split</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The official patient-wise split, so numbers compare. CheXNet and Yao 2017 used their own random splits.</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FFFFFF"/>
                          </a:solidFill>
                          <a:latin typeface="Calibri"/>
                        </a:rPr>
                        <a:t>The official split, untouched</a:t>
                      </a:r>
                      <a:endParaRPr sz="14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400" b="1">
                          <a:solidFill>
                            <a:srgbClr val="FFFFFF"/>
                          </a:solidFill>
                          <a:latin typeface="Calibri"/>
                        </a:rPr>
                        <a:t>Metrics</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Mean AUROC nearly everywhere. Localisation papers add box accuracy on the 984 boxes. None of the papers we checked report AUPRC.</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FFFFFF"/>
                          </a:solidFill>
                          <a:latin typeface="Calibri"/>
                        </a:rPr>
                        <a:t>AUROC and AUPRC, box accuracy, faithfulness and the randomisation check</a:t>
                      </a:r>
                      <a:endParaRPr sz="14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548640" y="5760720"/>
            <a:ext cx="11094415" cy="457200"/>
          </a:xfrm>
          <a:prstGeom prst="rect">
            <a:avLst/>
          </a:prstGeom>
          <a:noFill/>
        </p:spPr>
        <p:txBody>
          <a:bodyPr wrap="square" lIns="0" rIns="0" tIns="0" bIns="0" anchor="t">
            <a:noAutofit/>
          </a:bodyPr>
          <a:lstStyle/>
          <a:p>
            <a:pPr algn="l">
              <a:lnSpc>
                <a:spcPct val="105000"/>
              </a:lnSpc>
              <a:spcAft>
                <a:spcPts val="0"/>
              </a:spcAft>
            </a:pPr>
            <a:r>
              <a:rPr sz="1400" b="0">
                <a:solidFill>
                  <a:srgbClr val="D2D2D2"/>
                </a:solidFill>
                <a:latin typeface="Calibri"/>
              </a:rPr>
              <a:t>The papers closest to ours in purpose, Hermoza et al. 2020 and XProtoNet 2021, made the same four choices: DenseNet-121, ImageNet weights, 512 px and the official split.</a:t>
            </a:r>
            <a:endParaRPr sz="1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RESULTS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Where 0.816 sits among published results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15</a:t>
            </a:r>
            <a:endParaRPr sz="1000"/>
          </a:p>
        </p:txBody>
      </p:sp>
      <p:graphicFrame>
        <p:nvGraphicFramePr>
          <p:cNvPr id="6" name="Table 5"/>
          <p:cNvGraphicFramePr>
            <a:graphicFrameLocks noGrp="1"/>
          </p:cNvGraphicFramePr>
          <p:nvPr/>
        </p:nvGraphicFramePr>
        <p:xfrm>
          <a:off x="548640" y="1463040"/>
          <a:ext cx="7818120" cy="4381802"/>
        </p:xfrm>
        <a:graphic>
          <a:graphicData uri="http://schemas.openxmlformats.org/drawingml/2006/table">
            <a:tbl>
              <a:tblPr firstRow="0" bandRow="0">
                <a:tableStyleId>{2D5ABB26-0587-4C30-8999-92F81FD0307C}</a:tableStyleId>
              </a:tblPr>
              <a:tblGrid>
                <a:gridCol w="3017520"/>
                <a:gridCol w="3611880"/>
                <a:gridCol w="1188720"/>
              </a:tblGrid>
              <a:tr h="310896">
                <a:tc>
                  <a:txBody>
                    <a:bodyPr wrap="square"/>
                    <a:lstStyle/>
                    <a:p>
                      <a:pPr algn="l">
                        <a:lnSpc>
                          <a:spcPct val="105000"/>
                        </a:lnSpc>
                        <a:spcAft>
                          <a:spcPts val="0"/>
                        </a:spcAft>
                      </a:pPr>
                      <a:r>
                        <a:rPr sz="1100" b="0">
                          <a:solidFill>
                            <a:srgbClr val="8F8F8F"/>
                          </a:solidFill>
                          <a:latin typeface="Calibri"/>
                        </a:rPr>
                        <a:t>work</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100" b="0">
                          <a:solidFill>
                            <a:srgbClr val="8F8F8F"/>
                          </a:solidFill>
                          <a:latin typeface="Calibri"/>
                        </a:rPr>
                        <a:t>network and input</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mean AUROC</a:t>
                      </a:r>
                      <a:endParaRPr sz="1100"/>
                    </a:p>
                  </a:txBody>
                  <a:tcPr marL="73152" marR="73152" marT="27432" marB="27432" anchor="ctr">
                    <a:lnL w="0">
                      <a:noFill/>
                    </a:lnL>
                    <a:lnR w="0">
                      <a:noFill/>
                    </a:lnR>
                    <a:lnT w="0">
                      <a:noFill/>
                    </a:lnT>
                    <a:lnB w="12700">
                      <a:solidFill>
                        <a:srgbClr val="5C5C5C"/>
                      </a:solidFill>
                    </a:lnB>
                    <a:noFill/>
                  </a:tcPr>
                </a:tc>
              </a:tr>
              <a:tr h="290779">
                <a:tc>
                  <a:txBody>
                    <a:bodyPr wrap="square"/>
                    <a:lstStyle/>
                    <a:p>
                      <a:pPr algn="l">
                        <a:lnSpc>
                          <a:spcPct val="105000"/>
                        </a:lnSpc>
                        <a:spcAft>
                          <a:spcPts val="0"/>
                        </a:spcAft>
                      </a:pPr>
                      <a:r>
                        <a:rPr sz="1300" b="0">
                          <a:solidFill>
                            <a:srgbClr val="FFFFFF"/>
                          </a:solidFill>
                          <a:latin typeface="Calibri"/>
                        </a:rPr>
                        <a:t>Wang et al. 2017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ResNet-50, 1024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0.745</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0">
                          <a:solidFill>
                            <a:srgbClr val="FFFFFF"/>
                          </a:solidFill>
                          <a:latin typeface="Calibri"/>
                        </a:rPr>
                        <a:t>Yao et al. 2018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ResNet + DenseNet, 512 px, no pretraining</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0.761</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1">
                          <a:solidFill>
                            <a:srgbClr val="F2994A"/>
                          </a:solidFill>
                          <a:latin typeface="Calibri"/>
                        </a:rPr>
                        <a:t>This project, 1 run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1">
                          <a:solidFill>
                            <a:srgbClr val="F2994A"/>
                          </a:solidFill>
                          <a:latin typeface="Calibri"/>
                        </a:rPr>
                        <a:t>DenseNet-121,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0.802</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0">
                          <a:solidFill>
                            <a:srgbClr val="FFFFFF"/>
                          </a:solidFill>
                          <a:latin typeface="Calibri"/>
                        </a:rPr>
                        <a:t>Baltruschat et al. 2019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ResNet-38, 448 px + metadata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0.806</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0">
                          <a:solidFill>
                            <a:srgbClr val="FFFFFF"/>
                          </a:solidFill>
                          <a:latin typeface="Calibri"/>
                        </a:rPr>
                        <a:t>Guendel et al. 2018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DenseNet-121, 1024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0.807</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0">
                          <a:solidFill>
                            <a:srgbClr val="FFFFFF"/>
                          </a:solidFill>
                          <a:latin typeface="Calibri"/>
                        </a:rPr>
                        <a:t>Taslimi et al. 2022, SwinCheX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Swin-L,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0.810</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0">
                          <a:solidFill>
                            <a:srgbClr val="FFFFFF"/>
                          </a:solidFill>
                          <a:latin typeface="Calibri"/>
                        </a:rPr>
                        <a:t>Guan and Huang 2020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DenseNet-121 with category-wise attention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0.816</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0">
                          <a:solidFill>
                            <a:srgbClr val="FFFFFF"/>
                          </a:solidFill>
                          <a:latin typeface="Calibri"/>
                        </a:rPr>
                        <a:t>Ma et al. 2019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two DenseNet-121s with cross-attention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0.817</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1">
                          <a:solidFill>
                            <a:srgbClr val="F2994A"/>
                          </a:solidFill>
                          <a:latin typeface="Calibri"/>
                        </a:rPr>
                        <a:t>This project, 3 runs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1">
                          <a:solidFill>
                            <a:srgbClr val="F2994A"/>
                          </a:solidFill>
                          <a:latin typeface="Calibri"/>
                        </a:rPr>
                        <a:t>DenseNet-121, 512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0.816 to 0.819</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0">
                          <a:solidFill>
                            <a:srgbClr val="FFFFFF"/>
                          </a:solidFill>
                          <a:latin typeface="Calibri"/>
                        </a:rPr>
                        <a:t>Goel et al. 2024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DenseNet-121,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0.8202</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0">
                          <a:solidFill>
                            <a:srgbClr val="FFFFFF"/>
                          </a:solidFill>
                          <a:latin typeface="Calibri"/>
                        </a:rPr>
                        <a:t>Hermoza et al. 2020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DenseNet-121, 512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0.821</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0">
                          <a:solidFill>
                            <a:srgbClr val="FFFFFF"/>
                          </a:solidFill>
                          <a:latin typeface="Calibri"/>
                        </a:rPr>
                        <a:t>Kim et al. 2021, XProtoNet</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DenseNet-121, 512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0.822</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0">
                          <a:solidFill>
                            <a:srgbClr val="FFFFFF"/>
                          </a:solidFill>
                          <a:latin typeface="Calibri"/>
                        </a:rPr>
                        <a:t>Goel et al. 2024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DenseNet-121 + low-rank features,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0.8235</a:t>
                      </a:r>
                      <a:endParaRPr sz="1300"/>
                    </a:p>
                  </a:txBody>
                  <a:tcPr marL="73152" marR="73152" marT="27432" marB="27432" anchor="ctr">
                    <a:lnL w="0">
                      <a:noFill/>
                    </a:lnL>
                    <a:lnR w="0">
                      <a:noFill/>
                    </a:lnR>
                    <a:lnT w="0">
                      <a:noFill/>
                    </a:lnT>
                    <a:lnB w="9525">
                      <a:solidFill>
                        <a:srgbClr val="2E2E2E"/>
                      </a:solidFill>
                    </a:lnB>
                    <a:noFill/>
                  </a:tcPr>
                </a:tc>
              </a:tr>
              <a:tr h="290779">
                <a:tc>
                  <a:txBody>
                    <a:bodyPr wrap="square"/>
                    <a:lstStyle/>
                    <a:p>
                      <a:pPr algn="l">
                        <a:lnSpc>
                          <a:spcPct val="105000"/>
                        </a:lnSpc>
                        <a:spcAft>
                          <a:spcPts val="0"/>
                        </a:spcAft>
                      </a:pPr>
                      <a:r>
                        <a:rPr sz="1300" b="0">
                          <a:solidFill>
                            <a:srgbClr val="FFFFFF"/>
                          </a:solidFill>
                          <a:latin typeface="Calibri"/>
                        </a:rPr>
                        <a:t>Xiao et al. 2023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ViT-B, MAE on 0.5M X-rays,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0.830</a:t>
                      </a:r>
                      <a:endParaRPr sz="13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8778240" y="1554480"/>
            <a:ext cx="2864815" cy="4389120"/>
          </a:xfrm>
          <a:prstGeom prst="rect">
            <a:avLst/>
          </a:prstGeom>
          <a:noFill/>
        </p:spPr>
        <p:txBody>
          <a:bodyPr wrap="square" lIns="0" rIns="0" tIns="0" bIns="0" anchor="t">
            <a:noAutofit/>
          </a:bodyPr>
          <a:lstStyle/>
          <a:p>
            <a:pPr algn="l">
              <a:lnSpc>
                <a:spcPct val="108000"/>
              </a:lnSpc>
              <a:spcAft>
                <a:spcPts val="1400"/>
              </a:spcAft>
            </a:pPr>
            <a:r>
              <a:rPr sz="1500" b="0">
                <a:solidFill>
                  <a:srgbClr val="D2D2D2"/>
                </a:solidFill>
                <a:latin typeface="Calibri"/>
              </a:rPr>
              <a:t>DenseNet-121 results on this split run from 0.807 to 0.822. Ours sit inside that range, a little below its top.</a:t>
            </a:r>
            <a:endParaRPr sz="1500"/>
          </a:p>
          <a:p>
            <a:pPr algn="l">
              <a:lnSpc>
                <a:spcPct val="108000"/>
              </a:lnSpc>
              <a:spcAft>
                <a:spcPts val="1400"/>
              </a:spcAft>
            </a:pPr>
            <a:r>
              <a:rPr sz="1500" b="0">
                <a:solidFill>
                  <a:srgbClr val="D2D2D2"/>
                </a:solidFill>
                <a:latin typeface="Calibri"/>
              </a:rPr>
              <a:t>The same recipe at 224 px scores 0.802, clearly below all three 512 px runs, so the larger input helps accuracy as well as the maps.</a:t>
            </a:r>
            <a:endParaRPr sz="1500"/>
          </a:p>
          <a:p>
            <a:pPr algn="l">
              <a:lnSpc>
                <a:spcPct val="108000"/>
              </a:lnSpc>
              <a:spcAft>
                <a:spcPts val="1400"/>
              </a:spcAft>
            </a:pPr>
            <a:r>
              <a:rPr sz="1500" b="0">
                <a:solidFill>
                  <a:srgbClr val="D2D2D2"/>
                </a:solidFill>
                <a:latin typeface="Calibri"/>
              </a:rPr>
              <a:t>Goel et al. get 0.820 from DenseNet-121 at 224 px, so the rest of the gap is in our training recipe.</a:t>
            </a:r>
            <a:endParaRPr sz="1500"/>
          </a:p>
          <a:p>
            <a:pPr algn="l">
              <a:lnSpc>
                <a:spcPct val="108000"/>
              </a:lnSpc>
              <a:spcAft>
                <a:spcPts val="1400"/>
              </a:spcAft>
            </a:pPr>
            <a:r>
              <a:rPr sz="1500" b="0">
                <a:solidFill>
                  <a:srgbClr val="D2D2D2"/>
                </a:solidFill>
                <a:latin typeface="Calibri"/>
              </a:rPr>
              <a:t>Transformers pretrained on half a million chest X-rays reach 0.830.</a:t>
            </a:r>
            <a:endParaRPr sz="1500"/>
          </a:p>
          <a:p>
            <a:pPr algn="l">
              <a:lnSpc>
                <a:spcPct val="108000"/>
              </a:lnSpc>
              <a:spcAft>
                <a:spcPts val="0"/>
              </a:spcAft>
            </a:pPr>
            <a:r>
              <a:rPr sz="1500" b="0">
                <a:solidFill>
                  <a:srgbClr val="8F8F8F"/>
                </a:solidFill>
                <a:latin typeface="Calibri"/>
              </a:rPr>
              <a:t>CheXNet's 0.841 used its own random split, so it isn't in this table.</a:t>
            </a:r>
            <a:endParaRPr sz="1500"/>
          </a:p>
        </p:txBody>
      </p:sp>
      <p:sp>
        <p:nvSpPr>
          <p:cNvPr id="8" name="TextBox 7"/>
          <p:cNvSpPr txBox="1"/>
          <p:nvPr/>
        </p:nvSpPr>
        <p:spPr>
          <a:xfrm>
            <a:off x="548640" y="5989320"/>
            <a:ext cx="7818120" cy="274320"/>
          </a:xfrm>
          <a:prstGeom prst="rect">
            <a:avLst/>
          </a:prstGeom>
          <a:noFill/>
        </p:spPr>
        <p:txBody>
          <a:bodyPr wrap="square" lIns="0" rIns="0" tIns="0" bIns="0" anchor="t">
            <a:noAutofit/>
          </a:bodyPr>
          <a:lstStyle/>
          <a:p>
            <a:pPr algn="l">
              <a:lnSpc>
                <a:spcPct val="105000"/>
              </a:lnSpc>
              <a:spcAft>
                <a:spcPts val="0"/>
              </a:spcAft>
            </a:pPr>
            <a:r>
              <a:rPr sz="1100" b="0">
                <a:solidFill>
                  <a:srgbClr val="8F8F8F"/>
                </a:solidFill>
                <a:latin typeface="Calibri"/>
              </a:rPr>
              <a:t>Mean AUROC over 14 findings on NIH's official test split.</a:t>
            </a:r>
            <a:endParaRPr sz="11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RESULTS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Finding by finding, against the strongest papers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16</a:t>
            </a:r>
            <a:endParaRPr sz="1000"/>
          </a:p>
        </p:txBody>
      </p:sp>
      <p:graphicFrame>
        <p:nvGraphicFramePr>
          <p:cNvPr id="6" name="Table 5"/>
          <p:cNvGraphicFramePr>
            <a:graphicFrameLocks noGrp="1"/>
          </p:cNvGraphicFramePr>
          <p:nvPr/>
        </p:nvGraphicFramePr>
        <p:xfrm>
          <a:off x="548640" y="1481328"/>
          <a:ext cx="7726680" cy="4443984"/>
        </p:xfrm>
        <a:graphic>
          <a:graphicData uri="http://schemas.openxmlformats.org/drawingml/2006/table">
            <a:tbl>
              <a:tblPr firstRow="0" bandRow="0">
                <a:tableStyleId>{2D5ABB26-0587-4C30-8999-92F81FD0307C}</a:tableStyleId>
              </a:tblPr>
              <a:tblGrid>
                <a:gridCol w="2148840"/>
                <a:gridCol w="1325880"/>
                <a:gridCol w="1463040"/>
                <a:gridCol w="1463040"/>
                <a:gridCol w="1325880"/>
              </a:tblGrid>
              <a:tr h="329184">
                <a:tc>
                  <a:txBody>
                    <a:bodyPr wrap="square"/>
                    <a:lstStyle/>
                    <a:p>
                      <a:pPr algn="l">
                        <a:lnSpc>
                          <a:spcPct val="105000"/>
                        </a:lnSpc>
                        <a:spcAft>
                          <a:spcPts val="0"/>
                        </a:spcAft>
                      </a:pPr>
                      <a:r>
                        <a:rPr sz="1100" b="0">
                          <a:solidFill>
                            <a:srgbClr val="8F8F8F"/>
                          </a:solidFill>
                          <a:latin typeface="Calibri"/>
                        </a:rPr>
                        <a:t>finding</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Wang 2017</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Hermoza 2020</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XProtoNet 2021</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ours, 3 runs</a:t>
                      </a:r>
                      <a:endParaRPr sz="1100"/>
                    </a:p>
                  </a:txBody>
                  <a:tcPr marL="73152" marR="73152" marT="27432" marB="27432" anchor="ctr">
                    <a:lnL w="0">
                      <a:noFill/>
                    </a:lnL>
                    <a:lnR w="0">
                      <a:noFill/>
                    </a:lnR>
                    <a:lnT w="0">
                      <a:noFill/>
                    </a:lnT>
                    <a:lnB w="12700">
                      <a:solidFill>
                        <a:srgbClr val="5C5C5C"/>
                      </a:solidFill>
                    </a:lnB>
                    <a:noFill/>
                  </a:tcPr>
                </a:tc>
              </a:tr>
              <a:tr h="274320">
                <a:tc>
                  <a:txBody>
                    <a:bodyPr wrap="square"/>
                    <a:lstStyle/>
                    <a:p>
                      <a:pPr algn="l">
                        <a:lnSpc>
                          <a:spcPct val="105000"/>
                        </a:lnSpc>
                        <a:spcAft>
                          <a:spcPts val="0"/>
                        </a:spcAft>
                      </a:pPr>
                      <a:r>
                        <a:rPr sz="1300" b="0">
                          <a:solidFill>
                            <a:srgbClr val="FFFFFF"/>
                          </a:solidFill>
                          <a:latin typeface="Calibri"/>
                        </a:rPr>
                        <a:t>Atelectasis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0.700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0.775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0.780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0.775</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Cardiomegaly</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0.810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0.881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0.887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0.879</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Effusion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0.759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0.831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0.835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0.832</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Infiltration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0.661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0.695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0.710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0.701</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Mass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0.693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0.826</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0.831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0.817</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Nodule</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0.669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0.789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0.804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0.775</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Pneumonia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0.658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0.741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0.734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0.717</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Pneumothorax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0.799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0.879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0.871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0.878</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Consolidation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0.703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0.747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0.747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0.745</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Edema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0.805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0.846</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0.840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0.852</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Emphysema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0.833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0.936</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0.941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0.935</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Fibrosis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0.786</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0.833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0.815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0.839</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Pleural thickening</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0.684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0.793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0.799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0.790</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Hernia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0.872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0.917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0.909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0.903</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1">
                          <a:solidFill>
                            <a:srgbClr val="FFFFFF"/>
                          </a:solidFill>
                          <a:latin typeface="Calibri"/>
                        </a:rPr>
                        <a:t>mean of 14</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0.745</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0.821</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0.822</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0.817</a:t>
                      </a:r>
                      <a:endParaRPr sz="1300"/>
                    </a:p>
                  </a:txBody>
                  <a:tcPr marL="73152" marR="73152" marT="27432" marB="27432" anchor="ctr">
                    <a:lnL w="0">
                      <a:noFill/>
                    </a:lnL>
                    <a:lnR w="0">
                      <a:noFill/>
                    </a:lnR>
                    <a:lnT w="12700">
                      <a:solidFill>
                        <a:srgbClr val="5C5C5C"/>
                      </a:solidFill>
                    </a:lnT>
                    <a:lnB w="9525">
                      <a:solidFill>
                        <a:srgbClr val="2E2E2E"/>
                      </a:solidFill>
                    </a:lnB>
                    <a:noFill/>
                  </a:tcPr>
                </a:tc>
              </a:tr>
            </a:tbl>
          </a:graphicData>
        </a:graphic>
      </p:graphicFrame>
      <p:sp>
        <p:nvSpPr>
          <p:cNvPr id="7" name="TextBox 6"/>
          <p:cNvSpPr txBox="1"/>
          <p:nvPr/>
        </p:nvSpPr>
        <p:spPr>
          <a:xfrm>
            <a:off x="8686799" y="1600200"/>
            <a:ext cx="2956255" cy="4206240"/>
          </a:xfrm>
          <a:prstGeom prst="rect">
            <a:avLst/>
          </a:prstGeom>
          <a:noFill/>
        </p:spPr>
        <p:txBody>
          <a:bodyPr wrap="square" lIns="0" rIns="0" tIns="0" bIns="0" anchor="t">
            <a:noAutofit/>
          </a:bodyPr>
          <a:lstStyle/>
          <a:p>
            <a:pPr algn="l">
              <a:lnSpc>
                <a:spcPct val="108000"/>
              </a:lnSpc>
              <a:spcAft>
                <a:spcPts val="1400"/>
              </a:spcAft>
            </a:pPr>
            <a:r>
              <a:rPr sz="1500" b="0">
                <a:solidFill>
                  <a:srgbClr val="D2D2D2"/>
                </a:solidFill>
                <a:latin typeface="Calibri"/>
              </a:rPr>
              <a:t>Ours beats Wang et al.'s original baseline on 14 of 14 findings.</a:t>
            </a:r>
            <a:endParaRPr sz="1500"/>
          </a:p>
          <a:p>
            <a:pPr algn="l">
              <a:lnSpc>
                <a:spcPct val="108000"/>
              </a:lnSpc>
              <a:spcAft>
                <a:spcPts val="1400"/>
              </a:spcAft>
            </a:pPr>
            <a:r>
              <a:rPr sz="1500" b="0">
                <a:solidFill>
                  <a:srgbClr val="D2D2D2"/>
                </a:solidFill>
                <a:latin typeface="Calibri"/>
              </a:rPr>
              <a:t>Ours is the best of the four on edema and fibrosis.</a:t>
            </a:r>
            <a:endParaRPr sz="1500"/>
          </a:p>
          <a:p>
            <a:pPr algn="l">
              <a:lnSpc>
                <a:spcPct val="108000"/>
              </a:lnSpc>
              <a:spcAft>
                <a:spcPts val="0"/>
              </a:spcAft>
            </a:pPr>
            <a:r>
              <a:rPr sz="1500" b="0">
                <a:solidFill>
                  <a:srgbClr val="D2D2D2"/>
                </a:solidFill>
                <a:latin typeface="Calibri"/>
              </a:rPr>
              <a:t>The widest gaps to the best paper are nodule (0.775 against 0.804) and pneumonia (0.717 against 0.741).</a:t>
            </a:r>
            <a:endParaRPr sz="1500"/>
          </a:p>
        </p:txBody>
      </p:sp>
      <p:sp>
        <p:nvSpPr>
          <p:cNvPr id="8" name="TextBox 7"/>
          <p:cNvSpPr txBox="1"/>
          <p:nvPr/>
        </p:nvSpPr>
        <p:spPr>
          <a:xfrm>
            <a:off x="548640" y="6035040"/>
            <a:ext cx="7772400" cy="274320"/>
          </a:xfrm>
          <a:prstGeom prst="rect">
            <a:avLst/>
          </a:prstGeom>
          <a:noFill/>
        </p:spPr>
        <p:txBody>
          <a:bodyPr wrap="square" lIns="0" rIns="0" tIns="0" bIns="0" anchor="t">
            <a:noAutofit/>
          </a:bodyPr>
          <a:lstStyle/>
          <a:p>
            <a:pPr algn="l">
              <a:lnSpc>
                <a:spcPct val="105000"/>
              </a:lnSpc>
              <a:spcAft>
                <a:spcPts val="0"/>
              </a:spcAft>
            </a:pPr>
            <a:r>
              <a:rPr sz="1100" b="0">
                <a:solidFill>
                  <a:srgbClr val="8F8F8F"/>
                </a:solidFill>
                <a:latin typeface="Calibri"/>
              </a:rPr>
              <a:t>AUROC per finding, NIH's official test split. Published values as printed in Kim et al. 2021, Table 1.</a:t>
            </a:r>
            <a:endParaRPr sz="11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RESULTS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AUROC flatters the rare findings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17</a:t>
            </a:r>
            <a:endParaRPr sz="1000"/>
          </a:p>
        </p:txBody>
      </p:sp>
      <p:graphicFrame>
        <p:nvGraphicFramePr>
          <p:cNvPr id="6" name="Table 5"/>
          <p:cNvGraphicFramePr>
            <a:graphicFrameLocks noGrp="1"/>
          </p:cNvGraphicFramePr>
          <p:nvPr/>
        </p:nvGraphicFramePr>
        <p:xfrm>
          <a:off x="548640" y="1508760"/>
          <a:ext cx="6126480" cy="4594860"/>
        </p:xfrm>
        <a:graphic>
          <a:graphicData uri="http://schemas.openxmlformats.org/drawingml/2006/table">
            <a:tbl>
              <a:tblPr firstRow="0" bandRow="0">
                <a:tableStyleId>{2D5ABB26-0587-4C30-8999-92F81FD0307C}</a:tableStyleId>
              </a:tblPr>
              <a:tblGrid>
                <a:gridCol w="2240280"/>
                <a:gridCol w="1508760"/>
                <a:gridCol w="1188720"/>
                <a:gridCol w="1188720"/>
              </a:tblGrid>
              <a:tr h="411480">
                <a:tc>
                  <a:txBody>
                    <a:bodyPr wrap="square"/>
                    <a:lstStyle/>
                    <a:p>
                      <a:pPr algn="l">
                        <a:lnSpc>
                          <a:spcPct val="105000"/>
                        </a:lnSpc>
                        <a:spcAft>
                          <a:spcPts val="0"/>
                        </a:spcAft>
                      </a:pPr>
                      <a:r>
                        <a:rPr sz="1200" b="0">
                          <a:solidFill>
                            <a:srgbClr val="8F8F8F"/>
                          </a:solidFill>
                          <a:latin typeface="Calibri"/>
                        </a:rPr>
                        <a:t>finding</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share of test</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AUROC</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AUPRC</a:t>
                      </a:r>
                      <a:endParaRPr sz="1200"/>
                    </a:p>
                  </a:txBody>
                  <a:tcPr marL="73152" marR="73152" marT="27432" marB="27432" anchor="ctr">
                    <a:lnL w="0">
                      <a:noFill/>
                    </a:lnL>
                    <a:lnR w="0">
                      <a:noFill/>
                    </a:lnR>
                    <a:lnT w="0">
                      <a:noFill/>
                    </a:lnT>
                    <a:lnB w="12700">
                      <a:solidFill>
                        <a:srgbClr val="5C5C5C"/>
                      </a:solidFill>
                    </a:lnB>
                    <a:noFill/>
                  </a:tcPr>
                </a:tc>
              </a:tr>
              <a:tr h="278892">
                <a:tc>
                  <a:txBody>
                    <a:bodyPr wrap="square"/>
                    <a:lstStyle/>
                    <a:p>
                      <a:pPr algn="l">
                        <a:lnSpc>
                          <a:spcPct val="105000"/>
                        </a:lnSpc>
                        <a:spcAft>
                          <a:spcPts val="0"/>
                        </a:spcAft>
                      </a:pPr>
                      <a:r>
                        <a:rPr sz="1300" b="0">
                          <a:solidFill>
                            <a:srgbClr val="FFFFFF"/>
                          </a:solidFill>
                          <a:latin typeface="Calibri"/>
                        </a:rPr>
                        <a:t>Infiltration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23.9%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0.699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0.393</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Effusion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18.2%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0.830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0.511</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Atelectasis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12.8%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0.772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0.341</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Pneumothorax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10.4%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0.873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0.424</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Consolidation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7.1%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0.741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0.160</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Mass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6.8%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0.811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0.299</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Nodule</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6.3%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0.777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0.225</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Pleural thickening</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4.5%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0.791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0.150</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Emphysema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4.3%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0.937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0.451</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Cardiomegaly</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4.2%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0.880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0.329</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Edema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3.6%</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0.857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0.195</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1">
                          <a:solidFill>
                            <a:srgbClr val="F2994A"/>
                          </a:solidFill>
                          <a:latin typeface="Calibri"/>
                        </a:rPr>
                        <a:t>Pneumonia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2.2%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0.711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0.048</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Fibrosis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1.7%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0.841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0.113</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Hernia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0.900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0.389</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1">
                          <a:solidFill>
                            <a:srgbClr val="FFFFFF"/>
                          </a:solidFill>
                          <a:latin typeface="Calibri"/>
                        </a:rPr>
                        <a:t>mean of 14</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0.816</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0.288</a:t>
                      </a:r>
                      <a:endParaRPr sz="1300"/>
                    </a:p>
                  </a:txBody>
                  <a:tcPr marL="73152" marR="73152" marT="27432" marB="27432" anchor="ctr">
                    <a:lnL w="0">
                      <a:noFill/>
                    </a:lnL>
                    <a:lnR w="0">
                      <a:noFill/>
                    </a:lnR>
                    <a:lnT w="12700">
                      <a:solidFill>
                        <a:srgbClr val="5C5C5C"/>
                      </a:solidFill>
                    </a:lnT>
                    <a:lnB w="9525">
                      <a:solidFill>
                        <a:srgbClr val="2E2E2E"/>
                      </a:solidFill>
                    </a:lnB>
                    <a:noFill/>
                  </a:tcPr>
                </a:tc>
              </a:tr>
            </a:tbl>
          </a:graphicData>
        </a:graphic>
      </p:graphicFrame>
      <p:sp>
        <p:nvSpPr>
          <p:cNvPr id="7" name="TextBox 6"/>
          <p:cNvSpPr txBox="1"/>
          <p:nvPr/>
        </p:nvSpPr>
        <p:spPr>
          <a:xfrm>
            <a:off x="7269480" y="1600200"/>
            <a:ext cx="4373575" cy="1051560"/>
          </a:xfrm>
          <a:prstGeom prst="rect">
            <a:avLst/>
          </a:prstGeom>
          <a:noFill/>
        </p:spPr>
        <p:txBody>
          <a:bodyPr wrap="square" lIns="0" rIns="0" tIns="0" bIns="0" anchor="b">
            <a:noAutofit/>
          </a:bodyPr>
          <a:lstStyle/>
          <a:p>
            <a:pPr algn="l">
              <a:lnSpc>
                <a:spcPct val="90000"/>
              </a:lnSpc>
              <a:spcAft>
                <a:spcPts val="0"/>
              </a:spcAft>
            </a:pPr>
            <a:r>
              <a:rPr sz="7200" b="0">
                <a:solidFill>
                  <a:srgbClr val="F2994A"/>
                </a:solidFill>
                <a:latin typeface="Calibri Light"/>
              </a:rPr>
              <a:t>0.048</a:t>
            </a:r>
            <a:endParaRPr sz="7200"/>
          </a:p>
        </p:txBody>
      </p:sp>
      <p:sp>
        <p:nvSpPr>
          <p:cNvPr id="8" name="TextBox 7"/>
          <p:cNvSpPr txBox="1"/>
          <p:nvPr/>
        </p:nvSpPr>
        <p:spPr>
          <a:xfrm>
            <a:off x="7269480" y="2743200"/>
            <a:ext cx="4373575" cy="1097280"/>
          </a:xfrm>
          <a:prstGeom prst="rect">
            <a:avLst/>
          </a:prstGeom>
          <a:noFill/>
        </p:spPr>
        <p:txBody>
          <a:bodyPr wrap="square" lIns="0" rIns="0" tIns="0" bIns="0" anchor="t">
            <a:noAutofit/>
          </a:bodyPr>
          <a:lstStyle/>
          <a:p>
            <a:pPr algn="l">
              <a:lnSpc>
                <a:spcPct val="110000"/>
              </a:lnSpc>
              <a:spcAft>
                <a:spcPts val="0"/>
              </a:spcAft>
            </a:pPr>
            <a:r>
              <a:rPr sz="1700" b="0">
                <a:solidFill>
                  <a:srgbClr val="D2D2D2"/>
                </a:solidFill>
                <a:latin typeface="Calibri"/>
              </a:rPr>
              <a:t>AUPRC for pneumonia, against an AUROC of 0.711. At 2.2% prevalence the model is close to useless for it in practice.</a:t>
            </a:r>
            <a:endParaRPr sz="1700"/>
          </a:p>
        </p:txBody>
      </p:sp>
      <p:sp>
        <p:nvSpPr>
          <p:cNvPr id="9" name="TextBox 8"/>
          <p:cNvSpPr txBox="1"/>
          <p:nvPr/>
        </p:nvSpPr>
        <p:spPr>
          <a:xfrm>
            <a:off x="7269480" y="4069080"/>
            <a:ext cx="4373575" cy="1645920"/>
          </a:xfrm>
          <a:prstGeom prst="rect">
            <a:avLst/>
          </a:prstGeom>
          <a:noFill/>
        </p:spPr>
        <p:txBody>
          <a:bodyPr wrap="square" lIns="0" rIns="0" tIns="0" bIns="0" anchor="t">
            <a:noAutofit/>
          </a:bodyPr>
          <a:lstStyle/>
          <a:p>
            <a:pPr algn="l">
              <a:lnSpc>
                <a:spcPct val="110000"/>
              </a:lnSpc>
              <a:spcAft>
                <a:spcPts val="1200"/>
              </a:spcAft>
            </a:pPr>
            <a:r>
              <a:rPr sz="1600" b="0">
                <a:solidFill>
                  <a:srgbClr val="D2D2D2"/>
                </a:solidFill>
                <a:latin typeface="Calibri"/>
              </a:rPr>
              <a:t>A random guess scores AUROC 0.5 on every finding, but its AUPRC equals the prevalence. So 0.048 is only about twice chance.</a:t>
            </a:r>
            <a:endParaRPr sz="1600"/>
          </a:p>
          <a:p>
            <a:pPr algn="l">
              <a:lnSpc>
                <a:spcPct val="110000"/>
              </a:lnSpc>
              <a:spcAft>
                <a:spcPts val="0"/>
              </a:spcAft>
            </a:pPr>
            <a:r>
              <a:rPr sz="1600" b="0">
                <a:solidFill>
                  <a:srgbClr val="FFFFFF"/>
                </a:solidFill>
                <a:latin typeface="Calibri"/>
              </a:rPr>
              <a:t>A table with AUROC alone would hide this.</a:t>
            </a:r>
            <a:endParaRPr sz="16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EXPLANATIONS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Four ways to explain a prediction, plus a control</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18</a:t>
            </a:r>
            <a:endParaRPr sz="1000"/>
          </a:p>
        </p:txBody>
      </p:sp>
      <p:graphicFrame>
        <p:nvGraphicFramePr>
          <p:cNvPr id="6" name="Table 5"/>
          <p:cNvGraphicFramePr>
            <a:graphicFrameLocks noGrp="1"/>
          </p:cNvGraphicFramePr>
          <p:nvPr/>
        </p:nvGraphicFramePr>
        <p:xfrm>
          <a:off x="548640" y="1645920"/>
          <a:ext cx="11094415" cy="3657600"/>
        </p:xfrm>
        <a:graphic>
          <a:graphicData uri="http://schemas.openxmlformats.org/drawingml/2006/table">
            <a:tbl>
              <a:tblPr firstRow="0" bandRow="0">
                <a:tableStyleId>{2D5ABB26-0587-4C30-8999-92F81FD0307C}</a:tableStyleId>
              </a:tblPr>
              <a:tblGrid>
                <a:gridCol w="2331720"/>
                <a:gridCol w="8762695"/>
              </a:tblGrid>
              <a:tr h="731520">
                <a:tc>
                  <a:txBody>
                    <a:bodyPr wrap="square"/>
                    <a:lstStyle/>
                    <a:p>
                      <a:pPr algn="l">
                        <a:lnSpc>
                          <a:spcPct val="105000"/>
                        </a:lnSpc>
                        <a:spcAft>
                          <a:spcPts val="0"/>
                        </a:spcAft>
                      </a:pPr>
                      <a:r>
                        <a:rPr sz="1900" b="1">
                          <a:solidFill>
                            <a:srgbClr val="FFFFFF"/>
                          </a:solidFill>
                          <a:latin typeface="Calibri"/>
                        </a:rPr>
                        <a:t>CAM</a:t>
                      </a:r>
                      <a:endParaRPr sz="19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The model's own map. Exact for this network, and free to compute.</a:t>
                      </a:r>
                      <a:endParaRPr sz="16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900" b="1">
                          <a:solidFill>
                            <a:srgbClr val="FFFFFF"/>
                          </a:solidFill>
                          <a:latin typeface="Calibri"/>
                        </a:rPr>
                        <a:t>Grad-CAM</a:t>
                      </a:r>
                      <a:endParaRPr sz="19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Weights each of the 1024 feature maps by the average gradient of the score, then keeps the positive part. The usual choice in medical imaging papers.</a:t>
                      </a:r>
                      <a:endParaRPr sz="16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900" b="1">
                          <a:solidFill>
                            <a:srgbClr val="FFFFFF"/>
                          </a:solidFill>
                          <a:latin typeface="Calibri"/>
                        </a:rPr>
                        <a:t>Grad-CAM++</a:t>
                      </a:r>
                      <a:endParaRPr sz="19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Grad-CAM with a finer, per-location gradient weighting, meant for findings that show up in more than one place.</a:t>
                      </a:r>
                      <a:endParaRPr sz="16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900" b="1">
                          <a:solidFill>
                            <a:srgbClr val="FFFFFF"/>
                          </a:solidFill>
                          <a:latin typeface="Calibri"/>
                        </a:rPr>
                        <a:t>EigenCAM</a:t>
                      </a:r>
                      <a:endParaRPr sz="19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The first principal component of the last layer's activations. Uses no gradients and ignores which finding you ask about.</a:t>
                      </a:r>
                      <a:endParaRPr sz="16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900" b="1">
                          <a:solidFill>
                            <a:srgbClr val="8F8F8F"/>
                          </a:solidFill>
                          <a:latin typeface="Calibri"/>
                        </a:rPr>
                        <a:t>Random map</a:t>
                      </a:r>
                      <a:endParaRPr sz="19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8F8F8F"/>
                          </a:solidFill>
                          <a:latin typeface="Calibri"/>
                        </a:rPr>
                        <a:t>The control. Any score a random map also earns proves nothing.</a:t>
                      </a:r>
                      <a:endParaRPr sz="16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548640" y="5669280"/>
            <a:ext cx="11094415" cy="5486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All five give a 16 × 16 map, stretched to the size of the image. Score-CAM, Integrated Gradients and occlusion are written and unit-tested, but not scored yet.</a:t>
            </a:r>
            <a:endParaRPr sz="13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EXPLANATIONS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Three questions for every explanation</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19</a:t>
            </a:r>
            <a:endParaRPr sz="1000"/>
          </a:p>
        </p:txBody>
      </p:sp>
      <p:sp>
        <p:nvSpPr>
          <p:cNvPr id="6" name="TextBox 5"/>
          <p:cNvSpPr txBox="1"/>
          <p:nvPr/>
        </p:nvSpPr>
        <p:spPr>
          <a:xfrm>
            <a:off x="548640" y="1554480"/>
            <a:ext cx="1097280" cy="868680"/>
          </a:xfrm>
          <a:prstGeom prst="rect">
            <a:avLst/>
          </a:prstGeom>
          <a:noFill/>
        </p:spPr>
        <p:txBody>
          <a:bodyPr wrap="square" lIns="0" rIns="0" tIns="0" bIns="0" anchor="b">
            <a:noAutofit/>
          </a:bodyPr>
          <a:lstStyle/>
          <a:p>
            <a:pPr algn="l">
              <a:lnSpc>
                <a:spcPct val="105000"/>
              </a:lnSpc>
              <a:spcAft>
                <a:spcPts val="0"/>
              </a:spcAft>
            </a:pPr>
            <a:r>
              <a:rPr sz="5600" b="0">
                <a:solidFill>
                  <a:srgbClr val="F2994A"/>
                </a:solidFill>
                <a:latin typeface="Calibri Light"/>
              </a:rPr>
              <a:t>1</a:t>
            </a:r>
            <a:endParaRPr sz="5600"/>
          </a:p>
        </p:txBody>
      </p:sp>
      <p:sp>
        <p:nvSpPr>
          <p:cNvPr id="7" name="TextBox 6"/>
          <p:cNvSpPr txBox="1"/>
          <p:nvPr/>
        </p:nvSpPr>
        <p:spPr>
          <a:xfrm>
            <a:off x="548640" y="2560320"/>
            <a:ext cx="3350666" cy="822960"/>
          </a:xfrm>
          <a:prstGeom prst="rect">
            <a:avLst/>
          </a:prstGeom>
          <a:noFill/>
        </p:spPr>
        <p:txBody>
          <a:bodyPr wrap="square" lIns="0" rIns="0" tIns="0" bIns="0" anchor="t">
            <a:noAutofit/>
          </a:bodyPr>
          <a:lstStyle/>
          <a:p>
            <a:pPr algn="l">
              <a:lnSpc>
                <a:spcPct val="100000"/>
              </a:lnSpc>
              <a:spcAft>
                <a:spcPts val="0"/>
              </a:spcAft>
            </a:pPr>
            <a:r>
              <a:rPr sz="2000" b="1">
                <a:solidFill>
                  <a:srgbClr val="FFFFFF"/>
                </a:solidFill>
                <a:latin typeface="Calibri"/>
              </a:rPr>
              <a:t>Does it point where the radiologist did?</a:t>
            </a:r>
            <a:endParaRPr sz="2000"/>
          </a:p>
        </p:txBody>
      </p:sp>
      <p:sp>
        <p:nvSpPr>
          <p:cNvPr id="8" name="TextBox 7"/>
          <p:cNvSpPr txBox="1"/>
          <p:nvPr/>
        </p:nvSpPr>
        <p:spPr>
          <a:xfrm>
            <a:off x="548640" y="3383280"/>
            <a:ext cx="3350666" cy="1737360"/>
          </a:xfrm>
          <a:prstGeom prst="rect">
            <a:avLst/>
          </a:prstGeom>
          <a:noFill/>
        </p:spPr>
        <p:txBody>
          <a:bodyPr wrap="square" lIns="0" rIns="0" tIns="0" bIns="0" anchor="t">
            <a:noAutofit/>
          </a:bodyPr>
          <a:lstStyle/>
          <a:p>
            <a:pPr algn="l">
              <a:lnSpc>
                <a:spcPct val="110000"/>
              </a:lnSpc>
              <a:spcAft>
                <a:spcPts val="0"/>
              </a:spcAft>
            </a:pPr>
            <a:r>
              <a:rPr sz="1500" b="0">
                <a:solidFill>
                  <a:srgbClr val="D2D2D2"/>
                </a:solidFill>
                <a:latin typeface="Calibri"/>
              </a:rPr>
              <a:t>Pointing game: is the hottest point inside the box? Also the overlap (IoU) and Wang et al.'s T(IoBB). 984 boxes, all on test images.</a:t>
            </a:r>
            <a:endParaRPr sz="1500"/>
          </a:p>
        </p:txBody>
      </p:sp>
      <p:sp>
        <p:nvSpPr>
          <p:cNvPr id="9" name="TextBox 8"/>
          <p:cNvSpPr txBox="1"/>
          <p:nvPr/>
        </p:nvSpPr>
        <p:spPr>
          <a:xfrm>
            <a:off x="4374794" y="1554480"/>
            <a:ext cx="1097280" cy="868680"/>
          </a:xfrm>
          <a:prstGeom prst="rect">
            <a:avLst/>
          </a:prstGeom>
          <a:noFill/>
        </p:spPr>
        <p:txBody>
          <a:bodyPr wrap="square" lIns="0" rIns="0" tIns="0" bIns="0" anchor="b">
            <a:noAutofit/>
          </a:bodyPr>
          <a:lstStyle/>
          <a:p>
            <a:pPr algn="l">
              <a:lnSpc>
                <a:spcPct val="105000"/>
              </a:lnSpc>
              <a:spcAft>
                <a:spcPts val="0"/>
              </a:spcAft>
            </a:pPr>
            <a:r>
              <a:rPr sz="5600" b="0">
                <a:solidFill>
                  <a:srgbClr val="F2994A"/>
                </a:solidFill>
                <a:latin typeface="Calibri Light"/>
              </a:rPr>
              <a:t>2</a:t>
            </a:r>
            <a:endParaRPr sz="5600"/>
          </a:p>
        </p:txBody>
      </p:sp>
      <p:sp>
        <p:nvSpPr>
          <p:cNvPr id="10" name="TextBox 9"/>
          <p:cNvSpPr txBox="1"/>
          <p:nvPr/>
        </p:nvSpPr>
        <p:spPr>
          <a:xfrm>
            <a:off x="4374794" y="2560320"/>
            <a:ext cx="3350666" cy="822960"/>
          </a:xfrm>
          <a:prstGeom prst="rect">
            <a:avLst/>
          </a:prstGeom>
          <a:noFill/>
        </p:spPr>
        <p:txBody>
          <a:bodyPr wrap="square" lIns="0" rIns="0" tIns="0" bIns="0" anchor="t">
            <a:noAutofit/>
          </a:bodyPr>
          <a:lstStyle/>
          <a:p>
            <a:pPr algn="l">
              <a:lnSpc>
                <a:spcPct val="100000"/>
              </a:lnSpc>
              <a:spcAft>
                <a:spcPts val="0"/>
              </a:spcAft>
            </a:pPr>
            <a:r>
              <a:rPr sz="2000" b="1">
                <a:solidFill>
                  <a:srgbClr val="FFFFFF"/>
                </a:solidFill>
                <a:latin typeface="Calibri"/>
              </a:rPr>
              <a:t>Is it faithful to the model?</a:t>
            </a:r>
            <a:endParaRPr sz="2000"/>
          </a:p>
        </p:txBody>
      </p:sp>
      <p:sp>
        <p:nvSpPr>
          <p:cNvPr id="11" name="TextBox 10"/>
          <p:cNvSpPr txBox="1"/>
          <p:nvPr/>
        </p:nvSpPr>
        <p:spPr>
          <a:xfrm>
            <a:off x="4374794" y="3383280"/>
            <a:ext cx="3350666" cy="1737360"/>
          </a:xfrm>
          <a:prstGeom prst="rect">
            <a:avLst/>
          </a:prstGeom>
          <a:noFill/>
        </p:spPr>
        <p:txBody>
          <a:bodyPr wrap="square" lIns="0" rIns="0" tIns="0" bIns="0" anchor="t">
            <a:noAutofit/>
          </a:bodyPr>
          <a:lstStyle/>
          <a:p>
            <a:pPr algn="l">
              <a:lnSpc>
                <a:spcPct val="110000"/>
              </a:lnSpc>
              <a:spcAft>
                <a:spcPts val="0"/>
              </a:spcAft>
            </a:pPr>
            <a:r>
              <a:rPr sz="1500" b="0">
                <a:solidFill>
                  <a:srgbClr val="D2D2D2"/>
                </a:solidFill>
                <a:latin typeface="Calibri"/>
              </a:rPr>
              <a:t>Deletion: blank the pixels the map ranks highest and watch the score fall. Insertion: add them to a blank image and watch it rise. 50 images per method.</a:t>
            </a:r>
            <a:endParaRPr sz="1500"/>
          </a:p>
        </p:txBody>
      </p:sp>
      <p:sp>
        <p:nvSpPr>
          <p:cNvPr id="12" name="TextBox 11"/>
          <p:cNvSpPr txBox="1"/>
          <p:nvPr/>
        </p:nvSpPr>
        <p:spPr>
          <a:xfrm>
            <a:off x="8200948" y="1554480"/>
            <a:ext cx="1097280" cy="868680"/>
          </a:xfrm>
          <a:prstGeom prst="rect">
            <a:avLst/>
          </a:prstGeom>
          <a:noFill/>
        </p:spPr>
        <p:txBody>
          <a:bodyPr wrap="square" lIns="0" rIns="0" tIns="0" bIns="0" anchor="b">
            <a:noAutofit/>
          </a:bodyPr>
          <a:lstStyle/>
          <a:p>
            <a:pPr algn="l">
              <a:lnSpc>
                <a:spcPct val="105000"/>
              </a:lnSpc>
              <a:spcAft>
                <a:spcPts val="0"/>
              </a:spcAft>
            </a:pPr>
            <a:r>
              <a:rPr sz="5600" b="0">
                <a:solidFill>
                  <a:srgbClr val="F2994A"/>
                </a:solidFill>
                <a:latin typeface="Calibri Light"/>
              </a:rPr>
              <a:t>3</a:t>
            </a:r>
            <a:endParaRPr sz="5600"/>
          </a:p>
        </p:txBody>
      </p:sp>
      <p:sp>
        <p:nvSpPr>
          <p:cNvPr id="13" name="TextBox 12"/>
          <p:cNvSpPr txBox="1"/>
          <p:nvPr/>
        </p:nvSpPr>
        <p:spPr>
          <a:xfrm>
            <a:off x="8200948" y="2560320"/>
            <a:ext cx="3350666" cy="822960"/>
          </a:xfrm>
          <a:prstGeom prst="rect">
            <a:avLst/>
          </a:prstGeom>
          <a:noFill/>
        </p:spPr>
        <p:txBody>
          <a:bodyPr wrap="square" lIns="0" rIns="0" tIns="0" bIns="0" anchor="t">
            <a:noAutofit/>
          </a:bodyPr>
          <a:lstStyle/>
          <a:p>
            <a:pPr algn="l">
              <a:lnSpc>
                <a:spcPct val="100000"/>
              </a:lnSpc>
              <a:spcAft>
                <a:spcPts val="0"/>
              </a:spcAft>
            </a:pPr>
            <a:r>
              <a:rPr sz="2000" b="1">
                <a:solidFill>
                  <a:srgbClr val="FFFFFF"/>
                </a:solidFill>
                <a:latin typeface="Calibri"/>
              </a:rPr>
              <a:t>Does it depend on the model at all?</a:t>
            </a:r>
            <a:endParaRPr sz="2000"/>
          </a:p>
        </p:txBody>
      </p:sp>
      <p:sp>
        <p:nvSpPr>
          <p:cNvPr id="14" name="TextBox 13"/>
          <p:cNvSpPr txBox="1"/>
          <p:nvPr/>
        </p:nvSpPr>
        <p:spPr>
          <a:xfrm>
            <a:off x="8200948" y="3383280"/>
            <a:ext cx="3350666" cy="1737360"/>
          </a:xfrm>
          <a:prstGeom prst="rect">
            <a:avLst/>
          </a:prstGeom>
          <a:noFill/>
        </p:spPr>
        <p:txBody>
          <a:bodyPr wrap="square" lIns="0" rIns="0" tIns="0" bIns="0" anchor="t">
            <a:noAutofit/>
          </a:bodyPr>
          <a:lstStyle/>
          <a:p>
            <a:pPr algn="l">
              <a:lnSpc>
                <a:spcPct val="110000"/>
              </a:lnSpc>
              <a:spcAft>
                <a:spcPts val="0"/>
              </a:spcAft>
            </a:pPr>
            <a:r>
              <a:rPr sz="1500" b="0">
                <a:solidFill>
                  <a:srgbClr val="D2D2D2"/>
                </a:solidFill>
                <a:latin typeface="Calibri"/>
              </a:rPr>
              <a:t>Adebayo's check: scramble the network one layer at a time, from the top. If the map barely changes, it was describing the image, not the model. 242 steps.</a:t>
            </a:r>
            <a:endParaRPr sz="1500"/>
          </a:p>
        </p:txBody>
      </p:sp>
      <p:sp>
        <p:nvSpPr>
          <p:cNvPr id="15" name="Rectangle 14"/>
          <p:cNvSpPr/>
          <p:nvPr/>
        </p:nvSpPr>
        <p:spPr>
          <a:xfrm>
            <a:off x="548640" y="5120640"/>
            <a:ext cx="11094415" cy="777240"/>
          </a:xfrm>
          <a:prstGeom prst="rect">
            <a:avLst/>
          </a:prstGeom>
          <a:solidFill>
            <a:srgbClr val="15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120640"/>
            <a:ext cx="10454335" cy="777240"/>
          </a:xfrm>
          <a:prstGeom prst="rect">
            <a:avLst/>
          </a:prstGeom>
          <a:noFill/>
        </p:spPr>
        <p:txBody>
          <a:bodyPr wrap="square" lIns="0" rIns="0" tIns="0" bIns="0" anchor="ctr">
            <a:noAutofit/>
          </a:bodyPr>
          <a:lstStyle/>
          <a:p>
            <a:pPr algn="l">
              <a:lnSpc>
                <a:spcPct val="110000"/>
              </a:lnSpc>
              <a:spcAft>
                <a:spcPts val="0"/>
              </a:spcAft>
            </a:pPr>
            <a:r>
              <a:rPr sz="1500" b="0">
                <a:solidFill>
                  <a:srgbClr val="D2D2D2"/>
                </a:solidFill>
                <a:latin typeface="Calibri"/>
              </a:rPr>
              <a:t>Arun et al. (2021): all eight saliency methods they tested on chest X-rays failed at least one trust test. Saporta et al. (2022): on CheXpert, saliency maps' hit rate was on average 29.4% worse than radiologists'.</a:t>
            </a:r>
            <a:endParaRPr sz="15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EXPLANATIONS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No method wins all three tests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20</a:t>
            </a:r>
            <a:endParaRPr sz="1000"/>
          </a:p>
        </p:txBody>
      </p:sp>
      <p:graphicFrame>
        <p:nvGraphicFramePr>
          <p:cNvPr id="6" name="Table 5"/>
          <p:cNvGraphicFramePr>
            <a:graphicFrameLocks noGrp="1"/>
          </p:cNvGraphicFramePr>
          <p:nvPr/>
        </p:nvGraphicFramePr>
        <p:xfrm>
          <a:off x="548640" y="1600200"/>
          <a:ext cx="11091672" cy="2697480"/>
        </p:xfrm>
        <a:graphic>
          <a:graphicData uri="http://schemas.openxmlformats.org/drawingml/2006/table">
            <a:tbl>
              <a:tblPr firstRow="0" bandRow="0">
                <a:tableStyleId>{2D5ABB26-0587-4C30-8999-92F81FD0307C}</a:tableStyleId>
              </a:tblPr>
              <a:tblGrid>
                <a:gridCol w="2313432"/>
                <a:gridCol w="2011680"/>
                <a:gridCol w="1463040"/>
                <a:gridCol w="2651760"/>
                <a:gridCol w="2651760"/>
              </a:tblGrid>
              <a:tr h="411480">
                <a:tc>
                  <a:txBody>
                    <a:bodyPr wrap="square"/>
                    <a:lstStyle/>
                    <a:p>
                      <a:pPr algn="l">
                        <a:lnSpc>
                          <a:spcPct val="105000"/>
                        </a:lnSpc>
                        <a:spcAft>
                          <a:spcPts val="0"/>
                        </a:spcAft>
                      </a:pPr>
                      <a:r>
                        <a:rPr sz="1200" b="0">
                          <a:solidFill>
                            <a:srgbClr val="8F8F8F"/>
                          </a:solidFill>
                          <a:latin typeface="Calibri"/>
                        </a:rPr>
                        <a:t>method</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pointing game ↑</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IoU ↑</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insertion − deletion ↑</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similarity after scrambling ↓</a:t>
                      </a:r>
                      <a:endParaRPr sz="1200"/>
                    </a:p>
                  </a:txBody>
                  <a:tcPr marL="73152" marR="73152" marT="27432" marB="27432" anchor="ctr">
                    <a:lnL w="0">
                      <a:noFill/>
                    </a:lnL>
                    <a:lnR w="0">
                      <a:noFill/>
                    </a:lnR>
                    <a:lnT w="0">
                      <a:noFill/>
                    </a:lnT>
                    <a:lnB w="12700">
                      <a:solidFill>
                        <a:srgbClr val="5C5C5C"/>
                      </a:solidFill>
                    </a:lnB>
                    <a:noFill/>
                  </a:tcPr>
                </a:tc>
              </a:tr>
              <a:tr h="457200">
                <a:tc>
                  <a:txBody>
                    <a:bodyPr wrap="square"/>
                    <a:lstStyle/>
                    <a:p>
                      <a:pPr algn="l">
                        <a:lnSpc>
                          <a:spcPct val="105000"/>
                        </a:lnSpc>
                        <a:spcAft>
                          <a:spcPts val="0"/>
                        </a:spcAft>
                      </a:pPr>
                      <a:r>
                        <a:rPr sz="1700" b="1">
                          <a:solidFill>
                            <a:srgbClr val="FFFFFF"/>
                          </a:solidFill>
                          <a:latin typeface="Calibri"/>
                        </a:rPr>
                        <a:t>Grad-CAM++</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1">
                          <a:solidFill>
                            <a:srgbClr val="F2994A"/>
                          </a:solidFill>
                          <a:latin typeface="Calibri"/>
                        </a:rPr>
                        <a:t>0.544</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1">
                          <a:solidFill>
                            <a:srgbClr val="F2994A"/>
                          </a:solidFill>
                          <a:latin typeface="Calibri"/>
                        </a:rPr>
                        <a:t>0.212</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0.391</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0.199</a:t>
                      </a:r>
                      <a:endParaRPr sz="1700"/>
                    </a:p>
                  </a:txBody>
                  <a:tcPr marL="73152" marR="73152"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700" b="1">
                          <a:solidFill>
                            <a:srgbClr val="FFFFFF"/>
                          </a:solidFill>
                          <a:latin typeface="Calibri"/>
                        </a:rPr>
                        <a:t>Grad-CAM</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0.496</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0.182</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1">
                          <a:solidFill>
                            <a:srgbClr val="F2994A"/>
                          </a:solidFill>
                          <a:latin typeface="Calibri"/>
                        </a:rPr>
                        <a:t>0.431</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0.052</a:t>
                      </a:r>
                      <a:endParaRPr sz="1700"/>
                    </a:p>
                  </a:txBody>
                  <a:tcPr marL="73152" marR="73152"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700" b="1">
                          <a:solidFill>
                            <a:srgbClr val="FFFFFF"/>
                          </a:solidFill>
                          <a:latin typeface="Calibri"/>
                        </a:rPr>
                        <a:t>CAM</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0.493</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0.176</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0.430</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1">
                          <a:solidFill>
                            <a:srgbClr val="F2994A"/>
                          </a:solidFill>
                          <a:latin typeface="Calibri"/>
                        </a:rPr>
                        <a:t>0.009</a:t>
                      </a:r>
                      <a:endParaRPr sz="1700"/>
                    </a:p>
                  </a:txBody>
                  <a:tcPr marL="73152" marR="73152"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700" b="1">
                          <a:solidFill>
                            <a:srgbClr val="FFFFFF"/>
                          </a:solidFill>
                          <a:latin typeface="Calibri"/>
                        </a:rPr>
                        <a:t>EigenCAM</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0.479</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0.190</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0.306</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0.152</a:t>
                      </a:r>
                      <a:endParaRPr sz="1700"/>
                    </a:p>
                  </a:txBody>
                  <a:tcPr marL="73152" marR="73152"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700" b="1">
                          <a:solidFill>
                            <a:srgbClr val="8F8F8F"/>
                          </a:solidFill>
                          <a:latin typeface="Calibri"/>
                        </a:rPr>
                        <a:t>Random map</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8F8F8F"/>
                          </a:solidFill>
                          <a:latin typeface="Calibri"/>
                        </a:rPr>
                        <a:t>0.228</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8F8F8F"/>
                          </a:solidFill>
                          <a:latin typeface="Calibri"/>
                        </a:rPr>
                        <a:t>0.091</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8F8F8F"/>
                          </a:solidFill>
                          <a:latin typeface="Calibri"/>
                        </a:rPr>
                        <a:t>0.033</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endParaRPr sz="17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548640" y="4434840"/>
            <a:ext cx="11094415" cy="320040"/>
          </a:xfrm>
          <a:prstGeom prst="rect">
            <a:avLst/>
          </a:prstGeom>
          <a:noFill/>
        </p:spPr>
        <p:txBody>
          <a:bodyPr wrap="square" lIns="0" rIns="0" tIns="0" bIns="0" anchor="t">
            <a:noAutofit/>
          </a:bodyPr>
          <a:lstStyle/>
          <a:p>
            <a:pPr algn="l">
              <a:lnSpc>
                <a:spcPct val="105000"/>
              </a:lnSpc>
              <a:spcAft>
                <a:spcPts val="0"/>
              </a:spcAft>
            </a:pPr>
            <a:r>
              <a:rPr sz="1200" b="0">
                <a:solidFill>
                  <a:srgbClr val="8F8F8F"/>
                </a:solidFill>
                <a:latin typeface="Calibri"/>
              </a:rPr>
              <a:t>Pointing and IoU over 984 boxes. Faithfulness over 50 images. Similarity: mean absolute rank correlation with the original map over the last 20 of 242 scrambling steps.</a:t>
            </a:r>
            <a:endParaRPr sz="1200"/>
          </a:p>
        </p:txBody>
      </p:sp>
      <p:sp>
        <p:nvSpPr>
          <p:cNvPr id="8" name="TextBox 7"/>
          <p:cNvSpPr txBox="1"/>
          <p:nvPr/>
        </p:nvSpPr>
        <p:spPr>
          <a:xfrm>
            <a:off x="548640" y="4892040"/>
            <a:ext cx="3350666" cy="109728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Every method at least doubles the random map on pointing, so the test is not trivially easy.</a:t>
            </a:r>
            <a:endParaRPr sz="1500"/>
          </a:p>
        </p:txBody>
      </p:sp>
      <p:sp>
        <p:nvSpPr>
          <p:cNvPr id="9" name="TextBox 8"/>
          <p:cNvSpPr txBox="1"/>
          <p:nvPr/>
        </p:nvSpPr>
        <p:spPr>
          <a:xfrm>
            <a:off x="4374794" y="4892040"/>
            <a:ext cx="3350666" cy="109728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Grad-CAM++ localises best, and its map stays the most similar when the model is scrambled.</a:t>
            </a:r>
            <a:endParaRPr sz="1500"/>
          </a:p>
        </p:txBody>
      </p:sp>
      <p:sp>
        <p:nvSpPr>
          <p:cNvPr id="10" name="TextBox 9"/>
          <p:cNvSpPr txBox="1"/>
          <p:nvPr/>
        </p:nvSpPr>
        <p:spPr>
          <a:xfrm>
            <a:off x="8200948" y="4892040"/>
            <a:ext cx="3350666" cy="109728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CAM and Grad-CAM are the most faithful and depend most on the model, but localise a little worse.</a:t>
            </a:r>
            <a:endParaRPr sz="1500"/>
          </a:p>
        </p:txBody>
      </p:sp>
      <p:sp>
        <p:nvSpPr>
          <p:cNvPr id="11" name="TextBox 10"/>
          <p:cNvSpPr txBox="1"/>
          <p:nvPr/>
        </p:nvSpPr>
        <p:spPr>
          <a:xfrm>
            <a:off x="548640" y="5943600"/>
            <a:ext cx="11094415" cy="365760"/>
          </a:xfrm>
          <a:prstGeom prst="rect">
            <a:avLst/>
          </a:prstGeom>
          <a:noFill/>
        </p:spPr>
        <p:txBody>
          <a:bodyPr wrap="square" lIns="0" rIns="0" tIns="0" bIns="0" anchor="t">
            <a:noAutofit/>
          </a:bodyPr>
          <a:lstStyle/>
          <a:p>
            <a:pPr algn="l">
              <a:lnSpc>
                <a:spcPct val="105000"/>
              </a:lnSpc>
              <a:spcAft>
                <a:spcPts val="0"/>
              </a:spcAft>
            </a:pPr>
            <a:r>
              <a:rPr sz="1500" b="0">
                <a:solidFill>
                  <a:srgbClr val="FFFFFF"/>
                </a:solidFill>
                <a:latin typeface="Calibri"/>
              </a:rPr>
              <a:t>A paper that reports one test for one method is picking its answer. This is the angle we would suggest.</a:t>
            </a:r>
            <a:endParaRPr sz="15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LOCALISATION</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The finding matters more than the method</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21</a:t>
            </a:r>
            <a:endParaRPr sz="1000"/>
          </a:p>
        </p:txBody>
      </p:sp>
      <p:sp>
        <p:nvSpPr>
          <p:cNvPr id="6" name="TextBox 5"/>
          <p:cNvSpPr txBox="1"/>
          <p:nvPr/>
        </p:nvSpPr>
        <p:spPr>
          <a:xfrm>
            <a:off x="548640" y="1572768"/>
            <a:ext cx="7315200" cy="3200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Pointing game by finding: share of cases whose hottest point is inside the box</a:t>
            </a:r>
            <a:endParaRPr sz="1300"/>
          </a:p>
        </p:txBody>
      </p:sp>
      <p:graphicFrame>
        <p:nvGraphicFramePr>
          <p:cNvPr id="7" name="Table 6"/>
          <p:cNvGraphicFramePr>
            <a:graphicFrameLocks noGrp="1"/>
          </p:cNvGraphicFramePr>
          <p:nvPr/>
        </p:nvGraphicFramePr>
        <p:xfrm>
          <a:off x="548640" y="1920240"/>
          <a:ext cx="7406640" cy="3776472"/>
        </p:xfrm>
        <a:graphic>
          <a:graphicData uri="http://schemas.openxmlformats.org/drawingml/2006/table">
            <a:tbl>
              <a:tblPr firstRow="0" bandRow="0">
                <a:tableStyleId>{2D5ABB26-0587-4C30-8999-92F81FD0307C}</a:tableStyleId>
              </a:tblPr>
              <a:tblGrid>
                <a:gridCol w="2240280"/>
                <a:gridCol w="1051560"/>
                <a:gridCol w="1143000"/>
                <a:gridCol w="1508760"/>
                <a:gridCol w="1463040"/>
              </a:tblGrid>
              <a:tr h="411480">
                <a:tc>
                  <a:txBody>
                    <a:bodyPr wrap="square"/>
                    <a:lstStyle/>
                    <a:p>
                      <a:pPr algn="l">
                        <a:lnSpc>
                          <a:spcPct val="105000"/>
                        </a:lnSpc>
                        <a:spcAft>
                          <a:spcPts val="0"/>
                        </a:spcAft>
                      </a:pPr>
                      <a:r>
                        <a:rPr sz="1200" b="0">
                          <a:solidFill>
                            <a:srgbClr val="8F8F8F"/>
                          </a:solidFill>
                          <a:latin typeface="Calibri"/>
                        </a:rPr>
                        <a:t>finding</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boxes</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CAM</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Grad-CAM++</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random map</a:t>
                      </a:r>
                      <a:endParaRPr sz="1200"/>
                    </a:p>
                  </a:txBody>
                  <a:tcPr marL="73152" marR="73152" marT="27432" marB="27432" anchor="ctr">
                    <a:lnL w="0">
                      <a:noFill/>
                    </a:lnL>
                    <a:lnR w="0">
                      <a:noFill/>
                    </a:lnR>
                    <a:lnT w="0">
                      <a:noFill/>
                    </a:lnT>
                    <a:lnB w="12700">
                      <a:solidFill>
                        <a:srgbClr val="5C5C5C"/>
                      </a:solidFill>
                    </a:lnB>
                    <a:noFill/>
                  </a:tcPr>
                </a:tc>
              </a:tr>
              <a:tr h="420624">
                <a:tc>
                  <a:txBody>
                    <a:bodyPr wrap="square"/>
                    <a:lstStyle/>
                    <a:p>
                      <a:pPr algn="l">
                        <a:lnSpc>
                          <a:spcPct val="105000"/>
                        </a:lnSpc>
                        <a:spcAft>
                          <a:spcPts val="0"/>
                        </a:spcAft>
                      </a:pPr>
                      <a:r>
                        <a:rPr sz="1600" b="0">
                          <a:solidFill>
                            <a:srgbClr val="FFFFFF"/>
                          </a:solidFill>
                          <a:latin typeface="Calibri"/>
                        </a:rPr>
                        <a:t>Cardiomegaly</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146</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0.81</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0.35</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0">
                          <a:solidFill>
                            <a:srgbClr val="FFFFFF"/>
                          </a:solidFill>
                          <a:latin typeface="Calibri"/>
                        </a:rPr>
                        <a:t>Pneumonia</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120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0.53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0.72</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0.28</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0">
                          <a:solidFill>
                            <a:srgbClr val="FFFFFF"/>
                          </a:solidFill>
                          <a:latin typeface="Calibri"/>
                        </a:rPr>
                        <a:t>Infiltration</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123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0.49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0.66</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0.25</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0">
                          <a:solidFill>
                            <a:srgbClr val="FFFFFF"/>
                          </a:solidFill>
                          <a:latin typeface="Calibri"/>
                        </a:rPr>
                        <a:t>Effusion</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153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0.56</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0.56</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0.23</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0">
                          <a:solidFill>
                            <a:srgbClr val="FFFFFF"/>
                          </a:solidFill>
                          <a:latin typeface="Calibri"/>
                        </a:rPr>
                        <a:t>Mass</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85</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0.44</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0.54</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0.22</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0">
                          <a:solidFill>
                            <a:srgbClr val="FFFFFF"/>
                          </a:solidFill>
                          <a:latin typeface="Calibri"/>
                        </a:rPr>
                        <a:t>Atelectasis</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180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0.39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0.43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0.21</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0">
                          <a:solidFill>
                            <a:srgbClr val="FFFFFF"/>
                          </a:solidFill>
                          <a:latin typeface="Calibri"/>
                        </a:rPr>
                        <a:t>Nodule</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79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0.20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0.23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0.11</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1">
                          <a:solidFill>
                            <a:srgbClr val="F2994A"/>
                          </a:solidFill>
                          <a:latin typeface="Calibri"/>
                        </a:rPr>
                        <a:t>Pneumothorax</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98</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0.27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0.22</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8F8F8F"/>
                          </a:solidFill>
                          <a:latin typeface="Calibri"/>
                        </a:rPr>
                        <a:t>0.07</a:t>
                      </a:r>
                      <a:endParaRPr sz="1600"/>
                    </a:p>
                  </a:txBody>
                  <a:tcPr marL="73152" marR="73152" marT="27432" marB="27432" anchor="ctr">
                    <a:lnL w="0">
                      <a:noFill/>
                    </a:lnL>
                    <a:lnR w="0">
                      <a:noFill/>
                    </a:lnR>
                    <a:lnT w="0">
                      <a:noFill/>
                    </a:lnT>
                    <a:lnB w="9525">
                      <a:solidFill>
                        <a:srgbClr val="2E2E2E"/>
                      </a:solidFill>
                    </a:lnB>
                    <a:noFill/>
                  </a:tcPr>
                </a:tc>
              </a:tr>
            </a:tbl>
          </a:graphicData>
        </a:graphic>
      </p:graphicFrame>
      <p:sp>
        <p:nvSpPr>
          <p:cNvPr id="8" name="TextBox 7"/>
          <p:cNvSpPr txBox="1"/>
          <p:nvPr/>
        </p:nvSpPr>
        <p:spPr>
          <a:xfrm>
            <a:off x="8275320" y="1920240"/>
            <a:ext cx="3367735" cy="3931920"/>
          </a:xfrm>
          <a:prstGeom prst="rect">
            <a:avLst/>
          </a:prstGeom>
          <a:noFill/>
        </p:spPr>
        <p:txBody>
          <a:bodyPr wrap="square" lIns="0" rIns="0" tIns="0" bIns="0" anchor="t">
            <a:noAutofit/>
          </a:bodyPr>
          <a:lstStyle/>
          <a:p>
            <a:pPr algn="l">
              <a:lnSpc>
                <a:spcPct val="110000"/>
              </a:lnSpc>
              <a:spcAft>
                <a:spcPts val="1600"/>
              </a:spcAft>
            </a:pPr>
            <a:r>
              <a:rPr sz="1600" b="1">
                <a:solidFill>
                  <a:srgbClr val="FFFFFF"/>
                </a:solidFill>
                <a:latin typeface="Calibri"/>
              </a:rPr>
              <a:t>Cardiomegaly</a:t>
            </a:r>
            <a:r>
              <a:rPr sz="1600" b="0">
                <a:solidFill>
                  <a:srgbClr val="D2D2D2"/>
                </a:solidFill>
                <a:latin typeface="Calibri"/>
              </a:rPr>
              <a:t> is large and always in the same place, so every method finds it.</a:t>
            </a:r>
            <a:endParaRPr sz="1600"/>
          </a:p>
          <a:p>
            <a:pPr algn="l">
              <a:lnSpc>
                <a:spcPct val="110000"/>
              </a:lnSpc>
              <a:spcAft>
                <a:spcPts val="1600"/>
              </a:spcAft>
            </a:pPr>
            <a:r>
              <a:rPr sz="1600" b="1">
                <a:solidFill>
                  <a:srgbClr val="FFFFFF"/>
                </a:solidFill>
                <a:latin typeface="Calibri"/>
              </a:rPr>
              <a:t>Pneumothorax</a:t>
            </a:r>
            <a:r>
              <a:rPr sz="1600" b="0">
                <a:solidFill>
                  <a:srgbClr val="D2D2D2"/>
                </a:solidFill>
                <a:latin typeface="Calibri"/>
              </a:rPr>
              <a:t> is the weakest finding the measure can judge. Even the best method's hottest point misses the box in about four cases out of five.</a:t>
            </a:r>
            <a:endParaRPr sz="1600"/>
          </a:p>
          <a:p>
            <a:pPr algn="l">
              <a:lnSpc>
                <a:spcPct val="110000"/>
              </a:lnSpc>
              <a:spcAft>
                <a:spcPts val="0"/>
              </a:spcAft>
            </a:pPr>
            <a:r>
              <a:rPr sz="1600" b="1">
                <a:solidFill>
                  <a:srgbClr val="FFFFFF"/>
                </a:solidFill>
                <a:latin typeface="Calibri"/>
              </a:rPr>
              <a:t>Nodules</a:t>
            </a:r>
            <a:r>
              <a:rPr sz="1600" b="0">
                <a:solidFill>
                  <a:srgbClr val="D2D2D2"/>
                </a:solidFill>
                <a:latin typeface="Calibri"/>
              </a:rPr>
              <a:t> also score low, for a different reason: the measure cannot see them. Next slide.</a:t>
            </a:r>
            <a:endParaRPr sz="160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LOCALISATION</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A nodule is smaller than one cell of the map</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22</a:t>
            </a:r>
            <a:endParaRPr sz="1000"/>
          </a:p>
        </p:txBody>
      </p:sp>
      <p:sp>
        <p:nvSpPr>
          <p:cNvPr id="6" name="TextBox 5"/>
          <p:cNvSpPr txBox="1"/>
          <p:nvPr/>
        </p:nvSpPr>
        <p:spPr>
          <a:xfrm>
            <a:off x="548640" y="1508760"/>
            <a:ext cx="3442106"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70 × 68 px</a:t>
            </a:r>
            <a:endParaRPr sz="4600"/>
          </a:p>
        </p:txBody>
      </p:sp>
      <p:sp>
        <p:nvSpPr>
          <p:cNvPr id="7" name="TextBox 6"/>
          <p:cNvSpPr txBox="1"/>
          <p:nvPr/>
        </p:nvSpPr>
        <p:spPr>
          <a:xfrm>
            <a:off x="548640" y="2377440"/>
            <a:ext cx="3442106"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median nodule box in the 1024 px image. One map cell is 64 × 64.</a:t>
            </a:r>
            <a:endParaRPr sz="1500"/>
          </a:p>
        </p:txBody>
      </p:sp>
      <p:sp>
        <p:nvSpPr>
          <p:cNvPr id="8" name="TextBox 7"/>
          <p:cNvSpPr txBox="1"/>
          <p:nvPr/>
        </p:nvSpPr>
        <p:spPr>
          <a:xfrm>
            <a:off x="4374794" y="1508760"/>
            <a:ext cx="3442106"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12×</a:t>
            </a:r>
            <a:endParaRPr sz="4600"/>
          </a:p>
        </p:txBody>
      </p:sp>
      <p:sp>
        <p:nvSpPr>
          <p:cNvPr id="9" name="TextBox 8"/>
          <p:cNvSpPr txBox="1"/>
          <p:nvPr/>
        </p:nvSpPr>
        <p:spPr>
          <a:xfrm>
            <a:off x="4374794" y="2377440"/>
            <a:ext cx="3442106"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how much larger than the nodule a box drawn from any map ends up</a:t>
            </a:r>
            <a:endParaRPr sz="1500"/>
          </a:p>
        </p:txBody>
      </p:sp>
      <p:sp>
        <p:nvSpPr>
          <p:cNvPr id="10" name="TextBox 9"/>
          <p:cNvSpPr txBox="1"/>
          <p:nvPr/>
        </p:nvSpPr>
        <p:spPr>
          <a:xfrm>
            <a:off x="8200948" y="1508760"/>
            <a:ext cx="3442106"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0 of 79</a:t>
            </a:r>
            <a:endParaRPr sz="4600"/>
          </a:p>
        </p:txBody>
      </p:sp>
      <p:sp>
        <p:nvSpPr>
          <p:cNvPr id="11" name="TextBox 10"/>
          <p:cNvSpPr txBox="1"/>
          <p:nvPr/>
        </p:nvSpPr>
        <p:spPr>
          <a:xfrm>
            <a:off x="8200948" y="2377440"/>
            <a:ext cx="3442106"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nodule cases where any placement of that box could reach T(IoBB) 0.5, for any method</a:t>
            </a:r>
            <a:endParaRPr sz="1500"/>
          </a:p>
        </p:txBody>
      </p:sp>
      <p:sp>
        <p:nvSpPr>
          <p:cNvPr id="12" name="TextBox 11"/>
          <p:cNvSpPr txBox="1"/>
          <p:nvPr/>
        </p:nvSpPr>
        <p:spPr>
          <a:xfrm>
            <a:off x="548640" y="3840480"/>
            <a:ext cx="5212080" cy="1463040"/>
          </a:xfrm>
          <a:prstGeom prst="rect">
            <a:avLst/>
          </a:prstGeom>
          <a:noFill/>
        </p:spPr>
        <p:txBody>
          <a:bodyPr wrap="square" lIns="0" rIns="0" tIns="0" bIns="0" anchor="t">
            <a:noAutofit/>
          </a:bodyPr>
          <a:lstStyle/>
          <a:p>
            <a:pPr algn="l">
              <a:lnSpc>
                <a:spcPct val="110000"/>
              </a:lnSpc>
              <a:spcAft>
                <a:spcPts val="0"/>
              </a:spcAft>
            </a:pPr>
            <a:r>
              <a:rPr sz="2000" b="0">
                <a:solidFill>
                  <a:srgbClr val="FFFFFF"/>
                </a:solidFill>
                <a:latin typeface="Calibri"/>
              </a:rPr>
              <a:t>So we asked a question the grid can answer: does the box drawn from the map contain the nodule's centre?</a:t>
            </a:r>
            <a:endParaRPr sz="2000"/>
          </a:p>
        </p:txBody>
      </p:sp>
      <p:graphicFrame>
        <p:nvGraphicFramePr>
          <p:cNvPr id="13" name="Table 12"/>
          <p:cNvGraphicFramePr>
            <a:graphicFrameLocks noGrp="1"/>
          </p:cNvGraphicFramePr>
          <p:nvPr/>
        </p:nvGraphicFramePr>
        <p:xfrm>
          <a:off x="6400800" y="3703320"/>
          <a:ext cx="4114800" cy="1828800"/>
        </p:xfrm>
        <a:graphic>
          <a:graphicData uri="http://schemas.openxmlformats.org/drawingml/2006/table">
            <a:tbl>
              <a:tblPr firstRow="0" bandRow="0">
                <a:tableStyleId>{2D5ABB26-0587-4C30-8999-92F81FD0307C}</a:tableStyleId>
              </a:tblPr>
              <a:tblGrid>
                <a:gridCol w="2926080"/>
                <a:gridCol w="1188720"/>
              </a:tblGrid>
              <a:tr h="365760">
                <a:tc>
                  <a:txBody>
                    <a:bodyPr wrap="square"/>
                    <a:lstStyle/>
                    <a:p>
                      <a:pPr algn="l">
                        <a:lnSpc>
                          <a:spcPct val="105000"/>
                        </a:lnSpc>
                        <a:spcAft>
                          <a:spcPts val="0"/>
                        </a:spcAft>
                      </a:pPr>
                      <a:r>
                        <a:rPr sz="1600" b="0">
                          <a:solidFill>
                            <a:srgbClr val="FFFFFF"/>
                          </a:solidFill>
                          <a:latin typeface="Calibri"/>
                        </a:rPr>
                        <a:t>Grad-CAM++</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61%</a:t>
                      </a:r>
                      <a:endParaRPr sz="1600"/>
                    </a:p>
                  </a:txBody>
                  <a:tcPr marL="73152" marR="73152" marT="27432" marB="27432" anchor="ctr">
                    <a:lnL w="0">
                      <a:noFill/>
                    </a:lnL>
                    <a:lnR w="0">
                      <a:noFill/>
                    </a:lnR>
                    <a:lnT w="0">
                      <a:noFill/>
                    </a:lnT>
                    <a:lnB w="9525">
                      <a:solidFill>
                        <a:srgbClr val="2E2E2E"/>
                      </a:solidFill>
                    </a:lnB>
                    <a:noFill/>
                  </a:tcPr>
                </a:tc>
              </a:tr>
              <a:tr h="365760">
                <a:tc>
                  <a:txBody>
                    <a:bodyPr wrap="square"/>
                    <a:lstStyle/>
                    <a:p>
                      <a:pPr algn="l">
                        <a:lnSpc>
                          <a:spcPct val="105000"/>
                        </a:lnSpc>
                        <a:spcAft>
                          <a:spcPts val="0"/>
                        </a:spcAft>
                      </a:pPr>
                      <a:r>
                        <a:rPr sz="1600" b="0">
                          <a:solidFill>
                            <a:srgbClr val="FFFFFF"/>
                          </a:solidFill>
                          <a:latin typeface="Calibri"/>
                        </a:rPr>
                        <a:t>CAM</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59%</a:t>
                      </a:r>
                      <a:endParaRPr sz="1600"/>
                    </a:p>
                  </a:txBody>
                  <a:tcPr marL="73152" marR="73152" marT="27432" marB="27432" anchor="ctr">
                    <a:lnL w="0">
                      <a:noFill/>
                    </a:lnL>
                    <a:lnR w="0">
                      <a:noFill/>
                    </a:lnR>
                    <a:lnT w="0">
                      <a:noFill/>
                    </a:lnT>
                    <a:lnB w="9525">
                      <a:solidFill>
                        <a:srgbClr val="2E2E2E"/>
                      </a:solidFill>
                    </a:lnB>
                    <a:noFill/>
                  </a:tcPr>
                </a:tc>
              </a:tr>
              <a:tr h="365760">
                <a:tc>
                  <a:txBody>
                    <a:bodyPr wrap="square"/>
                    <a:lstStyle/>
                    <a:p>
                      <a:pPr algn="l">
                        <a:lnSpc>
                          <a:spcPct val="105000"/>
                        </a:lnSpc>
                        <a:spcAft>
                          <a:spcPts val="0"/>
                        </a:spcAft>
                      </a:pPr>
                      <a:r>
                        <a:rPr sz="1600" b="0">
                          <a:solidFill>
                            <a:srgbClr val="FFFFFF"/>
                          </a:solidFill>
                          <a:latin typeface="Calibri"/>
                        </a:rPr>
                        <a:t>Grad-CAM</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57%</a:t>
                      </a:r>
                      <a:endParaRPr sz="1600"/>
                    </a:p>
                  </a:txBody>
                  <a:tcPr marL="73152" marR="73152" marT="27432" marB="27432" anchor="ctr">
                    <a:lnL w="0">
                      <a:noFill/>
                    </a:lnL>
                    <a:lnR w="0">
                      <a:noFill/>
                    </a:lnR>
                    <a:lnT w="0">
                      <a:noFill/>
                    </a:lnT>
                    <a:lnB w="9525">
                      <a:solidFill>
                        <a:srgbClr val="2E2E2E"/>
                      </a:solidFill>
                    </a:lnB>
                    <a:noFill/>
                  </a:tcPr>
                </a:tc>
              </a:tr>
              <a:tr h="365760">
                <a:tc>
                  <a:txBody>
                    <a:bodyPr wrap="square"/>
                    <a:lstStyle/>
                    <a:p>
                      <a:pPr algn="l">
                        <a:lnSpc>
                          <a:spcPct val="105000"/>
                        </a:lnSpc>
                        <a:spcAft>
                          <a:spcPts val="0"/>
                        </a:spcAft>
                      </a:pPr>
                      <a:r>
                        <a:rPr sz="1600" b="0">
                          <a:solidFill>
                            <a:srgbClr val="FFFFFF"/>
                          </a:solidFill>
                          <a:latin typeface="Calibri"/>
                        </a:rPr>
                        <a:t>EigenCAM</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37%</a:t>
                      </a:r>
                      <a:endParaRPr sz="1600"/>
                    </a:p>
                  </a:txBody>
                  <a:tcPr marL="73152" marR="73152" marT="27432" marB="27432" anchor="ctr">
                    <a:lnL w="0">
                      <a:noFill/>
                    </a:lnL>
                    <a:lnR w="0">
                      <a:noFill/>
                    </a:lnR>
                    <a:lnT w="0">
                      <a:noFill/>
                    </a:lnT>
                    <a:lnB w="9525">
                      <a:solidFill>
                        <a:srgbClr val="2E2E2E"/>
                      </a:solidFill>
                    </a:lnB>
                    <a:noFill/>
                  </a:tcPr>
                </a:tc>
              </a:tr>
              <a:tr h="365760">
                <a:tc>
                  <a:txBody>
                    <a:bodyPr wrap="square"/>
                    <a:lstStyle/>
                    <a:p>
                      <a:pPr algn="l">
                        <a:lnSpc>
                          <a:spcPct val="105000"/>
                        </a:lnSpc>
                        <a:spcAft>
                          <a:spcPts val="0"/>
                        </a:spcAft>
                      </a:pPr>
                      <a:r>
                        <a:rPr sz="1600" b="0">
                          <a:solidFill>
                            <a:srgbClr val="8F8F8F"/>
                          </a:solidFill>
                          <a:latin typeface="Calibri"/>
                        </a:rPr>
                        <a:t>Random map</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8F8F8F"/>
                          </a:solidFill>
                          <a:latin typeface="Calibri"/>
                        </a:rPr>
                        <a:t>13%</a:t>
                      </a:r>
                      <a:endParaRPr sz="1600"/>
                    </a:p>
                  </a:txBody>
                  <a:tcPr marL="73152" marR="73152" marT="27432" marB="27432" anchor="ctr">
                    <a:lnL w="0">
                      <a:noFill/>
                    </a:lnL>
                    <a:lnR w="0">
                      <a:noFill/>
                    </a:lnR>
                    <a:lnT w="0">
                      <a:noFill/>
                    </a:lnT>
                    <a:lnB w="9525">
                      <a:solidFill>
                        <a:srgbClr val="2E2E2E"/>
                      </a:solidFill>
                    </a:lnB>
                    <a:noFill/>
                  </a:tcPr>
                </a:tc>
              </a:tr>
            </a:tbl>
          </a:graphicData>
        </a:graphic>
      </p:graphicFrame>
      <p:sp>
        <p:nvSpPr>
          <p:cNvPr id="14" name="TextBox 13"/>
          <p:cNvSpPr txBox="1"/>
          <p:nvPr/>
        </p:nvSpPr>
        <p:spPr>
          <a:xfrm>
            <a:off x="548640" y="5349240"/>
            <a:ext cx="5394960" cy="914400"/>
          </a:xfrm>
          <a:prstGeom prst="rect">
            <a:avLst/>
          </a:prstGeom>
          <a:noFill/>
        </p:spPr>
        <p:txBody>
          <a:bodyPr wrap="square" lIns="0" rIns="0" tIns="0" bIns="0" anchor="t">
            <a:noAutofit/>
          </a:bodyPr>
          <a:lstStyle/>
          <a:p>
            <a:pPr algn="l">
              <a:lnSpc>
                <a:spcPct val="110000"/>
              </a:lnSpc>
              <a:spcAft>
                <a:spcPts val="0"/>
              </a:spcAft>
            </a:pPr>
            <a:r>
              <a:rPr sz="1300" b="0">
                <a:solidFill>
                  <a:srgbClr val="8F8F8F"/>
                </a:solidFill>
                <a:latin typeface="Calibri"/>
              </a:rPr>
              <a:t>The maps find nodules far more often than chance; the standard box scores cannot show it at this resolution. The containment check is ours and has not been validated elsewhere.</a:t>
            </a:r>
            <a:endParaRPr sz="130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LOCALISATION</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Localisation against published numbers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23</a:t>
            </a:r>
            <a:endParaRPr sz="1000"/>
          </a:p>
        </p:txBody>
      </p:sp>
      <p:graphicFrame>
        <p:nvGraphicFramePr>
          <p:cNvPr id="6" name="Table 5"/>
          <p:cNvGraphicFramePr>
            <a:graphicFrameLocks noGrp="1"/>
          </p:cNvGraphicFramePr>
          <p:nvPr/>
        </p:nvGraphicFramePr>
        <p:xfrm>
          <a:off x="548640" y="1508760"/>
          <a:ext cx="10369296" cy="2907792"/>
        </p:xfrm>
        <a:graphic>
          <a:graphicData uri="http://schemas.openxmlformats.org/drawingml/2006/table">
            <a:tbl>
              <a:tblPr firstRow="0" bandRow="0">
                <a:tableStyleId>{2D5ABB26-0587-4C30-8999-92F81FD0307C}</a:tableStyleId>
              </a:tblPr>
              <a:tblGrid>
                <a:gridCol w="2468880"/>
                <a:gridCol w="896112"/>
                <a:gridCol w="896112"/>
                <a:gridCol w="896112"/>
                <a:gridCol w="896112"/>
                <a:gridCol w="896112"/>
                <a:gridCol w="896112"/>
                <a:gridCol w="896112"/>
                <a:gridCol w="896112"/>
                <a:gridCol w="731520"/>
              </a:tblGrid>
              <a:tr h="365760">
                <a:tc>
                  <a:txBody>
                    <a:bodyPr wrap="square"/>
                    <a:lstStyle/>
                    <a:p>
                      <a:pPr algn="l">
                        <a:lnSpc>
                          <a:spcPct val="105000"/>
                        </a:lnSpc>
                        <a:spcAft>
                          <a:spcPts val="0"/>
                        </a:spcAft>
                      </a:pPr>
                      <a:endParaRPr sz="1000"/>
                    </a:p>
                  </a:txBody>
                  <a:tcPr marL="45720" marR="45720"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000" b="0">
                          <a:solidFill>
                            <a:srgbClr val="8F8F8F"/>
                          </a:solidFill>
                          <a:latin typeface="Calibri"/>
                        </a:rPr>
                        <a:t>Atelectasis</a:t>
                      </a:r>
                      <a:endParaRPr sz="1000"/>
                    </a:p>
                  </a:txBody>
                  <a:tcPr marL="45720" marR="45720"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000" b="0">
                          <a:solidFill>
                            <a:srgbClr val="8F8F8F"/>
                          </a:solidFill>
                          <a:latin typeface="Calibri"/>
                        </a:rPr>
                        <a:t>Cardiomegaly</a:t>
                      </a:r>
                      <a:endParaRPr sz="1000"/>
                    </a:p>
                  </a:txBody>
                  <a:tcPr marL="45720" marR="45720"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000" b="0">
                          <a:solidFill>
                            <a:srgbClr val="8F8F8F"/>
                          </a:solidFill>
                          <a:latin typeface="Calibri"/>
                        </a:rPr>
                        <a:t>Effusion</a:t>
                      </a:r>
                      <a:endParaRPr sz="1000"/>
                    </a:p>
                  </a:txBody>
                  <a:tcPr marL="45720" marR="45720"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000" b="0">
                          <a:solidFill>
                            <a:srgbClr val="8F8F8F"/>
                          </a:solidFill>
                          <a:latin typeface="Calibri"/>
                        </a:rPr>
                        <a:t>Infiltration</a:t>
                      </a:r>
                      <a:endParaRPr sz="1000"/>
                    </a:p>
                  </a:txBody>
                  <a:tcPr marL="45720" marR="45720"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000" b="0">
                          <a:solidFill>
                            <a:srgbClr val="8F8F8F"/>
                          </a:solidFill>
                          <a:latin typeface="Calibri"/>
                        </a:rPr>
                        <a:t>Mass</a:t>
                      </a:r>
                      <a:endParaRPr sz="1000"/>
                    </a:p>
                  </a:txBody>
                  <a:tcPr marL="45720" marR="45720"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000" b="0">
                          <a:solidFill>
                            <a:srgbClr val="8F8F8F"/>
                          </a:solidFill>
                          <a:latin typeface="Calibri"/>
                        </a:rPr>
                        <a:t>Nodule</a:t>
                      </a:r>
                      <a:endParaRPr sz="1000"/>
                    </a:p>
                  </a:txBody>
                  <a:tcPr marL="45720" marR="45720"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000" b="0">
                          <a:solidFill>
                            <a:srgbClr val="8F8F8F"/>
                          </a:solidFill>
                          <a:latin typeface="Calibri"/>
                        </a:rPr>
                        <a:t>Pneumonia</a:t>
                      </a:r>
                      <a:endParaRPr sz="1000"/>
                    </a:p>
                  </a:txBody>
                  <a:tcPr marL="45720" marR="45720"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000" b="0">
                          <a:solidFill>
                            <a:srgbClr val="8F8F8F"/>
                          </a:solidFill>
                          <a:latin typeface="Calibri"/>
                        </a:rPr>
                        <a:t>Pneumothorax</a:t>
                      </a:r>
                      <a:endParaRPr sz="1000"/>
                    </a:p>
                  </a:txBody>
                  <a:tcPr marL="45720" marR="45720"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000" b="0">
                          <a:solidFill>
                            <a:srgbClr val="8F8F8F"/>
                          </a:solidFill>
                          <a:latin typeface="Calibri"/>
                        </a:rPr>
                        <a:t>mean</a:t>
                      </a:r>
                      <a:endParaRPr sz="1000"/>
                    </a:p>
                  </a:txBody>
                  <a:tcPr marL="45720" marR="45720" marT="27432" marB="27432" anchor="ctr">
                    <a:lnL w="0">
                      <a:noFill/>
                    </a:lnL>
                    <a:lnR w="0">
                      <a:noFill/>
                    </a:lnR>
                    <a:lnT w="0">
                      <a:noFill/>
                    </a:lnT>
                    <a:lnB w="12700">
                      <a:solidFill>
                        <a:srgbClr val="5C5C5C"/>
                      </a:solidFill>
                    </a:lnB>
                    <a:noFill/>
                  </a:tcPr>
                </a:tc>
              </a:tr>
              <a:tr h="310896">
                <a:tc gridSpan="10">
                  <a:txBody>
                    <a:bodyPr wrap="square"/>
                    <a:lstStyle/>
                    <a:p>
                      <a:pPr algn="l">
                        <a:lnSpc>
                          <a:spcPct val="105000"/>
                        </a:lnSpc>
                        <a:spcAft>
                          <a:spcPts val="0"/>
                        </a:spcAft>
                      </a:pPr>
                      <a:r>
                        <a:rPr sz="1100" b="0">
                          <a:solidFill>
                            <a:srgbClr val="8F8F8F"/>
                          </a:solidFill>
                          <a:latin typeface="Calibri"/>
                        </a:rPr>
                        <a:t>Box counts if IoBB is at least 0.5 (Wang et al.'s measure)</a:t>
                      </a: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r>
              <a:tr h="384048">
                <a:tc>
                  <a:txBody>
                    <a:bodyPr wrap="square"/>
                    <a:lstStyle/>
                    <a:p>
                      <a:pPr algn="l">
                        <a:lnSpc>
                          <a:spcPct val="105000"/>
                        </a:lnSpc>
                        <a:spcAft>
                          <a:spcPts val="0"/>
                        </a:spcAft>
                      </a:pPr>
                      <a:r>
                        <a:rPr sz="1400" b="0">
                          <a:solidFill>
                            <a:srgbClr val="FFFFFF"/>
                          </a:solidFill>
                          <a:latin typeface="Calibri"/>
                        </a:rPr>
                        <a:t>Wang et al. 2017</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0.19</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0.95</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0.42</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0.65</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0.31</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0.00</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0.48</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0.27</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0.41</a:t>
                      </a:r>
                      <a:endParaRPr sz="1400"/>
                    </a:p>
                  </a:txBody>
                  <a:tcPr marL="45720" marR="45720" marT="27432" marB="27432" anchor="ctr">
                    <a:lnL w="0">
                      <a:noFill/>
                    </a:lnL>
                    <a:lnR w="0">
                      <a:noFill/>
                    </a:lnR>
                    <a:lnT w="0">
                      <a:noFill/>
                    </a:lnT>
                    <a:lnB w="9525">
                      <a:solidFill>
                        <a:srgbClr val="2E2E2E"/>
                      </a:solidFill>
                    </a:lnB>
                    <a:noFill/>
                  </a:tcPr>
                </a:tc>
              </a:tr>
              <a:tr h="384048">
                <a:tc>
                  <a:txBody>
                    <a:bodyPr wrap="square"/>
                    <a:lstStyle/>
                    <a:p>
                      <a:pPr algn="l">
                        <a:lnSpc>
                          <a:spcPct val="105000"/>
                        </a:lnSpc>
                        <a:spcAft>
                          <a:spcPts val="0"/>
                        </a:spcAft>
                      </a:pPr>
                      <a:r>
                        <a:rPr sz="1400" b="1">
                          <a:solidFill>
                            <a:srgbClr val="F2994A"/>
                          </a:solidFill>
                          <a:latin typeface="Calibri"/>
                        </a:rPr>
                        <a:t>Ours, Grad-CAM++</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0.10</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0.83</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0.39</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0.58</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0.20</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0.00</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0.56</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0.16</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0.35</a:t>
                      </a:r>
                      <a:endParaRPr sz="1400"/>
                    </a:p>
                  </a:txBody>
                  <a:tcPr marL="45720" marR="45720" marT="27432" marB="27432" anchor="ctr">
                    <a:lnL w="0">
                      <a:noFill/>
                    </a:lnL>
                    <a:lnR w="0">
                      <a:noFill/>
                    </a:lnR>
                    <a:lnT w="0">
                      <a:noFill/>
                    </a:lnT>
                    <a:lnB w="9525">
                      <a:solidFill>
                        <a:srgbClr val="2E2E2E"/>
                      </a:solidFill>
                    </a:lnB>
                    <a:noFill/>
                  </a:tcPr>
                </a:tc>
              </a:tr>
              <a:tr h="310896">
                <a:tc gridSpan="10">
                  <a:txBody>
                    <a:bodyPr wrap="square"/>
                    <a:lstStyle/>
                    <a:p>
                      <a:pPr algn="l">
                        <a:lnSpc>
                          <a:spcPct val="105000"/>
                        </a:lnSpc>
                        <a:spcAft>
                          <a:spcPts val="0"/>
                        </a:spcAft>
                      </a:pPr>
                      <a:r>
                        <a:rPr sz="1100" b="0">
                          <a:solidFill>
                            <a:srgbClr val="8F8F8F"/>
                          </a:solidFill>
                          <a:latin typeface="Calibri"/>
                        </a:rPr>
                        <a:t>Box counts if IoU is at least 0.3 (Hermoza et al.'s measure)</a:t>
                      </a: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c hMerge="1">
                  <a:txBody>
                    <a:bodyPr wrap="square"/>
                    <a:lstStyle/>
                    <a:p>
                      <a:pPr algn="r">
                        <a:lnSpc>
                          <a:spcPct val="105000"/>
                        </a:lnSpc>
                        <a:spcAft>
                          <a:spcPts val="0"/>
                        </a:spcAft>
                      </a:pPr>
                      <a:endParaRPr sz="1100"/>
                    </a:p>
                  </a:txBody>
                  <a:tcPr marL="45720" marR="45720" marT="27432" marB="27432" anchor="ctr">
                    <a:lnL w="0">
                      <a:noFill/>
                    </a:lnL>
                    <a:lnR w="0">
                      <a:noFill/>
                    </a:lnR>
                    <a:lnT w="0">
                      <a:noFill/>
                    </a:lnT>
                    <a:lnB w="0">
                      <a:noFill/>
                    </a:lnB>
                    <a:noFill/>
                  </a:tcPr>
                </a:tc>
              </a:tr>
              <a:tr h="384048">
                <a:tc>
                  <a:txBody>
                    <a:bodyPr wrap="square"/>
                    <a:lstStyle/>
                    <a:p>
                      <a:pPr algn="l">
                        <a:lnSpc>
                          <a:spcPct val="105000"/>
                        </a:lnSpc>
                        <a:spcAft>
                          <a:spcPts val="0"/>
                        </a:spcAft>
                      </a:pPr>
                      <a:r>
                        <a:rPr sz="1400" b="0">
                          <a:solidFill>
                            <a:srgbClr val="FFFFFF"/>
                          </a:solidFill>
                          <a:latin typeface="Calibri"/>
                        </a:rPr>
                        <a:t>Wang et al. 2017</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0.24</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0.46</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0.30</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0.28</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0.15</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0.04</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0.17</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0.13</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0.22</a:t>
                      </a:r>
                      <a:endParaRPr sz="1400"/>
                    </a:p>
                  </a:txBody>
                  <a:tcPr marL="45720" marR="45720" marT="27432" marB="27432" anchor="ctr">
                    <a:lnL w="0">
                      <a:noFill/>
                    </a:lnL>
                    <a:lnR w="0">
                      <a:noFill/>
                    </a:lnR>
                    <a:lnT w="0">
                      <a:noFill/>
                    </a:lnT>
                    <a:lnB w="9525">
                      <a:solidFill>
                        <a:srgbClr val="2E2E2E"/>
                      </a:solidFill>
                    </a:lnB>
                    <a:noFill/>
                  </a:tcPr>
                </a:tc>
              </a:tr>
              <a:tr h="384048">
                <a:tc>
                  <a:txBody>
                    <a:bodyPr wrap="square"/>
                    <a:lstStyle/>
                    <a:p>
                      <a:pPr algn="l">
                        <a:lnSpc>
                          <a:spcPct val="105000"/>
                        </a:lnSpc>
                        <a:spcAft>
                          <a:spcPts val="0"/>
                        </a:spcAft>
                      </a:pPr>
                      <a:r>
                        <a:rPr sz="1400" b="0">
                          <a:solidFill>
                            <a:srgbClr val="FFFFFF"/>
                          </a:solidFill>
                          <a:latin typeface="Calibri"/>
                        </a:rPr>
                        <a:t>Hermoza et al. 2020</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0.37</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0.99</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0.37</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0.54</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0.35</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0.04</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0.60</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0.21</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0">
                          <a:solidFill>
                            <a:srgbClr val="D2D2D2"/>
                          </a:solidFill>
                          <a:latin typeface="Calibri"/>
                        </a:rPr>
                        <a:t>0.43</a:t>
                      </a:r>
                      <a:endParaRPr sz="1400"/>
                    </a:p>
                  </a:txBody>
                  <a:tcPr marL="45720" marR="45720" marT="27432" marB="27432" anchor="ctr">
                    <a:lnL w="0">
                      <a:noFill/>
                    </a:lnL>
                    <a:lnR w="0">
                      <a:noFill/>
                    </a:lnR>
                    <a:lnT w="0">
                      <a:noFill/>
                    </a:lnT>
                    <a:lnB w="9525">
                      <a:solidFill>
                        <a:srgbClr val="2E2E2E"/>
                      </a:solidFill>
                    </a:lnB>
                    <a:noFill/>
                  </a:tcPr>
                </a:tc>
              </a:tr>
              <a:tr h="384048">
                <a:tc>
                  <a:txBody>
                    <a:bodyPr wrap="square"/>
                    <a:lstStyle/>
                    <a:p>
                      <a:pPr algn="l">
                        <a:lnSpc>
                          <a:spcPct val="105000"/>
                        </a:lnSpc>
                        <a:spcAft>
                          <a:spcPts val="0"/>
                        </a:spcAft>
                      </a:pPr>
                      <a:r>
                        <a:rPr sz="1400" b="1">
                          <a:solidFill>
                            <a:srgbClr val="F2994A"/>
                          </a:solidFill>
                          <a:latin typeface="Calibri"/>
                        </a:rPr>
                        <a:t>Ours, Grad-CAM++</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0.19</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0.16</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0.42</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0.46</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0.27</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0.01</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0.56</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0.13</a:t>
                      </a:r>
                      <a:endParaRPr sz="1400"/>
                    </a:p>
                  </a:txBody>
                  <a:tcPr marL="45720" marR="45720"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400" b="1">
                          <a:solidFill>
                            <a:srgbClr val="F2994A"/>
                          </a:solidFill>
                          <a:latin typeface="Calibri"/>
                        </a:rPr>
                        <a:t>0.28</a:t>
                      </a:r>
                      <a:endParaRPr sz="1400"/>
                    </a:p>
                  </a:txBody>
                  <a:tcPr marL="45720" marR="45720"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548640" y="4709160"/>
            <a:ext cx="3350666" cy="1097280"/>
          </a:xfrm>
          <a:prstGeom prst="rect">
            <a:avLst/>
          </a:prstGeom>
          <a:noFill/>
        </p:spPr>
        <p:txBody>
          <a:bodyPr wrap="square" lIns="0" rIns="0" tIns="0" bIns="0" anchor="t">
            <a:noAutofit/>
          </a:bodyPr>
          <a:lstStyle/>
          <a:p>
            <a:pPr algn="l">
              <a:lnSpc>
                <a:spcPct val="108000"/>
              </a:lnSpc>
              <a:spcAft>
                <a:spcPts val="0"/>
              </a:spcAft>
            </a:pPr>
            <a:r>
              <a:rPr sz="1400" b="0">
                <a:solidFill>
                  <a:srgbClr val="D2D2D2"/>
                </a:solidFill>
                <a:latin typeface="Calibri"/>
              </a:rPr>
              <a:t>On Wang et al.'s own measure we're a little below them (0.35 against 0.41), with the same pattern: cardiomegaly easiest, nodules at zero.</a:t>
            </a:r>
            <a:endParaRPr sz="1400"/>
          </a:p>
        </p:txBody>
      </p:sp>
      <p:sp>
        <p:nvSpPr>
          <p:cNvPr id="8" name="TextBox 7"/>
          <p:cNvSpPr txBox="1"/>
          <p:nvPr/>
        </p:nvSpPr>
        <p:spPr>
          <a:xfrm>
            <a:off x="4374794" y="4709160"/>
            <a:ext cx="3350666" cy="1097280"/>
          </a:xfrm>
          <a:prstGeom prst="rect">
            <a:avLst/>
          </a:prstGeom>
          <a:noFill/>
        </p:spPr>
        <p:txBody>
          <a:bodyPr wrap="square" lIns="0" rIns="0" tIns="0" bIns="0" anchor="t">
            <a:noAutofit/>
          </a:bodyPr>
          <a:lstStyle/>
          <a:p>
            <a:pPr algn="l">
              <a:lnSpc>
                <a:spcPct val="108000"/>
              </a:lnSpc>
              <a:spcAft>
                <a:spcPts val="0"/>
              </a:spcAft>
            </a:pPr>
            <a:r>
              <a:rPr sz="1400" b="0">
                <a:solidFill>
                  <a:srgbClr val="D2D2D2"/>
                </a:solidFill>
                <a:latin typeface="Calibri"/>
              </a:rPr>
              <a:t>On IoU, Grad-CAM++ beats the original baseline (0.28 against 0.22) but sits well below Hermoza et al. (0.43), a method built to localise.</a:t>
            </a:r>
            <a:endParaRPr sz="1400"/>
          </a:p>
        </p:txBody>
      </p:sp>
      <p:sp>
        <p:nvSpPr>
          <p:cNvPr id="9" name="TextBox 8"/>
          <p:cNvSpPr txBox="1"/>
          <p:nvPr/>
        </p:nvSpPr>
        <p:spPr>
          <a:xfrm>
            <a:off x="8200948" y="4709160"/>
            <a:ext cx="3350666" cy="1097280"/>
          </a:xfrm>
          <a:prstGeom prst="rect">
            <a:avLst/>
          </a:prstGeom>
          <a:noFill/>
        </p:spPr>
        <p:txBody>
          <a:bodyPr wrap="square" lIns="0" rIns="0" tIns="0" bIns="0" anchor="t">
            <a:noAutofit/>
          </a:bodyPr>
          <a:lstStyle/>
          <a:p>
            <a:pPr algn="l">
              <a:lnSpc>
                <a:spcPct val="108000"/>
              </a:lnSpc>
              <a:spcAft>
                <a:spcPts val="0"/>
              </a:spcAft>
            </a:pPr>
            <a:r>
              <a:rPr sz="1400" b="0">
                <a:solidFill>
                  <a:srgbClr val="D2D2D2"/>
                </a:solidFill>
                <a:latin typeface="Calibri"/>
              </a:rPr>
              <a:t>Most of that gap is cardiomegaly (0.16 against 0.99). Our box comes from the hottest 5% of the map, much smaller than an enlarged heart.</a:t>
            </a:r>
            <a:endParaRPr sz="1400"/>
          </a:p>
        </p:txBody>
      </p:sp>
      <p:sp>
        <p:nvSpPr>
          <p:cNvPr id="10" name="TextBox 9"/>
          <p:cNvSpPr txBox="1"/>
          <p:nvPr/>
        </p:nvSpPr>
        <p:spPr>
          <a:xfrm>
            <a:off x="548640" y="5943600"/>
            <a:ext cx="11094415" cy="365760"/>
          </a:xfrm>
          <a:prstGeom prst="rect">
            <a:avLst/>
          </a:prstGeom>
          <a:noFill/>
        </p:spPr>
        <p:txBody>
          <a:bodyPr wrap="square" lIns="0" rIns="0" tIns="0" bIns="0" anchor="t">
            <a:noAutofit/>
          </a:bodyPr>
          <a:lstStyle/>
          <a:p>
            <a:pPr algn="l">
              <a:lnSpc>
                <a:spcPct val="105000"/>
              </a:lnSpc>
              <a:spcAft>
                <a:spcPts val="0"/>
              </a:spcAft>
            </a:pPr>
            <a:r>
              <a:rPr sz="1200" b="0">
                <a:solidFill>
                  <a:srgbClr val="8F8F8F"/>
                </a:solidFill>
                <a:latin typeface="Calibri"/>
              </a:rPr>
              <a:t>Not like for like: Wang et al. can place several boxes on one image and count the wrong ones separately, while we place one.</a:t>
            </a:r>
            <a:endParaRPr sz="12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EXAMPLES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Four test images, picked at random</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24</a:t>
            </a:r>
            <a:endParaRPr sz="1000"/>
          </a:p>
        </p:txBody>
      </p:sp>
      <p:pic>
        <p:nvPicPr>
          <p:cNvPr id="6" name="Picture 5" descr="00027726_012_Effusion_cam.jpg"/>
          <p:cNvPicPr>
            <a:picLocks noChangeAspect="1"/>
          </p:cNvPicPr>
          <p:nvPr/>
        </p:nvPicPr>
        <p:blipFill>
          <a:blip r:embed="rId3"/>
          <a:stretch>
            <a:fillRect/>
          </a:stretch>
        </p:blipFill>
        <p:spPr>
          <a:xfrm>
            <a:off x="548640" y="1554480"/>
            <a:ext cx="2560320" cy="2560320"/>
          </a:xfrm>
          <a:prstGeom prst="rect">
            <a:avLst/>
          </a:prstGeom>
        </p:spPr>
      </p:pic>
      <p:sp>
        <p:nvSpPr>
          <p:cNvPr id="7" name="TextBox 6"/>
          <p:cNvSpPr txBox="1"/>
          <p:nvPr/>
        </p:nvSpPr>
        <p:spPr>
          <a:xfrm>
            <a:off x="548640" y="4224528"/>
            <a:ext cx="2560320" cy="1463040"/>
          </a:xfrm>
          <a:prstGeom prst="rect">
            <a:avLst/>
          </a:prstGeom>
          <a:noFill/>
        </p:spPr>
        <p:txBody>
          <a:bodyPr wrap="square" lIns="0" rIns="0" tIns="0" bIns="0" anchor="t">
            <a:noAutofit/>
          </a:bodyPr>
          <a:lstStyle/>
          <a:p>
            <a:pPr algn="l">
              <a:lnSpc>
                <a:spcPct val="100000"/>
              </a:lnSpc>
              <a:spcAft>
                <a:spcPts val="400"/>
              </a:spcAft>
            </a:pPr>
            <a:r>
              <a:rPr sz="1100" b="0">
                <a:solidFill>
                  <a:srgbClr val="8F8F8F"/>
                </a:solidFill>
                <a:latin typeface="Calibri"/>
              </a:rPr>
              <a:t>00027726_012  ·  NIH label: Infiltration</a:t>
            </a:r>
            <a:endParaRPr sz="1100"/>
          </a:p>
          <a:p>
            <a:pPr algn="l">
              <a:lnSpc>
                <a:spcPct val="100000"/>
              </a:lnSpc>
              <a:spcAft>
                <a:spcPts val="100"/>
              </a:spcAft>
            </a:pPr>
            <a:r>
              <a:rPr sz="1900" b="1">
                <a:solidFill>
                  <a:srgbClr val="FFFFFF"/>
                </a:solidFill>
                <a:latin typeface="Calibri"/>
              </a:rPr>
              <a:t>Effusion 0.73</a:t>
            </a:r>
            <a:endParaRPr sz="1900"/>
          </a:p>
          <a:p>
            <a:pPr algn="l">
              <a:lnSpc>
                <a:spcPct val="100000"/>
              </a:lnSpc>
              <a:spcAft>
                <a:spcPts val="500"/>
              </a:spcAft>
            </a:pPr>
            <a:r>
              <a:rPr sz="1200" b="0">
                <a:solidFill>
                  <a:srgbClr val="8F8F8F"/>
                </a:solidFill>
                <a:latin typeface="Calibri"/>
              </a:rPr>
              <a:t>next: Infiltration 0.57</a:t>
            </a:r>
            <a:endParaRPr sz="1200"/>
          </a:p>
          <a:p>
            <a:pPr algn="l">
              <a:lnSpc>
                <a:spcPct val="100000"/>
              </a:lnSpc>
              <a:spcAft>
                <a:spcPts val="0"/>
              </a:spcAft>
            </a:pPr>
            <a:r>
              <a:rPr sz="1300" b="0">
                <a:solidFill>
                  <a:srgbClr val="D2D2D2"/>
                </a:solidFill>
                <a:latin typeface="Calibri"/>
              </a:rPr>
              <a:t>evidence: centre, middle third</a:t>
            </a:r>
            <a:endParaRPr sz="1300"/>
          </a:p>
        </p:txBody>
      </p:sp>
      <p:pic>
        <p:nvPicPr>
          <p:cNvPr id="8" name="Picture 7" descr="00001900_005_Atelectasis_cam.jpg"/>
          <p:cNvPicPr>
            <a:picLocks noChangeAspect="1"/>
          </p:cNvPicPr>
          <p:nvPr/>
        </p:nvPicPr>
        <p:blipFill>
          <a:blip r:embed="rId4"/>
          <a:stretch>
            <a:fillRect/>
          </a:stretch>
        </p:blipFill>
        <p:spPr>
          <a:xfrm>
            <a:off x="3393338" y="1554480"/>
            <a:ext cx="2560320" cy="2560320"/>
          </a:xfrm>
          <a:prstGeom prst="rect">
            <a:avLst/>
          </a:prstGeom>
        </p:spPr>
      </p:pic>
      <p:sp>
        <p:nvSpPr>
          <p:cNvPr id="9" name="TextBox 8"/>
          <p:cNvSpPr txBox="1"/>
          <p:nvPr/>
        </p:nvSpPr>
        <p:spPr>
          <a:xfrm>
            <a:off x="3393338" y="4224528"/>
            <a:ext cx="2560320" cy="1463040"/>
          </a:xfrm>
          <a:prstGeom prst="rect">
            <a:avLst/>
          </a:prstGeom>
          <a:noFill/>
        </p:spPr>
        <p:txBody>
          <a:bodyPr wrap="square" lIns="0" rIns="0" tIns="0" bIns="0" anchor="t">
            <a:noAutofit/>
          </a:bodyPr>
          <a:lstStyle/>
          <a:p>
            <a:pPr algn="l">
              <a:lnSpc>
                <a:spcPct val="100000"/>
              </a:lnSpc>
              <a:spcAft>
                <a:spcPts val="400"/>
              </a:spcAft>
            </a:pPr>
            <a:r>
              <a:rPr sz="1100" b="0">
                <a:solidFill>
                  <a:srgbClr val="8F8F8F"/>
                </a:solidFill>
                <a:latin typeface="Calibri"/>
              </a:rPr>
              <a:t>00001900_005  ·  NIH label: No Finding</a:t>
            </a:r>
            <a:endParaRPr sz="1100"/>
          </a:p>
          <a:p>
            <a:pPr algn="l">
              <a:lnSpc>
                <a:spcPct val="100000"/>
              </a:lnSpc>
              <a:spcAft>
                <a:spcPts val="100"/>
              </a:spcAft>
            </a:pPr>
            <a:r>
              <a:rPr sz="1900" b="1">
                <a:solidFill>
                  <a:srgbClr val="FFFFFF"/>
                </a:solidFill>
                <a:latin typeface="Calibri"/>
              </a:rPr>
              <a:t>Atelectasis 0.18</a:t>
            </a:r>
            <a:endParaRPr sz="1900"/>
          </a:p>
          <a:p>
            <a:pPr algn="l">
              <a:lnSpc>
                <a:spcPct val="100000"/>
              </a:lnSpc>
              <a:spcAft>
                <a:spcPts val="500"/>
              </a:spcAft>
            </a:pPr>
            <a:r>
              <a:rPr sz="1200" b="0">
                <a:solidFill>
                  <a:srgbClr val="8F8F8F"/>
                </a:solidFill>
                <a:latin typeface="Calibri"/>
              </a:rPr>
              <a:t>next: Infiltration 0.12</a:t>
            </a:r>
            <a:endParaRPr sz="1200"/>
          </a:p>
          <a:p>
            <a:pPr algn="l">
              <a:lnSpc>
                <a:spcPct val="100000"/>
              </a:lnSpc>
              <a:spcAft>
                <a:spcPts val="0"/>
              </a:spcAft>
            </a:pPr>
            <a:r>
              <a:rPr sz="1300" b="0">
                <a:solidFill>
                  <a:srgbClr val="D2D2D2"/>
                </a:solidFill>
                <a:latin typeface="Calibri"/>
              </a:rPr>
              <a:t>evidence: right middle zone</a:t>
            </a:r>
            <a:endParaRPr sz="1300"/>
          </a:p>
        </p:txBody>
      </p:sp>
      <p:pic>
        <p:nvPicPr>
          <p:cNvPr id="10" name="Picture 9" descr="00028462_000_Infiltration_cam.jpg"/>
          <p:cNvPicPr>
            <a:picLocks noChangeAspect="1"/>
          </p:cNvPicPr>
          <p:nvPr/>
        </p:nvPicPr>
        <p:blipFill>
          <a:blip r:embed="rId5"/>
          <a:stretch>
            <a:fillRect/>
          </a:stretch>
        </p:blipFill>
        <p:spPr>
          <a:xfrm>
            <a:off x="6238036" y="1554480"/>
            <a:ext cx="2560320" cy="2560320"/>
          </a:xfrm>
          <a:prstGeom prst="rect">
            <a:avLst/>
          </a:prstGeom>
        </p:spPr>
      </p:pic>
      <p:sp>
        <p:nvSpPr>
          <p:cNvPr id="11" name="Rectangle 10"/>
          <p:cNvSpPr/>
          <p:nvPr/>
        </p:nvSpPr>
        <p:spPr>
          <a:xfrm>
            <a:off x="6238036" y="1554480"/>
            <a:ext cx="2560320" cy="2560320"/>
          </a:xfrm>
          <a:prstGeom prst="rect">
            <a:avLst/>
          </a:prstGeom>
          <a:noFill/>
          <a:ln w="28575">
            <a:solidFill>
              <a:srgbClr val="F29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38036" y="4224528"/>
            <a:ext cx="2560320" cy="1463040"/>
          </a:xfrm>
          <a:prstGeom prst="rect">
            <a:avLst/>
          </a:prstGeom>
          <a:noFill/>
        </p:spPr>
        <p:txBody>
          <a:bodyPr wrap="square" lIns="0" rIns="0" tIns="0" bIns="0" anchor="t">
            <a:noAutofit/>
          </a:bodyPr>
          <a:lstStyle/>
          <a:p>
            <a:pPr algn="l">
              <a:lnSpc>
                <a:spcPct val="100000"/>
              </a:lnSpc>
              <a:spcAft>
                <a:spcPts val="400"/>
              </a:spcAft>
            </a:pPr>
            <a:r>
              <a:rPr sz="1100" b="0">
                <a:solidFill>
                  <a:srgbClr val="8F8F8F"/>
                </a:solidFill>
                <a:latin typeface="Calibri"/>
              </a:rPr>
              <a:t>00028462_000  ·  NIH label: No Finding</a:t>
            </a:r>
            <a:endParaRPr sz="1100"/>
          </a:p>
          <a:p>
            <a:pPr algn="l">
              <a:lnSpc>
                <a:spcPct val="100000"/>
              </a:lnSpc>
              <a:spcAft>
                <a:spcPts val="100"/>
              </a:spcAft>
            </a:pPr>
            <a:r>
              <a:rPr sz="1900" b="1">
                <a:solidFill>
                  <a:srgbClr val="FFFFFF"/>
                </a:solidFill>
                <a:latin typeface="Calibri"/>
              </a:rPr>
              <a:t>Infiltration 0.33</a:t>
            </a:r>
            <a:endParaRPr sz="1900"/>
          </a:p>
          <a:p>
            <a:pPr algn="l">
              <a:lnSpc>
                <a:spcPct val="100000"/>
              </a:lnSpc>
              <a:spcAft>
                <a:spcPts val="500"/>
              </a:spcAft>
            </a:pPr>
            <a:r>
              <a:rPr sz="1200" b="0">
                <a:solidFill>
                  <a:srgbClr val="8F8F8F"/>
                </a:solidFill>
                <a:latin typeface="Calibri"/>
              </a:rPr>
              <a:t>next: Pleural thickening 0.09</a:t>
            </a:r>
            <a:endParaRPr sz="1200"/>
          </a:p>
          <a:p>
            <a:pPr algn="l">
              <a:lnSpc>
                <a:spcPct val="100000"/>
              </a:lnSpc>
              <a:spcAft>
                <a:spcPts val="0"/>
              </a:spcAft>
            </a:pPr>
            <a:r>
              <a:rPr sz="1300" b="0">
                <a:solidFill>
                  <a:srgbClr val="F2994A"/>
                </a:solidFill>
                <a:latin typeface="Calibri"/>
              </a:rPr>
              <a:t>evidence: left shoulder, outside the lungs</a:t>
            </a:r>
            <a:endParaRPr sz="1300"/>
          </a:p>
        </p:txBody>
      </p:sp>
      <p:pic>
        <p:nvPicPr>
          <p:cNvPr id="13" name="Picture 12" descr="00015530_062_Infiltration_cam.jpg"/>
          <p:cNvPicPr>
            <a:picLocks noChangeAspect="1"/>
          </p:cNvPicPr>
          <p:nvPr/>
        </p:nvPicPr>
        <p:blipFill>
          <a:blip r:embed="rId6"/>
          <a:stretch>
            <a:fillRect/>
          </a:stretch>
        </p:blipFill>
        <p:spPr>
          <a:xfrm>
            <a:off x="9082735" y="1554480"/>
            <a:ext cx="2560320" cy="2560320"/>
          </a:xfrm>
          <a:prstGeom prst="rect">
            <a:avLst/>
          </a:prstGeom>
        </p:spPr>
      </p:pic>
      <p:sp>
        <p:nvSpPr>
          <p:cNvPr id="14" name="TextBox 13"/>
          <p:cNvSpPr txBox="1"/>
          <p:nvPr/>
        </p:nvSpPr>
        <p:spPr>
          <a:xfrm>
            <a:off x="9082735" y="4224528"/>
            <a:ext cx="2560320" cy="1463040"/>
          </a:xfrm>
          <a:prstGeom prst="rect">
            <a:avLst/>
          </a:prstGeom>
          <a:noFill/>
        </p:spPr>
        <p:txBody>
          <a:bodyPr wrap="square" lIns="0" rIns="0" tIns="0" bIns="0" anchor="t">
            <a:noAutofit/>
          </a:bodyPr>
          <a:lstStyle/>
          <a:p>
            <a:pPr algn="l">
              <a:lnSpc>
                <a:spcPct val="100000"/>
              </a:lnSpc>
              <a:spcAft>
                <a:spcPts val="400"/>
              </a:spcAft>
            </a:pPr>
            <a:r>
              <a:rPr sz="1100" b="0">
                <a:solidFill>
                  <a:srgbClr val="8F8F8F"/>
                </a:solidFill>
                <a:latin typeface="Calibri"/>
              </a:rPr>
              <a:t>00015530_062  ·  NIH label: No Finding</a:t>
            </a:r>
            <a:endParaRPr sz="1100"/>
          </a:p>
          <a:p>
            <a:pPr algn="l">
              <a:lnSpc>
                <a:spcPct val="100000"/>
              </a:lnSpc>
              <a:spcAft>
                <a:spcPts val="100"/>
              </a:spcAft>
            </a:pPr>
            <a:r>
              <a:rPr sz="1900" b="1">
                <a:solidFill>
                  <a:srgbClr val="FFFFFF"/>
                </a:solidFill>
                <a:latin typeface="Calibri"/>
              </a:rPr>
              <a:t>Infiltration 0.64</a:t>
            </a:r>
            <a:endParaRPr sz="1900"/>
          </a:p>
          <a:p>
            <a:pPr algn="l">
              <a:lnSpc>
                <a:spcPct val="100000"/>
              </a:lnSpc>
              <a:spcAft>
                <a:spcPts val="500"/>
              </a:spcAft>
            </a:pPr>
            <a:r>
              <a:rPr sz="1200" b="0">
                <a:solidFill>
                  <a:srgbClr val="8F8F8F"/>
                </a:solidFill>
                <a:latin typeface="Calibri"/>
              </a:rPr>
              <a:t>next: Pneumothorax 0.46</a:t>
            </a:r>
            <a:endParaRPr sz="1200"/>
          </a:p>
          <a:p>
            <a:pPr algn="l">
              <a:lnSpc>
                <a:spcPct val="100000"/>
              </a:lnSpc>
              <a:spcAft>
                <a:spcPts val="0"/>
              </a:spcAft>
            </a:pPr>
            <a:r>
              <a:rPr sz="1300" b="0">
                <a:solidFill>
                  <a:srgbClr val="D2D2D2"/>
                </a:solidFill>
                <a:latin typeface="Calibri"/>
              </a:rPr>
              <a:t>evidence: left middle zone</a:t>
            </a:r>
            <a:endParaRPr sz="1300"/>
          </a:p>
        </p:txBody>
      </p:sp>
      <p:sp>
        <p:nvSpPr>
          <p:cNvPr id="15" name="TextBox 14"/>
          <p:cNvSpPr txBox="1"/>
          <p:nvPr/>
        </p:nvSpPr>
        <p:spPr>
          <a:xfrm>
            <a:off x="548640" y="5760720"/>
            <a:ext cx="11094415" cy="548640"/>
          </a:xfrm>
          <a:prstGeom prst="rect">
            <a:avLst/>
          </a:prstGeom>
          <a:noFill/>
        </p:spPr>
        <p:txBody>
          <a:bodyPr wrap="square" lIns="0" rIns="0" tIns="0" bIns="0" anchor="t">
            <a:noAutofit/>
          </a:bodyPr>
          <a:lstStyle/>
          <a:p>
            <a:pPr algn="l">
              <a:lnSpc>
                <a:spcPct val="105000"/>
              </a:lnSpc>
              <a:spcAft>
                <a:spcPts val="0"/>
              </a:spcAft>
            </a:pPr>
            <a:r>
              <a:rPr sz="1200" b="0">
                <a:solidFill>
                  <a:srgbClr val="8F8F8F"/>
                </a:solidFill>
                <a:latin typeface="Calibri"/>
              </a:rPr>
              <a:t>CAM maps from the seed 1337 model. Zones come from position in the image, not anatomy. The labels were text-mined and the probabilities are not calibrated, so neither the label nor 0.5 settles who is right.</a:t>
            </a:r>
            <a:endParaRPr sz="12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BUGS WE HIT</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What the data and the machine threw at us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25</a:t>
            </a:r>
            <a:endParaRPr sz="1000"/>
          </a:p>
        </p:txBody>
      </p:sp>
      <p:graphicFrame>
        <p:nvGraphicFramePr>
          <p:cNvPr id="6" name="Table 5"/>
          <p:cNvGraphicFramePr>
            <a:graphicFrameLocks noGrp="1"/>
          </p:cNvGraphicFramePr>
          <p:nvPr/>
        </p:nvGraphicFramePr>
        <p:xfrm>
          <a:off x="548640" y="1554480"/>
          <a:ext cx="11094415" cy="4498848"/>
        </p:xfrm>
        <a:graphic>
          <a:graphicData uri="http://schemas.openxmlformats.org/drawingml/2006/table">
            <a:tbl>
              <a:tblPr firstRow="0" bandRow="0">
                <a:tableStyleId>{2D5ABB26-0587-4C30-8999-92F81FD0307C}</a:tableStyleId>
              </a:tblPr>
              <a:tblGrid>
                <a:gridCol w="3657600"/>
                <a:gridCol w="7436815"/>
              </a:tblGrid>
              <a:tr h="384048">
                <a:tc>
                  <a:txBody>
                    <a:bodyPr wrap="square"/>
                    <a:lstStyle/>
                    <a:p>
                      <a:pPr algn="l">
                        <a:lnSpc>
                          <a:spcPct val="105000"/>
                        </a:lnSpc>
                        <a:spcAft>
                          <a:spcPts val="0"/>
                        </a:spcAft>
                      </a:pPr>
                      <a:r>
                        <a:rPr sz="1200" b="0">
                          <a:solidFill>
                            <a:srgbClr val="8F8F8F"/>
                          </a:solidFill>
                          <a:latin typeface="Calibri"/>
                        </a:rPr>
                        <a:t>what happened</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what we changed</a:t>
                      </a:r>
                      <a:endParaRPr sz="1200"/>
                    </a:p>
                  </a:txBody>
                  <a:tcPr marL="73152" marR="73152" marT="27432" marB="27432" anchor="ctr">
                    <a:lnL w="0">
                      <a:noFill/>
                    </a:lnL>
                    <a:lnR w="0">
                      <a:noFill/>
                    </a:lnR>
                    <a:lnT w="0">
                      <a:noFill/>
                    </a:lnT>
                    <a:lnB w="12700">
                      <a:solidFill>
                        <a:srgbClr val="5C5C5C"/>
                      </a:solidFill>
                    </a:lnB>
                    <a:noFill/>
                  </a:tcPr>
                </a:tc>
              </a:tr>
              <a:tr h="822960">
                <a:tc>
                  <a:txBody>
                    <a:bodyPr wrap="square"/>
                    <a:lstStyle/>
                    <a:p>
                      <a:pPr algn="l">
                        <a:lnSpc>
                          <a:spcPct val="105000"/>
                        </a:lnSpc>
                        <a:spcAft>
                          <a:spcPts val="0"/>
                        </a:spcAft>
                      </a:pPr>
                      <a:r>
                        <a:rPr sz="1500" b="1">
                          <a:solidFill>
                            <a:srgbClr val="FFFFFF"/>
                          </a:solidFill>
                          <a:latin typeface="Calibri"/>
                        </a:rPr>
                        <a:t>The PC slept for nine hours mid-download, then came three power cuts</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Downloads resume from partial files. Training saves weights, optimiser, schedule and random state every epoch and carries on after a restart. Tested by killing a run on purpose.</a:t>
                      </a:r>
                      <a:endParaRPr sz="1400"/>
                    </a:p>
                  </a:txBody>
                  <a:tcPr marL="73152" marR="73152" marT="27432" marB="27432" anchor="ctr">
                    <a:lnL w="0">
                      <a:noFill/>
                    </a:lnL>
                    <a:lnR w="0">
                      <a:noFill/>
                    </a:lnR>
                    <a:lnT w="0">
                      <a:noFill/>
                    </a:lnT>
                    <a:lnB w="9525">
                      <a:solidFill>
                        <a:srgbClr val="2E2E2E"/>
                      </a:solidFill>
                    </a:lnB>
                    <a:noFill/>
                  </a:tcPr>
                </a:tc>
              </a:tr>
              <a:tr h="822960">
                <a:tc>
                  <a:txBody>
                    <a:bodyPr wrap="square"/>
                    <a:lstStyle/>
                    <a:p>
                      <a:pPr algn="l">
                        <a:lnSpc>
                          <a:spcPct val="105000"/>
                        </a:lnSpc>
                        <a:spcAft>
                          <a:spcPts val="0"/>
                        </a:spcAft>
                      </a:pPr>
                      <a:r>
                        <a:rPr sz="1500" b="1">
                          <a:solidFill>
                            <a:srgbClr val="FFFFFF"/>
                          </a:solidFill>
                          <a:latin typeface="Calibri"/>
                        </a:rPr>
                        <a:t>NIH's Box folder began answering 404 part-way through the 45 GB download</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Switched to Box's direct link for each archive, after checking every size against NIH's own listing and that downloads could resume.</a:t>
                      </a:r>
                      <a:endParaRPr sz="1400"/>
                    </a:p>
                  </a:txBody>
                  <a:tcPr marL="73152" marR="73152" marT="27432" marB="27432" anchor="ctr">
                    <a:lnL w="0">
                      <a:noFill/>
                    </a:lnL>
                    <a:lnR w="0">
                      <a:noFill/>
                    </a:lnR>
                    <a:lnT w="0">
                      <a:noFill/>
                    </a:lnT>
                    <a:lnB w="9525">
                      <a:solidFill>
                        <a:srgbClr val="2E2E2E"/>
                      </a:solidFill>
                    </a:lnB>
                    <a:noFill/>
                  </a:tcPr>
                </a:tc>
              </a:tr>
              <a:tr h="822960">
                <a:tc>
                  <a:txBody>
                    <a:bodyPr wrap="square"/>
                    <a:lstStyle/>
                    <a:p>
                      <a:pPr algn="l">
                        <a:lnSpc>
                          <a:spcPct val="105000"/>
                        </a:lnSpc>
                        <a:spcAft>
                          <a:spcPts val="0"/>
                        </a:spcAft>
                      </a:pPr>
                      <a:r>
                        <a:rPr sz="1500" b="1">
                          <a:solidFill>
                            <a:srgbClr val="FFFFFF"/>
                          </a:solidFill>
                          <a:latin typeface="Calibri"/>
                        </a:rPr>
                        <a:t>NIH's box file says Infiltrate, its label file says Infiltration</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A plain match on names would silently drop those 123 boxes. Added the alias, and a check that stops on any label it cannot map.</a:t>
                      </a:r>
                      <a:endParaRPr sz="1400"/>
                    </a:p>
                  </a:txBody>
                  <a:tcPr marL="73152" marR="73152" marT="27432" marB="27432" anchor="ctr">
                    <a:lnL w="0">
                      <a:noFill/>
                    </a:lnL>
                    <a:lnR w="0">
                      <a:noFill/>
                    </a:lnR>
                    <a:lnT w="0">
                      <a:noFill/>
                    </a:lnT>
                    <a:lnB w="9525">
                      <a:solidFill>
                        <a:srgbClr val="2E2E2E"/>
                      </a:solidFill>
                    </a:lnB>
                    <a:noFill/>
                  </a:tcPr>
                </a:tc>
              </a:tr>
              <a:tr h="822960">
                <a:tc>
                  <a:txBody>
                    <a:bodyPr wrap="square"/>
                    <a:lstStyle/>
                    <a:p>
                      <a:pPr algn="l">
                        <a:lnSpc>
                          <a:spcPct val="105000"/>
                        </a:lnSpc>
                        <a:spcAft>
                          <a:spcPts val="0"/>
                        </a:spcAft>
                      </a:pPr>
                      <a:r>
                        <a:rPr sz="1500" b="1">
                          <a:solidFill>
                            <a:srgbClr val="FFFFFF"/>
                          </a:solidFill>
                          <a:latin typeface="Calibri"/>
                        </a:rPr>
                        <a:t>Batch 48 ran out of GPU memory without any error</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On Windows the NVIDIA driver spills into system RAM instead of failing, and training ran over 20 times slower. We stayed at batch 32.</a:t>
                      </a:r>
                      <a:endParaRPr sz="1400"/>
                    </a:p>
                  </a:txBody>
                  <a:tcPr marL="73152" marR="73152" marT="27432" marB="27432" anchor="ctr">
                    <a:lnL w="0">
                      <a:noFill/>
                    </a:lnL>
                    <a:lnR w="0">
                      <a:noFill/>
                    </a:lnR>
                    <a:lnT w="0">
                      <a:noFill/>
                    </a:lnT>
                    <a:lnB w="9525">
                      <a:solidFill>
                        <a:srgbClr val="2E2E2E"/>
                      </a:solidFill>
                    </a:lnB>
                    <a:noFill/>
                  </a:tcPr>
                </a:tc>
              </a:tr>
              <a:tr h="822960">
                <a:tc>
                  <a:txBody>
                    <a:bodyPr wrap="square"/>
                    <a:lstStyle/>
                    <a:p>
                      <a:pPr algn="l">
                        <a:lnSpc>
                          <a:spcPct val="105000"/>
                        </a:lnSpc>
                        <a:spcAft>
                          <a:spcPts val="0"/>
                        </a:spcAft>
                      </a:pPr>
                      <a:r>
                        <a:rPr sz="1500" b="1">
                          <a:solidFill>
                            <a:srgbClr val="FFFFFF"/>
                          </a:solidFill>
                          <a:latin typeface="Calibri"/>
                        </a:rPr>
                        <a:t>The test pass crashed right after training finished</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Train and validation loaders kept their workers alive: 27 Python processes, 95.9 of 96 GB of memory committed. The weights were safe. Loaders are now freed first, and one-off passes use fewer workers.</a:t>
                      </a:r>
                      <a:endParaRPr sz="1400"/>
                    </a:p>
                  </a:txBody>
                  <a:tcPr marL="73152" marR="73152" marT="27432" marB="27432" anchor="ctr">
                    <a:lnL w="0">
                      <a:noFill/>
                    </a:lnL>
                    <a:lnR w="0">
                      <a:noFill/>
                    </a:lnR>
                    <a:lnT w="0">
                      <a:noFill/>
                    </a:lnT>
                    <a:lnB w="9525">
                      <a:solidFill>
                        <a:srgbClr val="2E2E2E"/>
                      </a:solidFill>
                    </a:lnB>
                    <a:no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BUGS WE HIT</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Traps in checking the explanations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26</a:t>
            </a:r>
            <a:endParaRPr sz="1000"/>
          </a:p>
        </p:txBody>
      </p:sp>
      <p:graphicFrame>
        <p:nvGraphicFramePr>
          <p:cNvPr id="6" name="Table 5"/>
          <p:cNvGraphicFramePr>
            <a:graphicFrameLocks noGrp="1"/>
          </p:cNvGraphicFramePr>
          <p:nvPr/>
        </p:nvGraphicFramePr>
        <p:xfrm>
          <a:off x="548640" y="1554480"/>
          <a:ext cx="11094415" cy="3456432"/>
        </p:xfrm>
        <a:graphic>
          <a:graphicData uri="http://schemas.openxmlformats.org/drawingml/2006/table">
            <a:tbl>
              <a:tblPr firstRow="0" bandRow="0">
                <a:tableStyleId>{2D5ABB26-0587-4C30-8999-92F81FD0307C}</a:tableStyleId>
              </a:tblPr>
              <a:tblGrid>
                <a:gridCol w="3657600"/>
                <a:gridCol w="7436815"/>
              </a:tblGrid>
              <a:tr h="384048">
                <a:tc>
                  <a:txBody>
                    <a:bodyPr wrap="square"/>
                    <a:lstStyle/>
                    <a:p>
                      <a:pPr algn="l">
                        <a:lnSpc>
                          <a:spcPct val="105000"/>
                        </a:lnSpc>
                        <a:spcAft>
                          <a:spcPts val="0"/>
                        </a:spcAft>
                      </a:pPr>
                      <a:r>
                        <a:rPr sz="1200" b="0">
                          <a:solidFill>
                            <a:srgbClr val="8F8F8F"/>
                          </a:solidFill>
                          <a:latin typeface="Calibri"/>
                        </a:rPr>
                        <a:t>what happened</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what we changed</a:t>
                      </a:r>
                      <a:endParaRPr sz="1200"/>
                    </a:p>
                  </a:txBody>
                  <a:tcPr marL="73152" marR="73152" marT="27432" marB="27432" anchor="ctr">
                    <a:lnL w="0">
                      <a:noFill/>
                    </a:lnL>
                    <a:lnR w="0">
                      <a:noFill/>
                    </a:lnR>
                    <a:lnT w="0">
                      <a:noFill/>
                    </a:lnT>
                    <a:lnB w="12700">
                      <a:solidFill>
                        <a:srgbClr val="5C5C5C"/>
                      </a:solidFill>
                    </a:lnB>
                    <a:noFill/>
                  </a:tcPr>
                </a:tc>
              </a:tr>
              <a:tr h="1024128">
                <a:tc>
                  <a:txBody>
                    <a:bodyPr wrap="square"/>
                    <a:lstStyle/>
                    <a:p>
                      <a:pPr algn="l">
                        <a:lnSpc>
                          <a:spcPct val="105000"/>
                        </a:lnSpc>
                        <a:spcAft>
                          <a:spcPts val="0"/>
                        </a:spcAft>
                      </a:pPr>
                      <a:r>
                        <a:rPr sz="1600" b="1">
                          <a:solidFill>
                            <a:srgbClr val="FFFFFF"/>
                          </a:solidFill>
                          <a:latin typeface="Calibri"/>
                        </a:rPr>
                        <a:t>The randomisation check returned NaN for every method</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Scrambling a layer's weights leaves BatchNorm's running mean and variance alone, because they are not weights. Those stale statistics pushed activations to infinity across the network. They are now reset too, and 242 of 242 correlations come back finite.</a:t>
                      </a:r>
                      <a:endParaRPr sz="1500"/>
                    </a:p>
                  </a:txBody>
                  <a:tcPr marL="73152" marR="73152" marT="27432" marB="27432" anchor="ctr">
                    <a:lnL w="0">
                      <a:noFill/>
                    </a:lnL>
                    <a:lnR w="0">
                      <a:noFill/>
                    </a:lnR>
                    <a:lnT w="0">
                      <a:noFill/>
                    </a:lnT>
                    <a:lnB w="9525">
                      <a:solidFill>
                        <a:srgbClr val="2E2E2E"/>
                      </a:solidFill>
                    </a:lnB>
                    <a:noFill/>
                  </a:tcPr>
                </a:tc>
              </a:tr>
              <a:tr h="1024128">
                <a:tc>
                  <a:txBody>
                    <a:bodyPr wrap="square"/>
                    <a:lstStyle/>
                    <a:p>
                      <a:pPr algn="l">
                        <a:lnSpc>
                          <a:spcPct val="105000"/>
                        </a:lnSpc>
                        <a:spcAft>
                          <a:spcPts val="0"/>
                        </a:spcAft>
                      </a:pPr>
                      <a:r>
                        <a:rPr sz="1600" b="1">
                          <a:solidFill>
                            <a:srgbClr val="FFFFFF"/>
                          </a:solidFill>
                          <a:latin typeface="Calibri"/>
                        </a:rPr>
                        <a:t>EigenCAM crashed the whole faithfulness run</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Its SVD does not converge on a scrambled network, and one crash threw away the four methods that had worked. Methods now run independently, and a failure is recorded as a result.</a:t>
                      </a:r>
                      <a:endParaRPr sz="1500"/>
                    </a:p>
                  </a:txBody>
                  <a:tcPr marL="73152" marR="73152" marT="27432" marB="27432" anchor="ctr">
                    <a:lnL w="0">
                      <a:noFill/>
                    </a:lnL>
                    <a:lnR w="0">
                      <a:noFill/>
                    </a:lnR>
                    <a:lnT w="0">
                      <a:noFill/>
                    </a:lnT>
                    <a:lnB w="9525">
                      <a:solidFill>
                        <a:srgbClr val="2E2E2E"/>
                      </a:solidFill>
                    </a:lnB>
                    <a:noFill/>
                  </a:tcPr>
                </a:tc>
              </a:tr>
              <a:tr h="1024128">
                <a:tc>
                  <a:txBody>
                    <a:bodyPr wrap="square"/>
                    <a:lstStyle/>
                    <a:p>
                      <a:pPr algn="l">
                        <a:lnSpc>
                          <a:spcPct val="105000"/>
                        </a:lnSpc>
                        <a:spcAft>
                          <a:spcPts val="0"/>
                        </a:spcAft>
                      </a:pPr>
                      <a:r>
                        <a:rPr sz="1600" b="1">
                          <a:solidFill>
                            <a:srgbClr val="FFFFFF"/>
                          </a:solidFill>
                          <a:latin typeface="Calibri"/>
                        </a:rPr>
                        <a:t>Boxes drawn from Grad-CAM maps covered the whole X-ray</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Grad-CAM sets negative values to zero, so on a mostly empty map the 95th percentile is 0, and 'at or above the threshold' selects every pixel. The cut-off is now strict and a flat map gives no box.</a:t>
                      </a:r>
                      <a:endParaRPr sz="15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548640" y="5623560"/>
            <a:ext cx="11094415" cy="548640"/>
          </a:xfrm>
          <a:prstGeom prst="rect">
            <a:avLst/>
          </a:prstGeom>
          <a:noFill/>
        </p:spPr>
        <p:txBody>
          <a:bodyPr wrap="square" lIns="0" rIns="0" tIns="0" bIns="0" anchor="t">
            <a:noAutofit/>
          </a:bodyPr>
          <a:lstStyle/>
          <a:p>
            <a:pPr algn="l">
              <a:lnSpc>
                <a:spcPct val="105000"/>
              </a:lnSpc>
              <a:spcAft>
                <a:spcPts val="0"/>
              </a:spcAft>
            </a:pPr>
            <a:r>
              <a:rPr sz="1500" b="0">
                <a:solidFill>
                  <a:srgbClr val="FFFFFF"/>
                </a:solidFill>
                <a:latin typeface="Calibri"/>
              </a:rPr>
              <a:t>All three were caught before any number was reported. The third is the dangerous kind: its wrong numbers would have looked normal.</a:t>
            </a:r>
            <a:endParaRPr sz="150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OPEN PROBLEMS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What is still wrong</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27</a:t>
            </a:r>
            <a:endParaRPr sz="1000"/>
          </a:p>
        </p:txBody>
      </p:sp>
      <p:sp>
        <p:nvSpPr>
          <p:cNvPr id="6" name="Rectangle 5"/>
          <p:cNvSpPr/>
          <p:nvPr/>
        </p:nvSpPr>
        <p:spPr>
          <a:xfrm>
            <a:off x="548640" y="1673352"/>
            <a:ext cx="91440" cy="91440"/>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5090007" cy="384048"/>
          </a:xfrm>
          <a:prstGeom prst="rect">
            <a:avLst/>
          </a:prstGeom>
          <a:noFill/>
        </p:spPr>
        <p:txBody>
          <a:bodyPr wrap="square" lIns="0" rIns="0" tIns="0" bIns="0" anchor="t">
            <a:noAutofit/>
          </a:bodyPr>
          <a:lstStyle/>
          <a:p>
            <a:pPr algn="l">
              <a:lnSpc>
                <a:spcPct val="105000"/>
              </a:lnSpc>
              <a:spcAft>
                <a:spcPts val="0"/>
              </a:spcAft>
            </a:pPr>
            <a:r>
              <a:rPr sz="1900" b="1">
                <a:solidFill>
                  <a:srgbClr val="FFFFFF"/>
                </a:solidFill>
                <a:latin typeface="Calibri"/>
              </a:rPr>
              <a:t>Probabilities are not calibrated</a:t>
            </a:r>
            <a:endParaRPr sz="1900"/>
          </a:p>
        </p:txBody>
      </p:sp>
      <p:sp>
        <p:nvSpPr>
          <p:cNvPr id="8" name="TextBox 7"/>
          <p:cNvSpPr txBox="1"/>
          <p:nvPr/>
        </p:nvSpPr>
        <p:spPr>
          <a:xfrm>
            <a:off x="777240" y="2011680"/>
            <a:ext cx="5090007" cy="91440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Across the boxed findings, the median true positive scores anywhere from 0.24 to 0.67, so 0.5 means little. Ranking works: boxed cases sit at the 75th to 97th percentile.</a:t>
            </a:r>
            <a:endParaRPr sz="1500"/>
          </a:p>
        </p:txBody>
      </p:sp>
      <p:sp>
        <p:nvSpPr>
          <p:cNvPr id="9" name="Rectangle 8"/>
          <p:cNvSpPr/>
          <p:nvPr/>
        </p:nvSpPr>
        <p:spPr>
          <a:xfrm>
            <a:off x="6324447" y="1673352"/>
            <a:ext cx="91440" cy="91440"/>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600200"/>
            <a:ext cx="5090007" cy="384048"/>
          </a:xfrm>
          <a:prstGeom prst="rect">
            <a:avLst/>
          </a:prstGeom>
          <a:noFill/>
        </p:spPr>
        <p:txBody>
          <a:bodyPr wrap="square" lIns="0" rIns="0" tIns="0" bIns="0" anchor="t">
            <a:noAutofit/>
          </a:bodyPr>
          <a:lstStyle/>
          <a:p>
            <a:pPr algn="l">
              <a:lnSpc>
                <a:spcPct val="105000"/>
              </a:lnSpc>
              <a:spcAft>
                <a:spcPts val="0"/>
              </a:spcAft>
            </a:pPr>
            <a:r>
              <a:rPr sz="1900" b="1">
                <a:solidFill>
                  <a:srgbClr val="FFFFFF"/>
                </a:solidFill>
                <a:latin typeface="Calibri"/>
              </a:rPr>
              <a:t>Pneumonia is close to useless</a:t>
            </a:r>
            <a:endParaRPr sz="1900"/>
          </a:p>
        </p:txBody>
      </p:sp>
      <p:sp>
        <p:nvSpPr>
          <p:cNvPr id="11" name="TextBox 10"/>
          <p:cNvSpPr txBox="1"/>
          <p:nvPr/>
        </p:nvSpPr>
        <p:spPr>
          <a:xfrm>
            <a:off x="6553047" y="2011680"/>
            <a:ext cx="5090007" cy="91440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AUPRC 0.048 at 2.2% prevalence, about twice chance.</a:t>
            </a:r>
            <a:endParaRPr sz="1500"/>
          </a:p>
        </p:txBody>
      </p:sp>
      <p:sp>
        <p:nvSpPr>
          <p:cNvPr id="12" name="Rectangle 11"/>
          <p:cNvSpPr/>
          <p:nvPr/>
        </p:nvSpPr>
        <p:spPr>
          <a:xfrm>
            <a:off x="548640" y="3090672"/>
            <a:ext cx="91440" cy="91440"/>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17520"/>
            <a:ext cx="5090007" cy="384048"/>
          </a:xfrm>
          <a:prstGeom prst="rect">
            <a:avLst/>
          </a:prstGeom>
          <a:noFill/>
        </p:spPr>
        <p:txBody>
          <a:bodyPr wrap="square" lIns="0" rIns="0" tIns="0" bIns="0" anchor="t">
            <a:noAutofit/>
          </a:bodyPr>
          <a:lstStyle/>
          <a:p>
            <a:pPr algn="l">
              <a:lnSpc>
                <a:spcPct val="105000"/>
              </a:lnSpc>
              <a:spcAft>
                <a:spcPts val="0"/>
              </a:spcAft>
            </a:pPr>
            <a:r>
              <a:rPr sz="1900" b="1">
                <a:solidFill>
                  <a:srgbClr val="FFFFFF"/>
                </a:solidFill>
                <a:latin typeface="Calibri"/>
              </a:rPr>
              <a:t>Pneumothorax maps point elsewhere</a:t>
            </a:r>
            <a:endParaRPr sz="1900"/>
          </a:p>
        </p:txBody>
      </p:sp>
      <p:sp>
        <p:nvSpPr>
          <p:cNvPr id="14" name="TextBox 13"/>
          <p:cNvSpPr txBox="1"/>
          <p:nvPr/>
        </p:nvSpPr>
        <p:spPr>
          <a:xfrm>
            <a:off x="777240" y="3429000"/>
            <a:ext cx="5090007" cy="91440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Pointing game 0.22 even with the best method. First check: whether the maps land on chest drains.</a:t>
            </a:r>
            <a:endParaRPr sz="1500"/>
          </a:p>
        </p:txBody>
      </p:sp>
      <p:sp>
        <p:nvSpPr>
          <p:cNvPr id="15" name="Rectangle 14"/>
          <p:cNvSpPr/>
          <p:nvPr/>
        </p:nvSpPr>
        <p:spPr>
          <a:xfrm>
            <a:off x="6324447" y="3090672"/>
            <a:ext cx="91440" cy="91440"/>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53047" y="3017520"/>
            <a:ext cx="5090007" cy="384048"/>
          </a:xfrm>
          <a:prstGeom prst="rect">
            <a:avLst/>
          </a:prstGeom>
          <a:noFill/>
        </p:spPr>
        <p:txBody>
          <a:bodyPr wrap="square" lIns="0" rIns="0" tIns="0" bIns="0" anchor="t">
            <a:noAutofit/>
          </a:bodyPr>
          <a:lstStyle/>
          <a:p>
            <a:pPr algn="l">
              <a:lnSpc>
                <a:spcPct val="105000"/>
              </a:lnSpc>
              <a:spcAft>
                <a:spcPts val="0"/>
              </a:spcAft>
            </a:pPr>
            <a:r>
              <a:rPr sz="1900" b="1">
                <a:solidFill>
                  <a:srgbClr val="FFFFFF"/>
                </a:solidFill>
                <a:latin typeface="Calibri"/>
              </a:rPr>
              <a:t>A possible shortcut</a:t>
            </a:r>
            <a:endParaRPr sz="1900"/>
          </a:p>
        </p:txBody>
      </p:sp>
      <p:sp>
        <p:nvSpPr>
          <p:cNvPr id="17" name="TextBox 16"/>
          <p:cNvSpPr txBox="1"/>
          <p:nvPr/>
        </p:nvSpPr>
        <p:spPr>
          <a:xfrm>
            <a:off x="6553047" y="3429000"/>
            <a:ext cx="5090007" cy="91440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One of four random images puts its evidence on the shoulder. One image proves nothing; it needs a check over the whole test set.</a:t>
            </a:r>
            <a:endParaRPr sz="1500"/>
          </a:p>
        </p:txBody>
      </p:sp>
      <p:sp>
        <p:nvSpPr>
          <p:cNvPr id="18" name="Rectangle 17"/>
          <p:cNvSpPr/>
          <p:nvPr/>
        </p:nvSpPr>
        <p:spPr>
          <a:xfrm>
            <a:off x="548640" y="4507992"/>
            <a:ext cx="91440" cy="91440"/>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434840"/>
            <a:ext cx="5090007" cy="384048"/>
          </a:xfrm>
          <a:prstGeom prst="rect">
            <a:avLst/>
          </a:prstGeom>
          <a:noFill/>
        </p:spPr>
        <p:txBody>
          <a:bodyPr wrap="square" lIns="0" rIns="0" tIns="0" bIns="0" anchor="t">
            <a:noAutofit/>
          </a:bodyPr>
          <a:lstStyle/>
          <a:p>
            <a:pPr algn="l">
              <a:lnSpc>
                <a:spcPct val="105000"/>
              </a:lnSpc>
              <a:spcAft>
                <a:spcPts val="0"/>
              </a:spcAft>
            </a:pPr>
            <a:r>
              <a:rPr sz="1900" b="1">
                <a:solidFill>
                  <a:srgbClr val="FFFFFF"/>
                </a:solidFill>
                <a:latin typeface="Calibri"/>
              </a:rPr>
              <a:t>Validation does not rank runs</a:t>
            </a:r>
            <a:endParaRPr sz="1900"/>
          </a:p>
        </p:txBody>
      </p:sp>
      <p:sp>
        <p:nvSpPr>
          <p:cNvPr id="20" name="TextBox 19"/>
          <p:cNvSpPr txBox="1"/>
          <p:nvPr/>
        </p:nvSpPr>
        <p:spPr>
          <a:xfrm>
            <a:off x="777240" y="4846320"/>
            <a:ext cx="5090007" cy="91440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The run with the best validation score tested worst of the three.</a:t>
            </a:r>
            <a:endParaRPr sz="1500"/>
          </a:p>
        </p:txBody>
      </p:sp>
      <p:sp>
        <p:nvSpPr>
          <p:cNvPr id="21" name="Rectangle 20"/>
          <p:cNvSpPr/>
          <p:nvPr/>
        </p:nvSpPr>
        <p:spPr>
          <a:xfrm>
            <a:off x="6324447" y="4507992"/>
            <a:ext cx="91440" cy="91440"/>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3047" y="4434840"/>
            <a:ext cx="5090007" cy="384048"/>
          </a:xfrm>
          <a:prstGeom prst="rect">
            <a:avLst/>
          </a:prstGeom>
          <a:noFill/>
        </p:spPr>
        <p:txBody>
          <a:bodyPr wrap="square" lIns="0" rIns="0" tIns="0" bIns="0" anchor="t">
            <a:noAutofit/>
          </a:bodyPr>
          <a:lstStyle/>
          <a:p>
            <a:pPr algn="l">
              <a:lnSpc>
                <a:spcPct val="105000"/>
              </a:lnSpc>
              <a:spcAft>
                <a:spcPts val="0"/>
              </a:spcAft>
            </a:pPr>
            <a:r>
              <a:rPr sz="1900" b="1">
                <a:solidFill>
                  <a:srgbClr val="FFFFFF"/>
                </a:solidFill>
                <a:latin typeface="Calibri"/>
              </a:rPr>
              <a:t>Limits of the data</a:t>
            </a:r>
            <a:endParaRPr sz="1900"/>
          </a:p>
        </p:txBody>
      </p:sp>
      <p:sp>
        <p:nvSpPr>
          <p:cNvPr id="23" name="TextBox 22"/>
          <p:cNvSpPr txBox="1"/>
          <p:nvPr/>
        </p:nvSpPr>
        <p:spPr>
          <a:xfrm>
            <a:off x="6553047" y="4846320"/>
            <a:ext cx="5090007" cy="91440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Text-mined labels, boxes for 8 findings only, one hospital. On this dataset these can be stated, not fixed.</a:t>
            </a:r>
            <a:endParaRPr sz="15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WHERE THIS GOES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Where this is headed</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28</a:t>
            </a:r>
            <a:endParaRPr sz="1000"/>
          </a:p>
        </p:txBody>
      </p:sp>
      <p:sp>
        <p:nvSpPr>
          <p:cNvPr id="6" name="TextBox 5"/>
          <p:cNvSpPr txBox="1"/>
          <p:nvPr/>
        </p:nvSpPr>
        <p:spPr>
          <a:xfrm>
            <a:off x="548640" y="1645920"/>
            <a:ext cx="10424160" cy="1188720"/>
          </a:xfrm>
          <a:prstGeom prst="rect">
            <a:avLst/>
          </a:prstGeom>
          <a:noFill/>
        </p:spPr>
        <p:txBody>
          <a:bodyPr wrap="square" lIns="0" rIns="0" tIns="0" bIns="0" anchor="t">
            <a:noAutofit/>
          </a:bodyPr>
          <a:lstStyle/>
          <a:p>
            <a:pPr algn="l">
              <a:lnSpc>
                <a:spcPct val="105000"/>
              </a:lnSpc>
              <a:spcAft>
                <a:spcPts val="0"/>
              </a:spcAft>
            </a:pPr>
            <a:r>
              <a:rPr sz="3000" b="0">
                <a:solidFill>
                  <a:srgbClr val="FFFFFF"/>
                </a:solidFill>
                <a:latin typeface="Calibri Light"/>
              </a:rPr>
              <a:t>Do the explanations that medical imaging papers rely on agree with the radiologist, with the model, and with each other?</a:t>
            </a:r>
            <a:endParaRPr sz="3000"/>
          </a:p>
        </p:txBody>
      </p:sp>
      <p:sp>
        <p:nvSpPr>
          <p:cNvPr id="7" name="TextBox 6"/>
          <p:cNvSpPr txBox="1"/>
          <p:nvPr/>
        </p:nvSpPr>
        <p:spPr>
          <a:xfrm>
            <a:off x="548640" y="3063240"/>
            <a:ext cx="11094415" cy="320040"/>
          </a:xfrm>
          <a:prstGeom prst="rect">
            <a:avLst/>
          </a:prstGeom>
          <a:noFill/>
        </p:spPr>
        <p:txBody>
          <a:bodyPr wrap="square" lIns="0" rIns="0" tIns="0" bIns="0" anchor="t">
            <a:noAutofit/>
          </a:bodyPr>
          <a:lstStyle/>
          <a:p>
            <a:pPr algn="l">
              <a:lnSpc>
                <a:spcPct val="105000"/>
              </a:lnSpc>
              <a:spcAft>
                <a:spcPts val="0"/>
              </a:spcAft>
            </a:pPr>
            <a:r>
              <a:rPr sz="1200" b="1" spc="150">
                <a:solidFill>
                  <a:srgbClr val="F2994A"/>
                </a:solidFill>
                <a:latin typeface="Calibri"/>
              </a:rPr>
              <a:t>WHAT OUR FIRST RESULTS SAY</a:t>
            </a:r>
            <a:endParaRPr sz="1200"/>
          </a:p>
        </p:txBody>
      </p:sp>
      <p:graphicFrame>
        <p:nvGraphicFramePr>
          <p:cNvPr id="8" name="Table 7"/>
          <p:cNvGraphicFramePr>
            <a:graphicFrameLocks noGrp="1"/>
          </p:cNvGraphicFramePr>
          <p:nvPr/>
        </p:nvGraphicFramePr>
        <p:xfrm>
          <a:off x="548640" y="3429000"/>
          <a:ext cx="11094415" cy="1700784"/>
        </p:xfrm>
        <a:graphic>
          <a:graphicData uri="http://schemas.openxmlformats.org/drawingml/2006/table">
            <a:tbl>
              <a:tblPr firstRow="0" bandRow="0">
                <a:tableStyleId>{2D5ABB26-0587-4C30-8999-92F81FD0307C}</a:tableStyleId>
              </a:tblPr>
              <a:tblGrid>
                <a:gridCol w="2834640"/>
                <a:gridCol w="8259775"/>
              </a:tblGrid>
              <a:tr h="566928">
                <a:tc>
                  <a:txBody>
                    <a:bodyPr wrap="square"/>
                    <a:lstStyle/>
                    <a:p>
                      <a:pPr algn="l">
                        <a:lnSpc>
                          <a:spcPct val="105000"/>
                        </a:lnSpc>
                        <a:spcAft>
                          <a:spcPts val="0"/>
                        </a:spcAft>
                      </a:pPr>
                      <a:r>
                        <a:rPr sz="1700" b="1">
                          <a:solidFill>
                            <a:srgbClr val="FFFFFF"/>
                          </a:solidFill>
                          <a:latin typeface="Calibri"/>
                        </a:rPr>
                        <a:t>With the radiologist</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700" b="0">
                          <a:solidFill>
                            <a:srgbClr val="D2D2D2"/>
                          </a:solidFill>
                          <a:latin typeface="Calibri"/>
                        </a:rPr>
                        <a:t>More than twice as often as a random map. Weakest on pneumothorax, and not measurable on nodules at this resolution.</a:t>
                      </a:r>
                      <a:endParaRPr sz="17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700" b="1">
                          <a:solidFill>
                            <a:srgbClr val="FFFFFF"/>
                          </a:solidFill>
                          <a:latin typeface="Calibri"/>
                        </a:rPr>
                        <a:t>With the model</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700" b="0">
                          <a:solidFill>
                            <a:srgbClr val="D2D2D2"/>
                          </a:solidFill>
                          <a:latin typeface="Calibri"/>
                        </a:rPr>
                        <a:t>All four pass the faithfulness test and the randomisation check, CAM and Grad-CAM by the widest margin.</a:t>
                      </a:r>
                      <a:endParaRPr sz="17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700" b="1">
                          <a:solidFill>
                            <a:srgbClr val="FFFFFF"/>
                          </a:solidFill>
                          <a:latin typeface="Calibri"/>
                        </a:rPr>
                        <a:t>With each other</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700" b="0">
                          <a:solidFill>
                            <a:srgbClr val="D2D2D2"/>
                          </a:solidFill>
                          <a:latin typeface="Calibri"/>
                        </a:rPr>
                        <a:t>No single method comes out best on all three tests.</a:t>
                      </a:r>
                      <a:endParaRPr sz="1700"/>
                    </a:p>
                  </a:txBody>
                  <a:tcPr marL="73152" marR="73152" marT="27432" marB="27432" anchor="ctr">
                    <a:lnL w="0">
                      <a:noFill/>
                    </a:lnL>
                    <a:lnR w="0">
                      <a:noFill/>
                    </a:lnR>
                    <a:lnT w="0">
                      <a:noFill/>
                    </a:lnT>
                    <a:lnB w="9525">
                      <a:solidFill>
                        <a:srgbClr val="2E2E2E"/>
                      </a:solidFill>
                    </a:lnB>
                    <a:noFill/>
                  </a:tcPr>
                </a:tc>
              </a:tr>
            </a:tbl>
          </a:graphicData>
        </a:graphic>
      </p:graphicFrame>
      <p:sp>
        <p:nvSpPr>
          <p:cNvPr id="9" name="TextBox 8"/>
          <p:cNvSpPr txBox="1"/>
          <p:nvPr/>
        </p:nvSpPr>
        <p:spPr>
          <a:xfrm>
            <a:off x="548640" y="5577840"/>
            <a:ext cx="11094415" cy="548640"/>
          </a:xfrm>
          <a:prstGeom prst="rect">
            <a:avLst/>
          </a:prstGeom>
          <a:noFill/>
        </p:spPr>
        <p:txBody>
          <a:bodyPr wrap="square" lIns="0" rIns="0" tIns="0" bIns="0" anchor="t">
            <a:noAutofit/>
          </a:bodyPr>
          <a:lstStyle/>
          <a:p>
            <a:pPr algn="l">
              <a:lnSpc>
                <a:spcPct val="105000"/>
              </a:lnSpc>
              <a:spcAft>
                <a:spcPts val="0"/>
              </a:spcAft>
            </a:pPr>
            <a:r>
              <a:rPr sz="1700" b="0">
                <a:solidFill>
                  <a:srgbClr val="FFFFFF"/>
                </a:solidFill>
                <a:latin typeface="Calibri"/>
              </a:rPr>
              <a:t>A measurement paper like this needs a classifier that matches published work, not one that beats it. We have that.</a:t>
            </a:r>
            <a:endParaRPr sz="170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WHERE THIS GOES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How we plan to get there</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29</a:t>
            </a:r>
            <a:endParaRPr sz="1000"/>
          </a:p>
        </p:txBody>
      </p:sp>
      <p:sp>
        <p:nvSpPr>
          <p:cNvPr id="6" name="TextBox 5"/>
          <p:cNvSpPr txBox="1"/>
          <p:nvPr/>
        </p:nvSpPr>
        <p:spPr>
          <a:xfrm>
            <a:off x="548640" y="1554480"/>
            <a:ext cx="3442106" cy="457200"/>
          </a:xfrm>
          <a:prstGeom prst="rect">
            <a:avLst/>
          </a:prstGeom>
          <a:noFill/>
        </p:spPr>
        <p:txBody>
          <a:bodyPr wrap="square" lIns="0" rIns="0" tIns="0" bIns="0" anchor="t">
            <a:noAutofit/>
          </a:bodyPr>
          <a:lstStyle/>
          <a:p>
            <a:pPr algn="l">
              <a:lnSpc>
                <a:spcPct val="105000"/>
              </a:lnSpc>
              <a:spcAft>
                <a:spcPts val="0"/>
              </a:spcAft>
            </a:pPr>
            <a:r>
              <a:rPr sz="2600" b="1">
                <a:solidFill>
                  <a:srgbClr val="F2994A"/>
                </a:solidFill>
                <a:latin typeface="Calibri"/>
              </a:rPr>
              <a:t>Now</a:t>
            </a:r>
            <a:endParaRPr sz="2600"/>
          </a:p>
        </p:txBody>
      </p:sp>
      <p:sp>
        <p:nvSpPr>
          <p:cNvPr id="7" name="TextBox 6"/>
          <p:cNvSpPr txBox="1"/>
          <p:nvPr/>
        </p:nvSpPr>
        <p:spPr>
          <a:xfrm>
            <a:off x="548640" y="2011680"/>
            <a:ext cx="3442106" cy="3200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with what we have</a:t>
            </a:r>
            <a:endParaRPr sz="1300"/>
          </a:p>
        </p:txBody>
      </p:sp>
      <p:sp>
        <p:nvSpPr>
          <p:cNvPr id="8" name="TextBox 7"/>
          <p:cNvSpPr txBox="1"/>
          <p:nvPr/>
        </p:nvSpPr>
        <p:spPr>
          <a:xfrm>
            <a:off x="548640" y="2514600"/>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Calibrate the probabilities</a:t>
            </a:r>
            <a:endParaRPr sz="1600"/>
          </a:p>
          <a:p>
            <a:pPr algn="l">
              <a:lnSpc>
                <a:spcPct val="105000"/>
              </a:lnSpc>
              <a:spcAft>
                <a:spcPts val="0"/>
              </a:spcAft>
            </a:pPr>
            <a:r>
              <a:rPr sz="1400" b="0">
                <a:solidFill>
                  <a:srgbClr val="D2D2D2"/>
                </a:solidFill>
                <a:latin typeface="Calibri"/>
              </a:rPr>
              <a:t>Temperature scaling on validation, a threshold per finding, calibration error before and after.</a:t>
            </a:r>
            <a:endParaRPr sz="1400"/>
          </a:p>
        </p:txBody>
      </p:sp>
      <p:sp>
        <p:nvSpPr>
          <p:cNvPr id="9" name="TextBox 8"/>
          <p:cNvSpPr txBox="1"/>
          <p:nvPr/>
        </p:nvSpPr>
        <p:spPr>
          <a:xfrm>
            <a:off x="548640" y="3630168"/>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Measure the shortcut</a:t>
            </a:r>
            <a:endParaRPr sz="1600"/>
          </a:p>
          <a:p>
            <a:pPr algn="l">
              <a:lnSpc>
                <a:spcPct val="105000"/>
              </a:lnSpc>
              <a:spcAft>
                <a:spcPts val="0"/>
              </a:spcAft>
            </a:pPr>
            <a:r>
              <a:rPr sz="1400" b="0">
                <a:solidFill>
                  <a:srgbClr val="D2D2D2"/>
                </a:solidFill>
                <a:latin typeface="Calibri"/>
              </a:rPr>
              <a:t>How much of each map falls outside the chest or on the border, over all 25,596 test images, against a random map.</a:t>
            </a:r>
            <a:endParaRPr sz="1400"/>
          </a:p>
        </p:txBody>
      </p:sp>
      <p:sp>
        <p:nvSpPr>
          <p:cNvPr id="10" name="TextBox 9"/>
          <p:cNvSpPr txBox="1"/>
          <p:nvPr/>
        </p:nvSpPr>
        <p:spPr>
          <a:xfrm>
            <a:off x="548640" y="4745736"/>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Score the other three methods</a:t>
            </a:r>
            <a:endParaRPr sz="1600"/>
          </a:p>
          <a:p>
            <a:pPr algn="l">
              <a:lnSpc>
                <a:spcPct val="105000"/>
              </a:lnSpc>
              <a:spcAft>
                <a:spcPts val="0"/>
              </a:spcAft>
            </a:pPr>
            <a:r>
              <a:rPr sz="1400" b="0">
                <a:solidFill>
                  <a:srgbClr val="D2D2D2"/>
                </a:solidFill>
                <a:latin typeface="Calibri"/>
              </a:rPr>
              <a:t>Score-CAM, Integrated Gradients and occlusion through the same three tests.</a:t>
            </a:r>
            <a:endParaRPr sz="1400"/>
          </a:p>
        </p:txBody>
      </p:sp>
      <p:sp>
        <p:nvSpPr>
          <p:cNvPr id="11" name="TextBox 10"/>
          <p:cNvSpPr txBox="1"/>
          <p:nvPr/>
        </p:nvSpPr>
        <p:spPr>
          <a:xfrm>
            <a:off x="4374794" y="1554480"/>
            <a:ext cx="3442106" cy="457200"/>
          </a:xfrm>
          <a:prstGeom prst="rect">
            <a:avLst/>
          </a:prstGeom>
          <a:noFill/>
        </p:spPr>
        <p:txBody>
          <a:bodyPr wrap="square" lIns="0" rIns="0" tIns="0" bIns="0" anchor="t">
            <a:noAutofit/>
          </a:bodyPr>
          <a:lstStyle/>
          <a:p>
            <a:pPr algn="l">
              <a:lnSpc>
                <a:spcPct val="105000"/>
              </a:lnSpc>
              <a:spcAft>
                <a:spcPts val="0"/>
              </a:spcAft>
            </a:pPr>
            <a:r>
              <a:rPr sz="2600" b="1">
                <a:solidFill>
                  <a:srgbClr val="F2994A"/>
                </a:solidFill>
                <a:latin typeface="Calibri"/>
              </a:rPr>
              <a:t>Next</a:t>
            </a:r>
            <a:endParaRPr sz="2600"/>
          </a:p>
        </p:txBody>
      </p:sp>
      <p:sp>
        <p:nvSpPr>
          <p:cNvPr id="12" name="TextBox 11"/>
          <p:cNvSpPr txBox="1"/>
          <p:nvPr/>
        </p:nvSpPr>
        <p:spPr>
          <a:xfrm>
            <a:off x="4374794" y="2011680"/>
            <a:ext cx="3442106" cy="3200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make it hold up</a:t>
            </a:r>
            <a:endParaRPr sz="1300"/>
          </a:p>
        </p:txBody>
      </p:sp>
      <p:sp>
        <p:nvSpPr>
          <p:cNvPr id="13" name="TextBox 12"/>
          <p:cNvSpPr txBox="1"/>
          <p:nvPr/>
        </p:nvSpPr>
        <p:spPr>
          <a:xfrm>
            <a:off x="4374794" y="2514600"/>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A second hospital</a:t>
            </a:r>
            <a:endParaRPr sz="1600"/>
          </a:p>
          <a:p>
            <a:pPr algn="l">
              <a:lnSpc>
                <a:spcPct val="105000"/>
              </a:lnSpc>
              <a:spcAft>
                <a:spcPts val="0"/>
              </a:spcAft>
            </a:pPr>
            <a:r>
              <a:rPr sz="1400" b="0">
                <a:solidFill>
                  <a:srgbClr val="D2D2D2"/>
                </a:solidFill>
                <a:latin typeface="Calibri"/>
              </a:rPr>
              <a:t>The frozen model and every method on VinDr-CXR or CheXlocalize annotations.</a:t>
            </a:r>
            <a:endParaRPr sz="1400"/>
          </a:p>
        </p:txBody>
      </p:sp>
      <p:sp>
        <p:nvSpPr>
          <p:cNvPr id="14" name="TextBox 13"/>
          <p:cNvSpPr txBox="1"/>
          <p:nvPr/>
        </p:nvSpPr>
        <p:spPr>
          <a:xfrm>
            <a:off x="4374794" y="3630168"/>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Finer maps for nodules</a:t>
            </a:r>
            <a:endParaRPr sz="1600"/>
          </a:p>
          <a:p>
            <a:pPr algn="l">
              <a:lnSpc>
                <a:spcPct val="105000"/>
              </a:lnSpc>
              <a:spcAft>
                <a:spcPts val="0"/>
              </a:spcAft>
            </a:pPr>
            <a:r>
              <a:rPr sz="1400" b="0">
                <a:solidFill>
                  <a:srgbClr val="D2D2D2"/>
                </a:solidFill>
                <a:latin typeface="Calibri"/>
              </a:rPr>
              <a:t>Maps from the 32 × 32 grid of dense block 3, or a larger input, then rerun the nodule check.</a:t>
            </a:r>
            <a:endParaRPr sz="1400"/>
          </a:p>
        </p:txBody>
      </p:sp>
      <p:sp>
        <p:nvSpPr>
          <p:cNvPr id="15" name="TextBox 14"/>
          <p:cNvSpPr txBox="1"/>
          <p:nvPr/>
        </p:nvSpPr>
        <p:spPr>
          <a:xfrm>
            <a:off x="4374794" y="4745736"/>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A closer look at pneumothorax</a:t>
            </a:r>
            <a:endParaRPr sz="1600"/>
          </a:p>
          <a:p>
            <a:pPr algn="l">
              <a:lnSpc>
                <a:spcPct val="105000"/>
              </a:lnSpc>
              <a:spcAft>
                <a:spcPts val="0"/>
              </a:spcAft>
            </a:pPr>
            <a:r>
              <a:rPr sz="1400" b="0">
                <a:solidFill>
                  <a:srgbClr val="D2D2D2"/>
                </a:solidFill>
                <a:latin typeface="Calibri"/>
              </a:rPr>
              <a:t>Check whether its maps land on chest drains.</a:t>
            </a:r>
            <a:endParaRPr sz="1400"/>
          </a:p>
        </p:txBody>
      </p:sp>
      <p:sp>
        <p:nvSpPr>
          <p:cNvPr id="16" name="TextBox 15"/>
          <p:cNvSpPr txBox="1"/>
          <p:nvPr/>
        </p:nvSpPr>
        <p:spPr>
          <a:xfrm>
            <a:off x="8200948" y="1554480"/>
            <a:ext cx="3442106" cy="457200"/>
          </a:xfrm>
          <a:prstGeom prst="rect">
            <a:avLst/>
          </a:prstGeom>
          <a:noFill/>
        </p:spPr>
        <p:txBody>
          <a:bodyPr wrap="square" lIns="0" rIns="0" tIns="0" bIns="0" anchor="t">
            <a:noAutofit/>
          </a:bodyPr>
          <a:lstStyle/>
          <a:p>
            <a:pPr algn="l">
              <a:lnSpc>
                <a:spcPct val="105000"/>
              </a:lnSpc>
              <a:spcAft>
                <a:spcPts val="0"/>
              </a:spcAft>
            </a:pPr>
            <a:r>
              <a:rPr sz="2600" b="1">
                <a:solidFill>
                  <a:srgbClr val="F2994A"/>
                </a:solidFill>
                <a:latin typeface="Calibri"/>
              </a:rPr>
              <a:t>Later</a:t>
            </a:r>
            <a:endParaRPr sz="2600"/>
          </a:p>
        </p:txBody>
      </p:sp>
      <p:sp>
        <p:nvSpPr>
          <p:cNvPr id="17" name="TextBox 16"/>
          <p:cNvSpPr txBox="1"/>
          <p:nvPr/>
        </p:nvSpPr>
        <p:spPr>
          <a:xfrm>
            <a:off x="8200948" y="2011680"/>
            <a:ext cx="3442106" cy="3200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bigger changes</a:t>
            </a:r>
            <a:endParaRPr sz="1300"/>
          </a:p>
        </p:txBody>
      </p:sp>
      <p:sp>
        <p:nvSpPr>
          <p:cNvPr id="18" name="TextBox 17"/>
          <p:cNvSpPr txBox="1"/>
          <p:nvPr/>
        </p:nvSpPr>
        <p:spPr>
          <a:xfrm>
            <a:off x="8200948" y="2514600"/>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Explanations built into the model</a:t>
            </a:r>
            <a:endParaRPr sz="1600"/>
          </a:p>
          <a:p>
            <a:pPr algn="l">
              <a:lnSpc>
                <a:spcPct val="105000"/>
              </a:lnSpc>
              <a:spcAft>
                <a:spcPts val="0"/>
              </a:spcAft>
            </a:pPr>
            <a:r>
              <a:rPr sz="1400" b="0">
                <a:solidFill>
                  <a:srgbClr val="D2D2D2"/>
                </a:solidFill>
                <a:latin typeface="Calibri"/>
              </a:rPr>
              <a:t>An attention-pooling head or a prototype network, judged by the same three tests.</a:t>
            </a:r>
            <a:endParaRPr sz="1400"/>
          </a:p>
        </p:txBody>
      </p:sp>
      <p:sp>
        <p:nvSpPr>
          <p:cNvPr id="19" name="TextBox 18"/>
          <p:cNvSpPr txBox="1"/>
          <p:nvPr/>
        </p:nvSpPr>
        <p:spPr>
          <a:xfrm>
            <a:off x="8200948" y="3630168"/>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A better recipe, then backbone</a:t>
            </a:r>
            <a:endParaRPr sz="1600"/>
          </a:p>
          <a:p>
            <a:pPr algn="l">
              <a:lnSpc>
                <a:spcPct val="105000"/>
              </a:lnSpc>
              <a:spcAft>
                <a:spcPts val="0"/>
              </a:spcAft>
            </a:pPr>
            <a:r>
              <a:rPr sz="1400" b="0">
                <a:solidFill>
                  <a:srgbClr val="D2D2D2"/>
                </a:solidFill>
                <a:latin typeface="Calibri"/>
              </a:rPr>
              <a:t>Close the gap to the best DenseNet-121 results (0.822) first, then try a transformer pretrained on X-rays (0.830 to 0.834).</a:t>
            </a:r>
            <a:endParaRPr sz="1400"/>
          </a:p>
        </p:txBody>
      </p:sp>
      <p:sp>
        <p:nvSpPr>
          <p:cNvPr id="20" name="TextBox 19"/>
          <p:cNvSpPr txBox="1"/>
          <p:nvPr/>
        </p:nvSpPr>
        <p:spPr>
          <a:xfrm>
            <a:off x="8200948" y="4745736"/>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A radiologist's view</a:t>
            </a:r>
            <a:endParaRPr sz="1600"/>
          </a:p>
          <a:p>
            <a:pPr algn="l">
              <a:lnSpc>
                <a:spcPct val="105000"/>
              </a:lnSpc>
              <a:spcAft>
                <a:spcPts val="0"/>
              </a:spcAft>
            </a:pPr>
            <a:r>
              <a:rPr sz="1400" b="0">
                <a:solidFill>
                  <a:srgbClr val="D2D2D2"/>
                </a:solidFill>
                <a:latin typeface="Calibri"/>
              </a:rPr>
              <a:t>A radiologist rates a sample of the maps.</a:t>
            </a:r>
            <a:endParaRPr sz="140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FOR OUR MENTOR</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Questions for you</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30</a:t>
            </a:r>
            <a:endParaRPr sz="1000"/>
          </a:p>
        </p:txBody>
      </p:sp>
      <p:sp>
        <p:nvSpPr>
          <p:cNvPr id="6" name="TextBox 5"/>
          <p:cNvSpPr txBox="1"/>
          <p:nvPr/>
        </p:nvSpPr>
        <p:spPr>
          <a:xfrm>
            <a:off x="548640" y="1600200"/>
            <a:ext cx="640080" cy="685800"/>
          </a:xfrm>
          <a:prstGeom prst="rect">
            <a:avLst/>
          </a:prstGeom>
          <a:noFill/>
        </p:spPr>
        <p:txBody>
          <a:bodyPr wrap="square" lIns="0" rIns="0" tIns="0" bIns="0" anchor="t">
            <a:noAutofit/>
          </a:bodyPr>
          <a:lstStyle/>
          <a:p>
            <a:pPr algn="l">
              <a:lnSpc>
                <a:spcPct val="105000"/>
              </a:lnSpc>
              <a:spcAft>
                <a:spcPts val="0"/>
              </a:spcAft>
            </a:pPr>
            <a:r>
              <a:rPr sz="4000" b="0">
                <a:solidFill>
                  <a:srgbClr val="F2994A"/>
                </a:solidFill>
                <a:latin typeface="Calibri Light"/>
              </a:rPr>
              <a:t>1</a:t>
            </a:r>
            <a:endParaRPr sz="4000"/>
          </a:p>
        </p:txBody>
      </p:sp>
      <p:sp>
        <p:nvSpPr>
          <p:cNvPr id="7" name="TextBox 6"/>
          <p:cNvSpPr txBox="1"/>
          <p:nvPr/>
        </p:nvSpPr>
        <p:spPr>
          <a:xfrm>
            <a:off x="1280160" y="1691640"/>
            <a:ext cx="10362895" cy="822960"/>
          </a:xfrm>
          <a:prstGeom prst="rect">
            <a:avLst/>
          </a:prstGeom>
          <a:noFill/>
        </p:spPr>
        <p:txBody>
          <a:bodyPr wrap="square" lIns="0" rIns="0" tIns="0" bIns="0" anchor="t">
            <a:noAutofit/>
          </a:bodyPr>
          <a:lstStyle/>
          <a:p>
            <a:pPr algn="l">
              <a:lnSpc>
                <a:spcPct val="105000"/>
              </a:lnSpc>
              <a:spcAft>
                <a:spcPts val="0"/>
              </a:spcAft>
            </a:pPr>
            <a:r>
              <a:rPr sz="2100" b="0">
                <a:solidFill>
                  <a:srgbClr val="FFFFFF"/>
                </a:solidFill>
                <a:latin typeface="Calibri"/>
              </a:rPr>
              <a:t>Which venue or format do you have in mind? It decides how many extra experiments are worth running.</a:t>
            </a:r>
            <a:endParaRPr sz="2100"/>
          </a:p>
        </p:txBody>
      </p:sp>
      <p:sp>
        <p:nvSpPr>
          <p:cNvPr id="8" name="TextBox 7"/>
          <p:cNvSpPr txBox="1"/>
          <p:nvPr/>
        </p:nvSpPr>
        <p:spPr>
          <a:xfrm>
            <a:off x="548640" y="2560320"/>
            <a:ext cx="640080" cy="685800"/>
          </a:xfrm>
          <a:prstGeom prst="rect">
            <a:avLst/>
          </a:prstGeom>
          <a:noFill/>
        </p:spPr>
        <p:txBody>
          <a:bodyPr wrap="square" lIns="0" rIns="0" tIns="0" bIns="0" anchor="t">
            <a:noAutofit/>
          </a:bodyPr>
          <a:lstStyle/>
          <a:p>
            <a:pPr algn="l">
              <a:lnSpc>
                <a:spcPct val="105000"/>
              </a:lnSpc>
              <a:spcAft>
                <a:spcPts val="0"/>
              </a:spcAft>
            </a:pPr>
            <a:r>
              <a:rPr sz="4000" b="0">
                <a:solidFill>
                  <a:srgbClr val="F2994A"/>
                </a:solidFill>
                <a:latin typeface="Calibri Light"/>
              </a:rPr>
              <a:t>2</a:t>
            </a:r>
            <a:endParaRPr sz="4000"/>
          </a:p>
        </p:txBody>
      </p:sp>
      <p:sp>
        <p:nvSpPr>
          <p:cNvPr id="9" name="TextBox 8"/>
          <p:cNvSpPr txBox="1"/>
          <p:nvPr/>
        </p:nvSpPr>
        <p:spPr>
          <a:xfrm>
            <a:off x="1280160" y="2651760"/>
            <a:ext cx="10362895" cy="822960"/>
          </a:xfrm>
          <a:prstGeom prst="rect">
            <a:avLst/>
          </a:prstGeom>
          <a:noFill/>
        </p:spPr>
        <p:txBody>
          <a:bodyPr wrap="square" lIns="0" rIns="0" tIns="0" bIns="0" anchor="t">
            <a:noAutofit/>
          </a:bodyPr>
          <a:lstStyle/>
          <a:p>
            <a:pPr algn="l">
              <a:lnSpc>
                <a:spcPct val="105000"/>
              </a:lnSpc>
              <a:spcAft>
                <a:spcPts val="0"/>
              </a:spcAft>
            </a:pPr>
            <a:r>
              <a:rPr sz="2100" b="0">
                <a:solidFill>
                  <a:srgbClr val="FFFFFF"/>
                </a:solidFill>
                <a:latin typeface="Calibri"/>
              </a:rPr>
              <a:t>Should the first version include a second hospital's test set, or should that wait for a follow-up?</a:t>
            </a:r>
            <a:endParaRPr sz="2100"/>
          </a:p>
        </p:txBody>
      </p:sp>
      <p:sp>
        <p:nvSpPr>
          <p:cNvPr id="10" name="TextBox 9"/>
          <p:cNvSpPr txBox="1"/>
          <p:nvPr/>
        </p:nvSpPr>
        <p:spPr>
          <a:xfrm>
            <a:off x="548640" y="3520440"/>
            <a:ext cx="640080" cy="685800"/>
          </a:xfrm>
          <a:prstGeom prst="rect">
            <a:avLst/>
          </a:prstGeom>
          <a:noFill/>
        </p:spPr>
        <p:txBody>
          <a:bodyPr wrap="square" lIns="0" rIns="0" tIns="0" bIns="0" anchor="t">
            <a:noAutofit/>
          </a:bodyPr>
          <a:lstStyle/>
          <a:p>
            <a:pPr algn="l">
              <a:lnSpc>
                <a:spcPct val="105000"/>
              </a:lnSpc>
              <a:spcAft>
                <a:spcPts val="0"/>
              </a:spcAft>
            </a:pPr>
            <a:r>
              <a:rPr sz="4000" b="0">
                <a:solidFill>
                  <a:srgbClr val="F2994A"/>
                </a:solidFill>
                <a:latin typeface="Calibri Light"/>
              </a:rPr>
              <a:t>3</a:t>
            </a:r>
            <a:endParaRPr sz="4000"/>
          </a:p>
        </p:txBody>
      </p:sp>
      <p:sp>
        <p:nvSpPr>
          <p:cNvPr id="11" name="TextBox 10"/>
          <p:cNvSpPr txBox="1"/>
          <p:nvPr/>
        </p:nvSpPr>
        <p:spPr>
          <a:xfrm>
            <a:off x="1280160" y="3611880"/>
            <a:ext cx="10362895" cy="822960"/>
          </a:xfrm>
          <a:prstGeom prst="rect">
            <a:avLst/>
          </a:prstGeom>
          <a:noFill/>
        </p:spPr>
        <p:txBody>
          <a:bodyPr wrap="square" lIns="0" rIns="0" tIns="0" bIns="0" anchor="t">
            <a:noAutofit/>
          </a:bodyPr>
          <a:lstStyle/>
          <a:p>
            <a:pPr algn="l">
              <a:lnSpc>
                <a:spcPct val="105000"/>
              </a:lnSpc>
              <a:spcAft>
                <a:spcPts val="0"/>
              </a:spcAft>
            </a:pPr>
            <a:r>
              <a:rPr sz="2100" b="0">
                <a:solidFill>
                  <a:srgbClr val="FFFFFF"/>
                </a:solidFill>
                <a:latin typeface="Calibri"/>
              </a:rPr>
              <a:t>With the same seed, our recipe scored 0.802 at 224 px and 0.816 at 512 px. Should the paper report both?</a:t>
            </a:r>
            <a:endParaRPr sz="2100"/>
          </a:p>
        </p:txBody>
      </p:sp>
      <p:sp>
        <p:nvSpPr>
          <p:cNvPr id="12" name="TextBox 11"/>
          <p:cNvSpPr txBox="1"/>
          <p:nvPr/>
        </p:nvSpPr>
        <p:spPr>
          <a:xfrm>
            <a:off x="548640" y="4480560"/>
            <a:ext cx="640080" cy="685800"/>
          </a:xfrm>
          <a:prstGeom prst="rect">
            <a:avLst/>
          </a:prstGeom>
          <a:noFill/>
        </p:spPr>
        <p:txBody>
          <a:bodyPr wrap="square" lIns="0" rIns="0" tIns="0" bIns="0" anchor="t">
            <a:noAutofit/>
          </a:bodyPr>
          <a:lstStyle/>
          <a:p>
            <a:pPr algn="l">
              <a:lnSpc>
                <a:spcPct val="105000"/>
              </a:lnSpc>
              <a:spcAft>
                <a:spcPts val="0"/>
              </a:spcAft>
            </a:pPr>
            <a:r>
              <a:rPr sz="4000" b="0">
                <a:solidFill>
                  <a:srgbClr val="F2994A"/>
                </a:solidFill>
                <a:latin typeface="Calibri Light"/>
              </a:rPr>
              <a:t>4</a:t>
            </a:r>
            <a:endParaRPr sz="4000"/>
          </a:p>
        </p:txBody>
      </p:sp>
      <p:sp>
        <p:nvSpPr>
          <p:cNvPr id="13" name="TextBox 12"/>
          <p:cNvSpPr txBox="1"/>
          <p:nvPr/>
        </p:nvSpPr>
        <p:spPr>
          <a:xfrm>
            <a:off x="1280160" y="4572000"/>
            <a:ext cx="10362895" cy="822960"/>
          </a:xfrm>
          <a:prstGeom prst="rect">
            <a:avLst/>
          </a:prstGeom>
          <a:noFill/>
        </p:spPr>
        <p:txBody>
          <a:bodyPr wrap="square" lIns="0" rIns="0" tIns="0" bIns="0" anchor="t">
            <a:noAutofit/>
          </a:bodyPr>
          <a:lstStyle/>
          <a:p>
            <a:pPr algn="l">
              <a:lnSpc>
                <a:spcPct val="105000"/>
              </a:lnSpc>
              <a:spcAft>
                <a:spcPts val="0"/>
              </a:spcAft>
            </a:pPr>
            <a:r>
              <a:rPr sz="2100" b="0">
                <a:solidFill>
                  <a:srgbClr val="FFFFFF"/>
                </a:solidFill>
                <a:latin typeface="Calibri"/>
              </a:rPr>
              <a:t>Does the department need ethics paperwork, even for public, de-identified data?</a:t>
            </a:r>
            <a:endParaRPr sz="2100"/>
          </a:p>
        </p:txBody>
      </p:sp>
      <p:sp>
        <p:nvSpPr>
          <p:cNvPr id="14" name="TextBox 13"/>
          <p:cNvSpPr txBox="1"/>
          <p:nvPr/>
        </p:nvSpPr>
        <p:spPr>
          <a:xfrm>
            <a:off x="548640" y="5760720"/>
            <a:ext cx="11094415" cy="41148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Everything shown is saved and scripted: four runs with weights, history and test scores (three seeds at 512 px, one at 224 px), the explanation tables, and 40 passing unit tests.</a:t>
            </a:r>
            <a:endParaRPr sz="130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REFERENCES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Papers compared in this deck</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31</a:t>
            </a:r>
            <a:endParaRPr sz="1000"/>
          </a:p>
        </p:txBody>
      </p:sp>
      <p:graphicFrame>
        <p:nvGraphicFramePr>
          <p:cNvPr id="6" name="Table 5"/>
          <p:cNvGraphicFramePr>
            <a:graphicFrameLocks noGrp="1"/>
          </p:cNvGraphicFramePr>
          <p:nvPr/>
        </p:nvGraphicFramePr>
        <p:xfrm>
          <a:off x="548640" y="1600200"/>
          <a:ext cx="5387187" cy="4114800"/>
        </p:xfrm>
        <a:graphic>
          <a:graphicData uri="http://schemas.openxmlformats.org/drawingml/2006/table">
            <a:tbl>
              <a:tblPr firstRow="0" bandRow="0">
                <a:tableStyleId>{2D5ABB26-0587-4C30-8999-92F81FD0307C}</a:tableStyleId>
              </a:tblPr>
              <a:tblGrid>
                <a:gridCol w="2514600"/>
                <a:gridCol w="2872587"/>
              </a:tblGrid>
              <a:tr h="457200">
                <a:tc>
                  <a:txBody>
                    <a:bodyPr wrap="square"/>
                    <a:lstStyle/>
                    <a:p>
                      <a:pPr algn="l">
                        <a:lnSpc>
                          <a:spcPct val="105000"/>
                        </a:lnSpc>
                        <a:spcAft>
                          <a:spcPts val="0"/>
                        </a:spcAft>
                      </a:pPr>
                      <a:r>
                        <a:rPr sz="1200" b="0">
                          <a:solidFill>
                            <a:srgbClr val="FFFFFF"/>
                          </a:solidFill>
                          <a:latin typeface="Calibri"/>
                        </a:rPr>
                        <a:t>Wang et al. 2017, ChestX-ray8</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3"/>
                        </a:rPr>
                        <a:t>arxiv.org/abs/1705.02315</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Rajpurkar et al. 2017, CheXNet</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4"/>
                        </a:rPr>
                        <a:t>arxiv.org/abs/1711.05225</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Yao et al. 2017</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5"/>
                        </a:rPr>
                        <a:t>arxiv.org/abs/1710.10501</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Yao et al. 2018</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6"/>
                        </a:rPr>
                        <a:t>arxiv.org/abs/1803.07703</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Guendel et al. 2018</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7"/>
                        </a:rPr>
                        <a:t>arxiv.org/abs/1803.04565</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Baltruschat et al. 2019</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8"/>
                        </a:rPr>
                        <a:t>nature.com/articles/s41598-019-42294-8</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Ma et al. 2019</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9"/>
                        </a:rPr>
                        <a:t>doi.org/10.1007/978-3-030-32226-7_81</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Guan and Huang 2020</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10"/>
                        </a:rPr>
                        <a:t>doi.org/10.1016/j.patrec.2018.10.027</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Hermoza et al. 2020</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11"/>
                        </a:rPr>
                        <a:t>arxiv.org/abs/2005.10550</a:t>
                      </a:r>
                      <a:endParaRPr sz="1200"/>
                    </a:p>
                  </a:txBody>
                  <a:tcPr marL="54864" marR="54864" marT="27432" marB="27432" anchor="ctr">
                    <a:lnL w="0">
                      <a:noFill/>
                    </a:lnL>
                    <a:lnR w="0">
                      <a:noFill/>
                    </a:lnR>
                    <a:lnT w="0">
                      <a:noFill/>
                    </a:lnT>
                    <a:lnB w="9525">
                      <a:solidFill>
                        <a:srgbClr val="2E2E2E"/>
                      </a:solidFill>
                    </a:lnB>
                    <a:noFill/>
                  </a:tcPr>
                </a:tc>
              </a:tr>
            </a:tbl>
          </a:graphicData>
        </a:graphic>
      </p:graphicFrame>
      <p:graphicFrame>
        <p:nvGraphicFramePr>
          <p:cNvPr id="7" name="Table 6"/>
          <p:cNvGraphicFramePr>
            <a:graphicFrameLocks noGrp="1"/>
          </p:cNvGraphicFramePr>
          <p:nvPr/>
        </p:nvGraphicFramePr>
        <p:xfrm>
          <a:off x="6255867" y="1600200"/>
          <a:ext cx="5387187" cy="4114800"/>
        </p:xfrm>
        <a:graphic>
          <a:graphicData uri="http://schemas.openxmlformats.org/drawingml/2006/table">
            <a:tbl>
              <a:tblPr firstRow="0" bandRow="0">
                <a:tableStyleId>{2D5ABB26-0587-4C30-8999-92F81FD0307C}</a:tableStyleId>
              </a:tblPr>
              <a:tblGrid>
                <a:gridCol w="2514600"/>
                <a:gridCol w="2872587"/>
              </a:tblGrid>
              <a:tr h="457200">
                <a:tc>
                  <a:txBody>
                    <a:bodyPr wrap="square"/>
                    <a:lstStyle/>
                    <a:p>
                      <a:pPr algn="l">
                        <a:lnSpc>
                          <a:spcPct val="105000"/>
                        </a:lnSpc>
                        <a:spcAft>
                          <a:spcPts val="0"/>
                        </a:spcAft>
                      </a:pPr>
                      <a:r>
                        <a:rPr sz="1200" b="0">
                          <a:solidFill>
                            <a:srgbClr val="FFFFFF"/>
                          </a:solidFill>
                          <a:latin typeface="Calibri"/>
                        </a:rPr>
                        <a:t>Kim et al. 2021, XProtoNet</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12"/>
                        </a:rPr>
                        <a:t>arxiv.org/abs/2103.10663</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Taslimi et al. 2022, SwinCheX</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13"/>
                        </a:rPr>
                        <a:t>arxiv.org/abs/2206.04246</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Xiao et al. 2023, MAE for X-rays</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14"/>
                        </a:rPr>
                        <a:t>arxiv.org/abs/2210.12843</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Goel et al. 2024, low-rank features</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15"/>
                        </a:rPr>
                        <a:t>arxiv.org/abs/2404.18933</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Huang et al. 2017, DenseNet</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16"/>
                        </a:rPr>
                        <a:t>arxiv.org/abs/1608.06993</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Adebayo et al. 2018, sanity checks</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17"/>
                        </a:rPr>
                        <a:t>arxiv.org/abs/1810.03292</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Arun et al. 2021, saliency trust</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18"/>
                        </a:rPr>
                        <a:t>doi.org/10.1148/ryai.2021200267</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DeGrave et al. 2021, shortcuts</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19"/>
                        </a:rPr>
                        <a:t>doi.org/10.1038/s42256-021-00338-7</a:t>
                      </a:r>
                      <a:endParaRPr sz="1200"/>
                    </a:p>
                  </a:txBody>
                  <a:tcPr marL="54864" marR="54864"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200" b="0">
                          <a:solidFill>
                            <a:srgbClr val="FFFFFF"/>
                          </a:solidFill>
                          <a:latin typeface="Calibri"/>
                        </a:rPr>
                        <a:t>Saporta et al. 2022, CheXlocalize</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200" b="0">
                          <a:solidFill>
                            <a:srgbClr val="F2994A"/>
                          </a:solidFill>
                          <a:latin typeface="Calibri"/>
                          <a:hlinkClick r:id="rId20"/>
                        </a:rPr>
                        <a:t>doi.org/10.1038/s42256-022-00536-x</a:t>
                      </a:r>
                      <a:endParaRPr sz="1200"/>
                    </a:p>
                  </a:txBody>
                  <a:tcPr marL="54864" marR="54864" marT="27432" marB="27432" anchor="ctr">
                    <a:lnL w="0">
                      <a:noFill/>
                    </a:lnL>
                    <a:lnR w="0">
                      <a:noFill/>
                    </a:lnR>
                    <a:lnT w="0">
                      <a:noFill/>
                    </a:lnT>
                    <a:lnB w="9525">
                      <a:solidFill>
                        <a:srgbClr val="2E2E2E"/>
                      </a:solidFill>
                    </a:lnB>
                    <a:no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2994A"/>
      </a:hlink>
      <a:folHlink>
        <a:srgbClr val="F299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chest X-ray classification</dc:title>
  <dc:subject>First review</dc:subject>
  <dc:creator/>
  <cp:keywords/>
  <dc:description>generated using python-pptx</dc:description>
  <cp:lastModifiedBy/>
  <cp:revision>1</cp:revision>
  <dcterms:created xsi:type="dcterms:W3CDTF">2013-01-27T09:14:16Z</dcterms:created>
  <dcterms:modified xsi:type="dcterms:W3CDTF">2013-01-27T09:15:58Z</dcterms:modified>
  <cp:category/>
</cp:coreProperties>
</file>