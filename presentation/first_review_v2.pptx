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is called ARC-CXR, for audited radiograph classification. We built the working system for this paper: the trained model, the explanation layer on top of it, and the results. The writing, the framing and where it gets submitted are your call. We'll go through the data, the network layer by layer, what came out, what broke along the way, and what we think should happen next. Every number on these slides comes from the saved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of priorities matters. Explainability comes first: for every prediction we show which part of the X-ray drove it, and then we test whether that picture deserves trust. Localisation comes second, and most of it falls out of the same maps. The third point is scope. For this stage we wanted a working model whose numbers can sit next to published ones, and improving it comes after.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there's one slide to remember, it's this one. Classification is in line with published work on the official split, not better than it. The explanations point at the radiologist's box well over twice as often as a random map does. And the three ways of testing an explanation don't agree on which method is best, which we think is the most interesting result for a paper. The last line lists what's still wrong; each of those gets its own slide later.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ChestX-ray14 is the standard public chest X-ray benchmark. Two things matter most for us: the official split by patient, which makes our numbers comparable with published ones, and the 984 radiologist boxes, which let us grade the explanations. We carved validation out of the official training list by patient, and the code fails loudly if any patient ends up in two splits. Notice the imbalance: Hernia has 86 positive images in a test set of 25,596.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reasons: comparable numbers, an answer key for the explanations that the model never trained on, and no access agreement, so we could start straight away. The costs are real too. The labels come from text mining of reports, so some are wrong, and every paper on this dataset shares that problem. The boxes are few, and it's all one hospital. VinDr-CXR was our first choice. It has better labels and many more boxes, but there's little published work on a fixed split to compare with, and access needs signed agreements. We'd like it as the second test set.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DenseNet-121 is still the usual CNN baseline on this dataset in recent papers, so anyone reading can place our numbers. The bigger reason is explainability. The head is one average pool and one linear layer, and with that head the class activation map is exact rather than approximate. Slide 10 shows why. We train at 512 pixels instead of the more common 224, which makes the last feature grid 16 by 16 instead of 7 by 7. That costs about five times the compute but fits on our 16 GB card. A newer backbone might score higher, but it would break the comparison, so it's on the later 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left to right. The X-ray comes in at 512 by 512. The stem shrinks it to 128 by 128. Then come four dense blocks, and between each pair a transition layer halves the grid and the number of channels. Box heights follow the grid size. By the end of dense block 4 we have 1024 channels on a 16 by 16 grid, and every explanation map is taken from there. Pooling and one linear layer turn that into 14 scores, and a sigmoid turns each score into its own probability, because findings aren't mutually exclusive.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path as the previous slide, with exact output sizes. We checked the sizes by passing a 512 pixel image through our model, not by copying them from the paper. The 121 counts layers that have weights: the stem convolution, two convolutions in each of the 58 dense layers, three transition convolutions and the final linear layer. In total about 7.0 million weights. Only the 14,350 in the new output layer start from scratch; the rest start from ImageNet.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 block, each layer takes every earlier feature map in that block as its input, stacked together. A 1 by 1 convolution squeezes that stack to 128 channels, then a 3 by 3 convolution makes 32 new channels, which join the stack for the next layer. That is why block 1 grows from 64 to 256 channels in steps of 32. Because layers can reuse what earlier layers already found, the network gets by with far fewer weights than a ResNet-50: about 7 million against 25 million.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reason we picked this network. The score for a finding, before the sigmoid, is a weighted sum of the 1024 pooled feature maps plus a bias. Pooling is just an average, so you can apply the weights first and average afterwards and get exactly the same number. Before averaging, that weighted sum is a 16 by 16 map, the class activation map. Its average plus the bias is the score, so CAM splits the prediction across the image rather than estimating it. A unit test checks the equality. The other methods estimate similar maps in other ways, which makes CAM a natural reference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this is standard. Two choices deserve a sentence. The positive-class weight uses the square root of the imbalance ratio. The full ratio would weight Hernia about 626 times, which makes a very noisy loss; the square root gives 25. And we don't flip images left to right, because a flipped chest X-ray puts the heart on the wrong side and our localisation reports left and right. Each run took about an hour on the RTX 5070 Ti.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run gives one number and no idea how much of it is luck, so we trained the same recipe three times with different seeds. Each row is a run, each column is the validation score after that epoch, and the highlighted cell is the epoch whose weights we kept. All three peak at epoch 4 or 5, and early stopping ends each run three epochs later. The test scores land within 0.0032 of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a run, validation decides. We keep the best epoch, and the later ones show the start of overfitting: training loss keeps falling while validation slips. Across runs, validation can't decide. The run with the best validation score has the worst test score, and each run validated on different patients anyway. So we report the first run, which was fixed as the main one before the other two existed, and we quote the spread. Choosing seed 2024 because it tests best would mean choosing on the test set.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papers from 2021 to 2025 on the same dataset. The CNN papers still build on DenseNet-121. The top scores now come from transformers pretrained on hundreds of thousands of chest X-rays, which is a different and much bigger kind of project. Input size falls into two groups: 224 pixels for the transformer and accuracy papers, and 512 for the papers that study where the model looks, XProtoNet, ThoraX-PriorNet and CLARiTy. We picked what that second group uses. Links for every paper are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here comes from a paper published between 2021 and 2025, checked against the paper's own table, and all of them are on the official test split. DenseNet-121 results in that period run from 0.812 to 0.822. Ours sit in that range, a little below XProtoNet, which also trains at 512 pixels. The strongest numbers come from transformers pretrained on hundreds of thousands of chest X-rays. We also trained our exact recipe at 224 pixels, with the same seed, to see whether resolution matters for accuracy. It scored 0.802, well outside the spread of the 512 pixel runs, so the larger input helps the score as well as the maps. One trap: ThoraX-PriorNet, a 2024 DenseNet-121 paper, reports 0.847, but on its own random split, so it can't go in this table.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two recent papers that print their AUROC for every finding: XProtoNet from 2021, which uses the same network and input size as us, and SwinCheX from 2022, a transformer at 224 pixels, next to the average of our three runs. The highlighted value is the best of the three in each row. We're best on pneumothorax, edema and fibrosis. The clearest gaps are nodule and pneumonia, small or subtle findings, so that's where a better recipe would have to earn its improvement.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AUROC can look fine for a rare finding while the model is of little practical use for it. Pneumonia is the example: 0.711 AUROC but 0.048 AUPRC. A random guess gets an AUPRC equal to the prevalence, 0.022, so the model is only about twice as good as chance at picking out pneumonia. Hernia looks good, but it rests on 86 test cases, and its AUPRC interval runs from 0.28 to 0.52. All the intervals are in the per-class results file.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numbers to quote if someone asks for precision and recall. Each finding gets its own cut-off, chosen on the validation images and applied once to the test set. With the cut-off that balances precision and recall best, the model finds about 46% of cases, and about 32% of what it flags is real. That's well above flagging everything, but far from clinical use. Set to catch 90 percent of cases, it flags more than half of the healthy images too. Calibration also fixed the probabilities themselves: the average predicted chance of pneumonia was 17% against a true rate of 2%, and now it's 2%. Accuracy looks high but is below always saying no, which is why papers on this dataset don't report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run several methods because they rest on different assumptions and fail in different ways. CAM is exact for this network. Grad-CAM and Grad-CAM++ are what most medical imaging papers use. EigenCAM uses no gradients and ignores which finding you ask about, so it points at the same place whatever the question. The random map is the control: if it also does well on a test, the test proves nothing. Three more methods are written, two of them with unit tests, but not yet scored, so we don't report them.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question catches a different failure. A map can point at the right place for the wrong reason, so pointing alone isn't enough. A map can be faithful to the model and still land where no radiologist would look. And a map can look sensible while having nothing to do with the model, just following edges in the image, which is what the model-randomisation check catches. Arun and colleagues (2021) found that every saliency method they tried on chest X-rays failed at least one trust test, so we measure instead of just showing pictures.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column by column. Grad-CAM++ localises best. Grad-CAM and CAM are the most faithful. In the last column lower is better, because a map should change when the model is scrambled: CAM changes the most, Grad-CAM++ the least. So which method looks best depends on which test you run. Every method at least doubles the random map on pointing, so the test isn't trivial. We think this disagreement is the most useful result for a paper, since reporting one test for one method amounts to picking an answer.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gaps between findings are much bigger than the gaps between methods. Cardiomegaly is large and always in the same place, so everything finds it. Pneumothorax is the weakest: even with the best method, the hottest point misses the box in about four cases out of five. Nodules score low too, but for a different reason, which is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nodule box is about the size of one cell of the 16 by 16 map. So any box drawn from a map comes out around twelve times larger than the nodule, and the standard overlap score can't reach 0.5 no matter where the map points. That held in all 79 cases. So we asked a question the grid can answer: does the box from the map contain the nodule's centre? Grad-CAM++ manages that 61% of the time, a random map 13%. The maps do find nodules; the standard score just can't see it. The containment check is our own and hasn't been validated anywhere else, so a paper would need to treat it carefully.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weakly supervised localisation results from 2022 to 2025 on the same radiologist boxes. Every one of those methods is built to localise: anatomical priors, attention branches, or thresholds tuned on held-out boxes. Ours are plain post-hoc maps from a classifier, which is the thing we set out to measure. At the strict end, IoU above 0.5, our Grad-CAM++ scores 0.10, level with PCAN and below the others; the loose end shows the same order. Part of the gap is our box rule, which keeps only the hottest 5% of the map. Protocols also differ: CLARiTy tunes on half of the boxed images and scores the other half, while we score all 880 with no tuning.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were drawn at random from the test set, not picked to look good. Two things stand out. First, the NIH label and the model often disagree, and neither is automatically right: the labels were text-mined and the probabilities aren't calibrated. The last image is labelled No Finding, yet it's an AP film with several lines and tubes, and the model gives Infiltration 0.64. Second, the third image. It's labelled No Finding, and the model's evidence for Infiltration sits over the left shoulder, around the L marker, outside the lungs. That's the kind of shortcut DeGrave and colleagues found in COVID-19 models. One image proves nothing, so the next step is to measure this over the whole test set.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None of these came from the model. The download took the most time: 45 GB over a slow connection, a PC that slept for nine hours in the middle, three power cuts, and NIH's Box folder starting to return 404 errors. Everything now resumes from where it stopped. The label mismatch is in NIH's own files and would have quietly dropped 123 boxes. The GPU memory one is worth knowing on Windows: the driver doesn't fail when memory runs out, it just gets twenty times slower. The last one cost a re-run of the test pass, but the trained weights were never at risk.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traps anyone implementing these checks can walk into. The BatchNorm one is the subtle one. Scrambling a network's weights isn't enough, because BatchNorm keeps running statistics outside the weights, and with scrambled layers those statistics push activations to infinity. Before the fix, every method came back as NaN, which could easily have been read as every method failing the test. The threshold bug would have made boxes the size of the whole X-ray, which ruins every overlap score. Unit tests caught that one before any result was reported.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 list. Calibration is now done, but a cut-off chosen on 16 validation cases, as for Hernia, is shaky, and it showed on the test set. For pneumothorax, chest drains, the tubes put in to treat it, are a known shortcut, and Jiménez-Sánchez and colleagues (2023) shared drain labels for exactly this check, so that's the first thing we'd check. The shoulder example needs the test-set-wide measurement before we say anything about shortcuts. The data limits can't be fixed on this dataset, only stated.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suggestion for the paper's angle, and it's yours to judge. Many medical imaging papers show a few Grad-CAM pictures and move on. On a model that matches the literature, we can show that the standard tests of an explanation disagree about which method to trust, and where each method breaks down: pneumothorax, nodules at this resolution, and possibly shortcuts. That's a measurement paper, and it doesn't need a better classifier to stand.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column is cheap work on what we already have. Calibration is done; the shortcut measurement and the three unscored methods come next, and all of it runs on our GPU in hours. The second column is what would make a paper stronger: a second hospital, finer maps so nodules get a fair test, and a proper look at pneumothorax. The last column is bigger changes and outside help. NIH's download page also offers re-extracted labels called MAPLEZ, which could help with label noise; we haven't looked at them closely yet. The order after the first column depends on your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decide what we do next, so it would help to settle them today if possible. Everything shown is saved and scripted: all four runs with weights, per-epoch history and test scores, the explanation tables, and 44 passing unit tests. If you like, we can run the model on any test X-ray you pick.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paper compared in this deck is from 2021 to 2025, and every number quoted from them was checked against the paper's own table. The one older entry is the dataset paper, which NIH asks everyone who uses the data to cite.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 Id="rId6"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arxiv.org/abs/2103.10663" TargetMode="External"/><Relationship Id="rId4" Type="http://schemas.openxmlformats.org/officeDocument/2006/relationships/hyperlink" Target="https://doi.org/10.1148/ryai.2021200267" TargetMode="External"/><Relationship Id="rId5" Type="http://schemas.openxmlformats.org/officeDocument/2006/relationships/hyperlink" Target="https://doi.org/10.1038/s42256-021-00338-7" TargetMode="External"/><Relationship Id="rId6" Type="http://schemas.openxmlformats.org/officeDocument/2006/relationships/hyperlink" Target="https://arxiv.org/abs/2206.04246" TargetMode="External"/><Relationship Id="rId7" Type="http://schemas.openxmlformats.org/officeDocument/2006/relationships/hyperlink" Target="https://doi.org/10.1038/s42256-022-00536-x" TargetMode="External"/><Relationship Id="rId8" Type="http://schemas.openxmlformats.org/officeDocument/2006/relationships/hyperlink" Target="https://pmc.ncbi.nlm.nih.gov/articles/PMC9131331/" TargetMode="External"/><Relationship Id="rId9" Type="http://schemas.openxmlformats.org/officeDocument/2006/relationships/hyperlink" Target="https://doi.org/10.1016/j.compmedimag.2022.102137" TargetMode="External"/><Relationship Id="rId10" Type="http://schemas.openxmlformats.org/officeDocument/2006/relationships/hyperlink" Target="https://arxiv.org/abs/2210.12843" TargetMode="External"/><Relationship Id="rId11" Type="http://schemas.openxmlformats.org/officeDocument/2006/relationships/hyperlink" Target="https://arxiv.org/abs/2211.04279" TargetMode="External"/><Relationship Id="rId12" Type="http://schemas.openxmlformats.org/officeDocument/2006/relationships/hyperlink" Target="https://arxiv.org/abs/2404.18933" TargetMode="External"/><Relationship Id="rId13" Type="http://schemas.openxmlformats.org/officeDocument/2006/relationships/hyperlink" Target="https://arxiv.org/abs/2210.02998" TargetMode="External"/><Relationship Id="rId14" Type="http://schemas.openxmlformats.org/officeDocument/2006/relationships/hyperlink" Target="https://doi.org/10.1038/s41746-025-02032-z" TargetMode="External"/><Relationship Id="rId15" Type="http://schemas.openxmlformats.org/officeDocument/2006/relationships/hyperlink" Target="https://arxiv.org/abs/2512.16700" TargetMode="External"/><Relationship Id="rId16" Type="http://schemas.openxmlformats.org/officeDocument/2006/relationships/hyperlink" Target="https://arxiv.org/abs/1705.02315"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822960" y="2071116"/>
            <a:ext cx="118872" cy="118872"/>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1560" y="2002536"/>
            <a:ext cx="5486400" cy="274320"/>
          </a:xfrm>
          <a:prstGeom prst="rect">
            <a:avLst/>
          </a:prstGeom>
          <a:noFill/>
        </p:spPr>
        <p:txBody>
          <a:bodyPr wrap="square" lIns="0" rIns="0" tIns="0" bIns="0" anchor="t">
            <a:noAutofit/>
          </a:bodyPr>
          <a:lstStyle/>
          <a:p>
            <a:pPr algn="l">
              <a:lnSpc>
                <a:spcPct val="105000"/>
              </a:lnSpc>
              <a:spcAft>
                <a:spcPts val="0"/>
              </a:spcAft>
            </a:pPr>
            <a:r>
              <a:rPr sz="1300" b="1" spc="250">
                <a:solidFill>
                  <a:srgbClr val="F2994A"/>
                </a:solidFill>
                <a:latin typeface="Calibri"/>
              </a:rPr>
              <a:t>FIRST REVIEW</a:t>
            </a:r>
            <a:endParaRPr sz="1300"/>
          </a:p>
        </p:txBody>
      </p:sp>
      <p:sp>
        <p:nvSpPr>
          <p:cNvPr id="4" name="TextBox 3"/>
          <p:cNvSpPr txBox="1"/>
          <p:nvPr/>
        </p:nvSpPr>
        <p:spPr>
          <a:xfrm>
            <a:off x="822960" y="2377440"/>
            <a:ext cx="10972800" cy="914400"/>
          </a:xfrm>
          <a:prstGeom prst="rect">
            <a:avLst/>
          </a:prstGeom>
          <a:noFill/>
        </p:spPr>
        <p:txBody>
          <a:bodyPr wrap="square" lIns="0" rIns="0" tIns="0" bIns="0" anchor="t">
            <a:noAutofit/>
          </a:bodyPr>
          <a:lstStyle/>
          <a:p>
            <a:pPr algn="l">
              <a:lnSpc>
                <a:spcPct val="105000"/>
              </a:lnSpc>
              <a:spcAft>
                <a:spcPts val="0"/>
              </a:spcAft>
            </a:pPr>
            <a:r>
              <a:rPr sz="4600" b="1">
                <a:solidFill>
                  <a:srgbClr val="FFFFFF"/>
                </a:solidFill>
                <a:latin typeface="Calibri"/>
              </a:rPr>
              <a:t>ARC-CXR</a:t>
            </a:r>
            <a:endParaRPr sz="4600"/>
          </a:p>
        </p:txBody>
      </p:sp>
      <p:sp>
        <p:nvSpPr>
          <p:cNvPr id="5" name="TextBox 4"/>
          <p:cNvSpPr txBox="1"/>
          <p:nvPr/>
        </p:nvSpPr>
        <p:spPr>
          <a:xfrm>
            <a:off x="822960" y="3383280"/>
            <a:ext cx="9144000" cy="914400"/>
          </a:xfrm>
          <a:prstGeom prst="rect">
            <a:avLst/>
          </a:prstGeom>
          <a:noFill/>
        </p:spPr>
        <p:txBody>
          <a:bodyPr wrap="square" lIns="0" rIns="0" tIns="0" bIns="0" anchor="t">
            <a:noAutofit/>
          </a:bodyPr>
          <a:lstStyle/>
          <a:p>
            <a:pPr algn="l">
              <a:lnSpc>
                <a:spcPct val="110000"/>
              </a:lnSpc>
              <a:spcAft>
                <a:spcPts val="0"/>
              </a:spcAft>
            </a:pPr>
            <a:r>
              <a:rPr sz="2200" b="0">
                <a:solidFill>
                  <a:srgbClr val="D2D2D2"/>
                </a:solidFill>
                <a:latin typeface="Calibri"/>
              </a:rPr>
              <a:t>Audited explanations for chest X-ray classification. A DenseNet-121 trained on NIH ChestX-ray14, and three tests of whether its explanations can be trusted.</a:t>
            </a:r>
            <a:endParaRPr sz="2200"/>
          </a:p>
        </p:txBody>
      </p:sp>
      <p:sp>
        <p:nvSpPr>
          <p:cNvPr id="6" name="TextBox 5"/>
          <p:cNvSpPr txBox="1"/>
          <p:nvPr/>
        </p:nvSpPr>
        <p:spPr>
          <a:xfrm>
            <a:off x="822960" y="5532120"/>
            <a:ext cx="8229600" cy="640080"/>
          </a:xfrm>
          <a:prstGeom prst="rect">
            <a:avLst/>
          </a:prstGeom>
          <a:noFill/>
        </p:spPr>
        <p:txBody>
          <a:bodyPr wrap="square" lIns="0" rIns="0" tIns="0" bIns="0" anchor="t">
            <a:noAutofit/>
          </a:bodyPr>
          <a:lstStyle/>
          <a:p>
            <a:pPr algn="l">
              <a:lnSpc>
                <a:spcPct val="105000"/>
              </a:lnSpc>
              <a:spcAft>
                <a:spcPts val="300"/>
              </a:spcAft>
            </a:pPr>
            <a:r>
              <a:rPr sz="1400" b="0">
                <a:solidFill>
                  <a:srgbClr val="8F8F8F"/>
                </a:solidFill>
                <a:latin typeface="Calibri"/>
              </a:rPr>
              <a:t>Prepared by group 132 for Dr. Raghvendra Mishra</a:t>
            </a:r>
            <a:endParaRPr sz="1400"/>
          </a:p>
          <a:p>
            <a:pPr algn="l">
              <a:lnSpc>
                <a:spcPct val="105000"/>
              </a:lnSpc>
              <a:spcAft>
                <a:spcPts val="0"/>
              </a:spcAft>
            </a:pPr>
            <a:r>
              <a:rPr sz="1400" b="0">
                <a:solidFill>
                  <a:srgbClr val="8F8F8F"/>
                </a:solidFill>
                <a:latin typeface="Calibri"/>
              </a:rPr>
              <a:t>September 2026</a:t>
            </a:r>
            <a:endParaRPr sz="14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THE BRIEF</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Explanations first, localisation second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a:t>
            </a:r>
            <a:endParaRPr sz="1000"/>
          </a:p>
        </p:txBody>
      </p:sp>
      <p:sp>
        <p:nvSpPr>
          <p:cNvPr id="6" name="TextBox 5"/>
          <p:cNvSpPr txBox="1"/>
          <p:nvPr/>
        </p:nvSpPr>
        <p:spPr>
          <a:xfrm>
            <a:off x="548640"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1</a:t>
            </a:r>
            <a:endParaRPr sz="6000"/>
          </a:p>
        </p:txBody>
      </p:sp>
      <p:sp>
        <p:nvSpPr>
          <p:cNvPr id="7" name="TextBox 6"/>
          <p:cNvSpPr txBox="1"/>
          <p:nvPr/>
        </p:nvSpPr>
        <p:spPr>
          <a:xfrm>
            <a:off x="548640"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Explain every prediction</a:t>
            </a:r>
            <a:endParaRPr sz="2100"/>
          </a:p>
        </p:txBody>
      </p:sp>
      <p:sp>
        <p:nvSpPr>
          <p:cNvPr id="8" name="TextBox 7"/>
          <p:cNvSpPr txBox="1"/>
          <p:nvPr/>
        </p:nvSpPr>
        <p:spPr>
          <a:xfrm>
            <a:off x="548640"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Show which part of the X-ray drove each finding, and measure how far that picture can be trusted.</a:t>
            </a:r>
            <a:endParaRPr sz="1700"/>
          </a:p>
        </p:txBody>
      </p:sp>
      <p:sp>
        <p:nvSpPr>
          <p:cNvPr id="9" name="TextBox 8"/>
          <p:cNvSpPr txBox="1"/>
          <p:nvPr/>
        </p:nvSpPr>
        <p:spPr>
          <a:xfrm>
            <a:off x="4374794"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2</a:t>
            </a:r>
            <a:endParaRPr sz="6000"/>
          </a:p>
        </p:txBody>
      </p:sp>
      <p:sp>
        <p:nvSpPr>
          <p:cNvPr id="10" name="TextBox 9"/>
          <p:cNvSpPr txBox="1"/>
          <p:nvPr/>
        </p:nvSpPr>
        <p:spPr>
          <a:xfrm>
            <a:off x="4374794"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Localise the finding</a:t>
            </a:r>
            <a:endParaRPr sz="2100"/>
          </a:p>
        </p:txBody>
      </p:sp>
      <p:sp>
        <p:nvSpPr>
          <p:cNvPr id="11" name="TextBox 10"/>
          <p:cNvSpPr txBox="1"/>
          <p:nvPr/>
        </p:nvSpPr>
        <p:spPr>
          <a:xfrm>
            <a:off x="4374794"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Turn the same maps into boxes and rough zones, and score them against boxes drawn by radiologists.</a:t>
            </a:r>
            <a:endParaRPr sz="1700"/>
          </a:p>
        </p:txBody>
      </p:sp>
      <p:sp>
        <p:nvSpPr>
          <p:cNvPr id="12" name="TextBox 11"/>
          <p:cNvSpPr txBox="1"/>
          <p:nvPr/>
        </p:nvSpPr>
        <p:spPr>
          <a:xfrm>
            <a:off x="8200948" y="1691640"/>
            <a:ext cx="1097280" cy="868680"/>
          </a:xfrm>
          <a:prstGeom prst="rect">
            <a:avLst/>
          </a:prstGeom>
          <a:noFill/>
        </p:spPr>
        <p:txBody>
          <a:bodyPr wrap="square" lIns="0" rIns="0" tIns="0" bIns="0" anchor="b">
            <a:noAutofit/>
          </a:bodyPr>
          <a:lstStyle/>
          <a:p>
            <a:pPr algn="l">
              <a:lnSpc>
                <a:spcPct val="105000"/>
              </a:lnSpc>
              <a:spcAft>
                <a:spcPts val="0"/>
              </a:spcAft>
            </a:pPr>
            <a:r>
              <a:rPr sz="6000" b="0">
                <a:solidFill>
                  <a:srgbClr val="F2994A"/>
                </a:solidFill>
                <a:latin typeface="Calibri Light"/>
              </a:rPr>
              <a:t>3</a:t>
            </a:r>
            <a:endParaRPr sz="6000"/>
          </a:p>
        </p:txBody>
      </p:sp>
      <p:sp>
        <p:nvSpPr>
          <p:cNvPr id="13" name="TextBox 12"/>
          <p:cNvSpPr txBox="1"/>
          <p:nvPr/>
        </p:nvSpPr>
        <p:spPr>
          <a:xfrm>
            <a:off x="8200948" y="2743200"/>
            <a:ext cx="3442106" cy="45720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Stay comparable</a:t>
            </a:r>
            <a:endParaRPr sz="2100"/>
          </a:p>
        </p:txBody>
      </p:sp>
      <p:sp>
        <p:nvSpPr>
          <p:cNvPr id="14" name="TextBox 13"/>
          <p:cNvSpPr txBox="1"/>
          <p:nvPr/>
        </p:nvSpPr>
        <p:spPr>
          <a:xfrm>
            <a:off x="8200948" y="3246120"/>
            <a:ext cx="3350666" cy="182880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A working model whose numbers sit next to published ones on the official test split. Making it better comes later.</a:t>
            </a:r>
            <a:endParaRPr sz="1700"/>
          </a:p>
        </p:txBody>
      </p:sp>
      <p:sp>
        <p:nvSpPr>
          <p:cNvPr id="15" name="TextBox 14"/>
          <p:cNvSpPr txBox="1"/>
          <p:nvPr/>
        </p:nvSpPr>
        <p:spPr>
          <a:xfrm>
            <a:off x="548640" y="5760720"/>
            <a:ext cx="11094415" cy="36576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Research prototype on one public dataset. Not a diagnostic tool.</a:t>
            </a:r>
            <a:endParaRPr sz="13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SUMMARY</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things stand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a:t>
            </a:r>
            <a:endParaRPr sz="1000"/>
          </a:p>
        </p:txBody>
      </p:sp>
      <p:sp>
        <p:nvSpPr>
          <p:cNvPr id="6" name="TextBox 5"/>
          <p:cNvSpPr txBox="1"/>
          <p:nvPr/>
        </p:nvSpPr>
        <p:spPr>
          <a:xfrm>
            <a:off x="548640" y="1600200"/>
            <a:ext cx="3442106" cy="960120"/>
          </a:xfrm>
          <a:prstGeom prst="rect">
            <a:avLst/>
          </a:prstGeom>
          <a:noFill/>
        </p:spPr>
        <p:txBody>
          <a:bodyPr wrap="square" lIns="0" rIns="0" tIns="0" bIns="0" anchor="b">
            <a:noAutofit/>
          </a:bodyPr>
          <a:lstStyle/>
          <a:p>
            <a:pPr algn="l">
              <a:lnSpc>
                <a:spcPct val="90000"/>
              </a:lnSpc>
              <a:spcAft>
                <a:spcPts val="0"/>
              </a:spcAft>
            </a:pPr>
            <a:r>
              <a:rPr sz="6000" b="0">
                <a:solidFill>
                  <a:srgbClr val="FFFFFF"/>
                </a:solidFill>
                <a:latin typeface="Calibri Light"/>
              </a:rPr>
              <a:t>0.816</a:t>
            </a:r>
            <a:endParaRPr sz="6000"/>
          </a:p>
        </p:txBody>
      </p:sp>
      <p:sp>
        <p:nvSpPr>
          <p:cNvPr id="7" name="TextBox 6"/>
          <p:cNvSpPr txBox="1"/>
          <p:nvPr/>
        </p:nvSpPr>
        <p:spPr>
          <a:xfrm>
            <a:off x="548640"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Mean AUROC over 14 findings on NIH's official test split. Repeat runs gave 0.819 and 0.816. DenseNet-121 results published 2021 to 2024: 0.812 to 0.822.</a:t>
            </a:r>
            <a:endParaRPr sz="1600"/>
          </a:p>
        </p:txBody>
      </p:sp>
      <p:sp>
        <p:nvSpPr>
          <p:cNvPr id="8" name="TextBox 7"/>
          <p:cNvSpPr txBox="1"/>
          <p:nvPr/>
        </p:nvSpPr>
        <p:spPr>
          <a:xfrm>
            <a:off x="4374794" y="1600200"/>
            <a:ext cx="3442106" cy="960120"/>
          </a:xfrm>
          <a:prstGeom prst="rect">
            <a:avLst/>
          </a:prstGeom>
          <a:noFill/>
        </p:spPr>
        <p:txBody>
          <a:bodyPr wrap="square" lIns="0" rIns="0" tIns="0" bIns="0" anchor="b">
            <a:noAutofit/>
          </a:bodyPr>
          <a:lstStyle/>
          <a:p>
            <a:pPr algn="l">
              <a:lnSpc>
                <a:spcPct val="90000"/>
              </a:lnSpc>
              <a:spcAft>
                <a:spcPts val="0"/>
              </a:spcAft>
            </a:pPr>
            <a:r>
              <a:rPr sz="6000" b="0">
                <a:solidFill>
                  <a:srgbClr val="FFFFFF"/>
                </a:solidFill>
                <a:latin typeface="Calibri Light"/>
              </a:rPr>
              <a:t>2.4×</a:t>
            </a:r>
            <a:endParaRPr sz="6000"/>
          </a:p>
        </p:txBody>
      </p:sp>
      <p:sp>
        <p:nvSpPr>
          <p:cNvPr id="9" name="TextBox 8"/>
          <p:cNvSpPr txBox="1"/>
          <p:nvPr/>
        </p:nvSpPr>
        <p:spPr>
          <a:xfrm>
            <a:off x="4374794"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How much more often the best method's hottest point lands in the radiologist's box than a random map's (0.544 against 0.228).</a:t>
            </a:r>
            <a:endParaRPr sz="1600"/>
          </a:p>
        </p:txBody>
      </p:sp>
      <p:sp>
        <p:nvSpPr>
          <p:cNvPr id="10" name="TextBox 9"/>
          <p:cNvSpPr txBox="1"/>
          <p:nvPr/>
        </p:nvSpPr>
        <p:spPr>
          <a:xfrm>
            <a:off x="8200948" y="1600200"/>
            <a:ext cx="3442106" cy="9601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No single best</a:t>
            </a:r>
            <a:endParaRPr sz="4400"/>
          </a:p>
        </p:txBody>
      </p:sp>
      <p:sp>
        <p:nvSpPr>
          <p:cNvPr id="11" name="TextBox 10"/>
          <p:cNvSpPr txBox="1"/>
          <p:nvPr/>
        </p:nvSpPr>
        <p:spPr>
          <a:xfrm>
            <a:off x="8200948" y="2651760"/>
            <a:ext cx="3442106" cy="164592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Grad-CAM++ localises best but changes least when the model is scrambled. CAM and Grad-CAM are the most faithful.</a:t>
            </a:r>
            <a:endParaRPr sz="1600"/>
          </a:p>
        </p:txBody>
      </p:sp>
      <p:sp>
        <p:nvSpPr>
          <p:cNvPr id="12" name="Rectangle 11"/>
          <p:cNvSpPr/>
          <p:nvPr/>
        </p:nvSpPr>
        <p:spPr>
          <a:xfrm>
            <a:off x="548640" y="4846320"/>
            <a:ext cx="11094415" cy="100584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846320"/>
            <a:ext cx="10454335" cy="1005840"/>
          </a:xfrm>
          <a:prstGeom prst="rect">
            <a:avLst/>
          </a:prstGeom>
          <a:noFill/>
        </p:spPr>
        <p:txBody>
          <a:bodyPr wrap="square" lIns="0" rIns="0" tIns="0" bIns="0" anchor="ctr">
            <a:noAutofit/>
          </a:bodyPr>
          <a:lstStyle/>
          <a:p>
            <a:pPr algn="l">
              <a:lnSpc>
                <a:spcPct val="110000"/>
              </a:lnSpc>
              <a:spcAft>
                <a:spcPts val="0"/>
              </a:spcAft>
            </a:pPr>
            <a:r>
              <a:rPr sz="1600" b="1">
                <a:solidFill>
                  <a:srgbClr val="F2994A"/>
                </a:solidFill>
                <a:latin typeface="Calibri"/>
              </a:rPr>
              <a:t>Still wrong</a:t>
            </a:r>
            <a:r>
              <a:rPr sz="1600" b="0">
                <a:solidFill>
                  <a:srgbClr val="D2D2D2"/>
                </a:solidFill>
                <a:latin typeface="Calibri"/>
              </a:rPr>
              <a:t>   Pneumothorax maps point away from the radiologist's box, rare findings rest on few validation cases, and one of four random test images puts its evidence on the shoulder.</a:t>
            </a:r>
            <a:endParaRPr sz="16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DATASET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NIH ChestX-ray14</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4</a:t>
            </a:r>
            <a:endParaRPr sz="1000"/>
          </a:p>
        </p:txBody>
      </p:sp>
      <p:sp>
        <p:nvSpPr>
          <p:cNvPr id="6" name="TextBox 5"/>
          <p:cNvSpPr txBox="1"/>
          <p:nvPr/>
        </p:nvSpPr>
        <p:spPr>
          <a:xfrm>
            <a:off x="548640"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112,120</a:t>
            </a:r>
            <a:endParaRPr sz="4600"/>
          </a:p>
        </p:txBody>
      </p:sp>
      <p:sp>
        <p:nvSpPr>
          <p:cNvPr id="7" name="TextBox 6"/>
          <p:cNvSpPr txBox="1"/>
          <p:nvPr/>
        </p:nvSpPr>
        <p:spPr>
          <a:xfrm>
            <a:off x="548640"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frontal chest X-rays, 1024 × 1024 PNG, about 45 GB</a:t>
            </a:r>
            <a:endParaRPr sz="1500"/>
          </a:p>
        </p:txBody>
      </p:sp>
      <p:sp>
        <p:nvSpPr>
          <p:cNvPr id="8" name="TextBox 7"/>
          <p:cNvSpPr txBox="1"/>
          <p:nvPr/>
        </p:nvSpPr>
        <p:spPr>
          <a:xfrm>
            <a:off x="3402253"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30,805</a:t>
            </a:r>
            <a:endParaRPr sz="4600"/>
          </a:p>
        </p:txBody>
      </p:sp>
      <p:sp>
        <p:nvSpPr>
          <p:cNvPr id="9" name="TextBox 8"/>
          <p:cNvSpPr txBox="1"/>
          <p:nvPr/>
        </p:nvSpPr>
        <p:spPr>
          <a:xfrm>
            <a:off x="3402253"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patients, and every split is made by patient</a:t>
            </a:r>
            <a:endParaRPr sz="1500"/>
          </a:p>
        </p:txBody>
      </p:sp>
      <p:sp>
        <p:nvSpPr>
          <p:cNvPr id="10" name="TextBox 9"/>
          <p:cNvSpPr txBox="1"/>
          <p:nvPr/>
        </p:nvSpPr>
        <p:spPr>
          <a:xfrm>
            <a:off x="6255867"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14</a:t>
            </a:r>
            <a:endParaRPr sz="4600"/>
          </a:p>
        </p:txBody>
      </p:sp>
      <p:sp>
        <p:nvSpPr>
          <p:cNvPr id="11" name="TextBox 10"/>
          <p:cNvSpPr txBox="1"/>
          <p:nvPr/>
        </p:nvSpPr>
        <p:spPr>
          <a:xfrm>
            <a:off x="6255867"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findings. One X-ray can have several, or none.</a:t>
            </a:r>
            <a:endParaRPr sz="1500"/>
          </a:p>
        </p:txBody>
      </p:sp>
      <p:sp>
        <p:nvSpPr>
          <p:cNvPr id="12" name="TextBox 11"/>
          <p:cNvSpPr txBox="1"/>
          <p:nvPr/>
        </p:nvSpPr>
        <p:spPr>
          <a:xfrm>
            <a:off x="9109481" y="1554480"/>
            <a:ext cx="2533573"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984</a:t>
            </a:r>
            <a:endParaRPr sz="4600"/>
          </a:p>
        </p:txBody>
      </p:sp>
      <p:sp>
        <p:nvSpPr>
          <p:cNvPr id="13" name="TextBox 12"/>
          <p:cNvSpPr txBox="1"/>
          <p:nvPr/>
        </p:nvSpPr>
        <p:spPr>
          <a:xfrm>
            <a:off x="9109481" y="2423160"/>
            <a:ext cx="2533573"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radiologist boxes on 880 test images, covering 8 findings</a:t>
            </a:r>
            <a:endParaRPr sz="1500"/>
          </a:p>
        </p:txBody>
      </p:sp>
      <p:graphicFrame>
        <p:nvGraphicFramePr>
          <p:cNvPr id="14" name="Table 13"/>
          <p:cNvGraphicFramePr>
            <a:graphicFrameLocks noGrp="1"/>
          </p:cNvGraphicFramePr>
          <p:nvPr/>
        </p:nvGraphicFramePr>
        <p:xfrm>
          <a:off x="548640" y="3657600"/>
          <a:ext cx="11094415" cy="1673352"/>
        </p:xfrm>
        <a:graphic>
          <a:graphicData uri="http://schemas.openxmlformats.org/drawingml/2006/table">
            <a:tbl>
              <a:tblPr firstRow="0" bandRow="0">
                <a:tableStyleId>{2D5ABB26-0587-4C30-8999-92F81FD0307C}</a:tableStyleId>
              </a:tblPr>
              <a:tblGrid>
                <a:gridCol w="1828800"/>
                <a:gridCol w="1463040"/>
                <a:gridCol w="7802575"/>
              </a:tblGrid>
              <a:tr h="411480">
                <a:tc>
                  <a:txBody>
                    <a:bodyPr wrap="square"/>
                    <a:lstStyle/>
                    <a:p>
                      <a:pPr algn="l">
                        <a:lnSpc>
                          <a:spcPct val="105000"/>
                        </a:lnSpc>
                        <a:spcAft>
                          <a:spcPts val="0"/>
                        </a:spcAft>
                      </a:pPr>
                      <a:r>
                        <a:rPr sz="1200" b="0">
                          <a:solidFill>
                            <a:srgbClr val="8F8F8F"/>
                          </a:solidFill>
                          <a:latin typeface="Calibri"/>
                        </a:rPr>
                        <a:t>split</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images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where it comes from</a:t>
                      </a:r>
                      <a:endParaRPr sz="1200"/>
                    </a:p>
                  </a:txBody>
                  <a:tcPr marL="73152" marR="73152" marT="27432" marB="27432" anchor="ctr">
                    <a:lnL w="0">
                      <a:noFill/>
                    </a:lnL>
                    <a:lnR w="0">
                      <a:noFill/>
                    </a:lnR>
                    <a:lnT w="0">
                      <a:noFill/>
                    </a:lnT>
                    <a:lnB w="12700">
                      <a:solidFill>
                        <a:srgbClr val="5C5C5C"/>
                      </a:solidFill>
                    </a:lnB>
                    <a:noFill/>
                  </a:tcPr>
                </a:tc>
              </a:tr>
              <a:tr h="420624">
                <a:tc>
                  <a:txBody>
                    <a:bodyPr wrap="square"/>
                    <a:lstStyle/>
                    <a:p>
                      <a:pPr algn="l">
                        <a:lnSpc>
                          <a:spcPct val="105000"/>
                        </a:lnSpc>
                        <a:spcAft>
                          <a:spcPts val="0"/>
                        </a:spcAft>
                      </a:pPr>
                      <a:r>
                        <a:rPr sz="1600" b="1">
                          <a:solidFill>
                            <a:srgbClr val="FFFFFF"/>
                          </a:solidFill>
                          <a:latin typeface="Calibri"/>
                        </a:rPr>
                        <a:t>train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78,327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NIH's official train and validation list, 90% of its patients</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FFFFF"/>
                          </a:solidFill>
                          <a:latin typeface="Calibri"/>
                        </a:rPr>
                        <a:t>validation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8,197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same list, the other 10% of patients (seed 1337)</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FFFFF"/>
                          </a:solidFill>
                          <a:latin typeface="Calibri"/>
                        </a:rPr>
                        <a:t>test</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25,596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NIH's official test list, untouched. All 984 boxes are in it.</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15" name="TextBox 14"/>
          <p:cNvSpPr txBox="1"/>
          <p:nvPr/>
        </p:nvSpPr>
        <p:spPr>
          <a:xfrm>
            <a:off x="548640" y="571500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Findings range from Infiltration, in 24% of test images, to Hernia, in 0.3% (86 images). We resize every image to 512 × 512.</a:t>
            </a:r>
            <a:endParaRPr sz="13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DATASET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this dataset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5</a:t>
            </a:r>
            <a:endParaRPr sz="1000"/>
          </a:p>
        </p:txBody>
      </p:sp>
      <p:sp>
        <p:nvSpPr>
          <p:cNvPr id="6" name="TextBox 5"/>
          <p:cNvSpPr txBox="1"/>
          <p:nvPr/>
        </p:nvSpPr>
        <p:spPr>
          <a:xfrm>
            <a:off x="548640" y="1645920"/>
            <a:ext cx="5341467"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What it gives us</a:t>
            </a:r>
            <a:endParaRPr sz="2000"/>
          </a:p>
        </p:txBody>
      </p:sp>
      <p:sp>
        <p:nvSpPr>
          <p:cNvPr id="7" name="TextBox 6"/>
          <p:cNvSpPr txBox="1"/>
          <p:nvPr/>
        </p:nvSpPr>
        <p:spPr>
          <a:xfrm>
            <a:off x="548640" y="2148840"/>
            <a:ext cx="5341467" cy="2651760"/>
          </a:xfrm>
          <a:prstGeom prst="rect">
            <a:avLst/>
          </a:prstGeom>
          <a:noFill/>
        </p:spPr>
        <p:txBody>
          <a:bodyPr wrap="square" lIns="0" rIns="0" tIns="0" bIns="0" anchor="t">
            <a:noAutofit/>
          </a:bodyPr>
          <a:lstStyle/>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An official test split made by patient, so our numbers line up with published ones</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Radiologist boxes, all on test images, so explanations are graded on cases the model never trained on</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No access agreement. It asks only for attribution: cite Wang et al. 2017 and credit the NIH Clinical Center</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Still the standard benchmark for this task in papers from 2021 to 2025</a:t>
            </a:r>
            <a:endParaRPr sz="1600"/>
          </a:p>
        </p:txBody>
      </p:sp>
      <p:sp>
        <p:nvSpPr>
          <p:cNvPr id="8" name="TextBox 7"/>
          <p:cNvSpPr txBox="1"/>
          <p:nvPr/>
        </p:nvSpPr>
        <p:spPr>
          <a:xfrm>
            <a:off x="6301587" y="1645920"/>
            <a:ext cx="5341467"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What it costs us</a:t>
            </a:r>
            <a:endParaRPr sz="2000"/>
          </a:p>
        </p:txBody>
      </p:sp>
      <p:sp>
        <p:nvSpPr>
          <p:cNvPr id="9" name="TextBox 8"/>
          <p:cNvSpPr txBox="1"/>
          <p:nvPr/>
        </p:nvSpPr>
        <p:spPr>
          <a:xfrm>
            <a:off x="6301587" y="2148840"/>
            <a:ext cx="5341467" cy="2651760"/>
          </a:xfrm>
          <a:prstGeom prst="rect">
            <a:avLst/>
          </a:prstGeom>
          <a:noFill/>
        </p:spPr>
        <p:txBody>
          <a:bodyPr wrap="square" lIns="0" rIns="0" tIns="0" bIns="0" anchor="t">
            <a:noAutofit/>
          </a:bodyPr>
          <a:lstStyle/>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Labels were text-mined from radiology reports, so some of them are wrong</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Boxes exist for 8 of the 14 findings, on under a thousand images</a:t>
            </a:r>
            <a:endParaRPr sz="1600"/>
          </a:p>
          <a:p>
            <a:pPr algn="l" marL="237744" indent="-237744">
              <a:lnSpc>
                <a:spcPct val="105000"/>
              </a:lnSpc>
              <a:spcAft>
                <a:spcPts val="900"/>
              </a:spcAft>
              <a:buClr>
                <a:srgbClr val="F2994A"/>
              </a:buClr>
              <a:buSzPct val="85000"/>
              <a:buFont typeface="Arial"/>
              <a:buChar char="▪"/>
            </a:pPr>
            <a:r>
              <a:rPr sz="1600" b="0">
                <a:solidFill>
                  <a:srgbClr val="D2D2D2"/>
                </a:solidFill>
                <a:latin typeface="Calibri"/>
              </a:rPr>
              <a:t>Every image comes from one hospital</a:t>
            </a:r>
            <a:endParaRPr sz="1600"/>
          </a:p>
        </p:txBody>
      </p:sp>
      <p:sp>
        <p:nvSpPr>
          <p:cNvPr id="10" name="Rectangle 9"/>
          <p:cNvSpPr/>
          <p:nvPr/>
        </p:nvSpPr>
        <p:spPr>
          <a:xfrm>
            <a:off x="548640" y="4892040"/>
            <a:ext cx="11094415" cy="96012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892040"/>
            <a:ext cx="10454335" cy="960120"/>
          </a:xfrm>
          <a:prstGeom prst="rect">
            <a:avLst/>
          </a:prstGeom>
          <a:noFill/>
        </p:spPr>
        <p:txBody>
          <a:bodyPr wrap="square" lIns="0" rIns="0" tIns="0" bIns="0" anchor="ctr">
            <a:noAutofit/>
          </a:bodyPr>
          <a:lstStyle/>
          <a:p>
            <a:pPr algn="l">
              <a:lnSpc>
                <a:spcPct val="110000"/>
              </a:lnSpc>
              <a:spcAft>
                <a:spcPts val="0"/>
              </a:spcAft>
            </a:pPr>
            <a:r>
              <a:rPr sz="1500" b="1">
                <a:solidFill>
                  <a:srgbClr val="FFFFFF"/>
                </a:solidFill>
                <a:latin typeface="Calibri"/>
              </a:rPr>
              <a:t>VinDr-CXR was our first plan.</a:t>
            </a:r>
            <a:r>
              <a:rPr sz="1500" b="0">
                <a:solidFill>
                  <a:srgbClr val="D2D2D2"/>
                </a:solidFill>
                <a:latin typeface="Calibri"/>
              </a:rPr>
              <a:t> Cleaner labels and far more boxes, but few published results on a fixed split to compare against, and access needs signed agreements. It stays on the list as a second test set.</a:t>
            </a:r>
            <a:endParaRPr sz="15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MODEL</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DenseNet-121, pretrained on ImageNet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6</a:t>
            </a:r>
            <a:endParaRPr sz="1000"/>
          </a:p>
        </p:txBody>
      </p:sp>
      <p:sp>
        <p:nvSpPr>
          <p:cNvPr id="6" name="TextBox 5"/>
          <p:cNvSpPr txBox="1"/>
          <p:nvPr/>
        </p:nvSpPr>
        <p:spPr>
          <a:xfrm>
            <a:off x="548640" y="1554480"/>
            <a:ext cx="3291840" cy="822960"/>
          </a:xfrm>
          <a:prstGeom prst="rect">
            <a:avLst/>
          </a:prstGeom>
          <a:noFill/>
        </p:spPr>
        <p:txBody>
          <a:bodyPr wrap="square" lIns="0" rIns="0" tIns="0" bIns="0" anchor="b">
            <a:noAutofit/>
          </a:bodyPr>
          <a:lstStyle/>
          <a:p>
            <a:pPr algn="l">
              <a:lnSpc>
                <a:spcPct val="90000"/>
              </a:lnSpc>
              <a:spcAft>
                <a:spcPts val="0"/>
              </a:spcAft>
            </a:pPr>
            <a:r>
              <a:rPr sz="5400" b="0">
                <a:solidFill>
                  <a:srgbClr val="FFFFFF"/>
                </a:solidFill>
                <a:latin typeface="Calibri Light"/>
              </a:rPr>
              <a:t>121</a:t>
            </a:r>
            <a:endParaRPr sz="5400"/>
          </a:p>
        </p:txBody>
      </p:sp>
      <p:sp>
        <p:nvSpPr>
          <p:cNvPr id="7" name="TextBox 6"/>
          <p:cNvSpPr txBox="1"/>
          <p:nvPr/>
        </p:nvSpPr>
        <p:spPr>
          <a:xfrm>
            <a:off x="548640" y="2468880"/>
            <a:ext cx="3291840" cy="365760"/>
          </a:xfrm>
          <a:prstGeom prst="rect">
            <a:avLst/>
          </a:prstGeom>
          <a:noFill/>
        </p:spPr>
        <p:txBody>
          <a:bodyPr wrap="square" lIns="0" rIns="0" tIns="0" bIns="0" anchor="t">
            <a:noAutofit/>
          </a:bodyPr>
          <a:lstStyle/>
          <a:p>
            <a:pPr algn="l">
              <a:lnSpc>
                <a:spcPct val="105000"/>
              </a:lnSpc>
              <a:spcAft>
                <a:spcPts val="0"/>
              </a:spcAft>
            </a:pPr>
            <a:r>
              <a:rPr sz="1500" b="0">
                <a:solidFill>
                  <a:srgbClr val="8F8F8F"/>
                </a:solidFill>
                <a:latin typeface="Calibri"/>
              </a:rPr>
              <a:t>layers with weights</a:t>
            </a:r>
            <a:endParaRPr sz="1500"/>
          </a:p>
        </p:txBody>
      </p:sp>
      <p:sp>
        <p:nvSpPr>
          <p:cNvPr id="8" name="TextBox 7"/>
          <p:cNvSpPr txBox="1"/>
          <p:nvPr/>
        </p:nvSpPr>
        <p:spPr>
          <a:xfrm>
            <a:off x="548640" y="2880360"/>
            <a:ext cx="3291840" cy="822960"/>
          </a:xfrm>
          <a:prstGeom prst="rect">
            <a:avLst/>
          </a:prstGeom>
          <a:noFill/>
        </p:spPr>
        <p:txBody>
          <a:bodyPr wrap="square" lIns="0" rIns="0" tIns="0" bIns="0" anchor="b">
            <a:noAutofit/>
          </a:bodyPr>
          <a:lstStyle/>
          <a:p>
            <a:pPr algn="l">
              <a:lnSpc>
                <a:spcPct val="90000"/>
              </a:lnSpc>
              <a:spcAft>
                <a:spcPts val="0"/>
              </a:spcAft>
            </a:pPr>
            <a:r>
              <a:rPr sz="5400" b="0">
                <a:solidFill>
                  <a:srgbClr val="FFFFFF"/>
                </a:solidFill>
                <a:latin typeface="Calibri Light"/>
              </a:rPr>
              <a:t>7.0 M</a:t>
            </a:r>
            <a:endParaRPr sz="5400"/>
          </a:p>
        </p:txBody>
      </p:sp>
      <p:sp>
        <p:nvSpPr>
          <p:cNvPr id="9" name="TextBox 8"/>
          <p:cNvSpPr txBox="1"/>
          <p:nvPr/>
        </p:nvSpPr>
        <p:spPr>
          <a:xfrm>
            <a:off x="548640" y="3794759"/>
            <a:ext cx="3291840" cy="365760"/>
          </a:xfrm>
          <a:prstGeom prst="rect">
            <a:avLst/>
          </a:prstGeom>
          <a:noFill/>
        </p:spPr>
        <p:txBody>
          <a:bodyPr wrap="square" lIns="0" rIns="0" tIns="0" bIns="0" anchor="t">
            <a:noAutofit/>
          </a:bodyPr>
          <a:lstStyle/>
          <a:p>
            <a:pPr algn="l">
              <a:lnSpc>
                <a:spcPct val="105000"/>
              </a:lnSpc>
              <a:spcAft>
                <a:spcPts val="0"/>
              </a:spcAft>
            </a:pPr>
            <a:r>
              <a:rPr sz="1500" b="0">
                <a:solidFill>
                  <a:srgbClr val="8F8F8F"/>
                </a:solidFill>
                <a:latin typeface="Calibri"/>
              </a:rPr>
              <a:t>weights, of which 14,350 are new</a:t>
            </a:r>
            <a:endParaRPr sz="1500"/>
          </a:p>
        </p:txBody>
      </p:sp>
      <p:sp>
        <p:nvSpPr>
          <p:cNvPr id="10" name="TextBox 9"/>
          <p:cNvSpPr txBox="1"/>
          <p:nvPr/>
        </p:nvSpPr>
        <p:spPr>
          <a:xfrm>
            <a:off x="548640" y="4343400"/>
            <a:ext cx="3383280" cy="137160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The 1000-class ImageNet output is replaced by 14 outputs, one per finding, each through its own sigmoid.</a:t>
            </a:r>
            <a:endParaRPr sz="1500"/>
          </a:p>
        </p:txBody>
      </p:sp>
      <p:sp>
        <p:nvSpPr>
          <p:cNvPr id="11" name="TextBox 10"/>
          <p:cNvSpPr txBox="1"/>
          <p:nvPr/>
        </p:nvSpPr>
        <p:spPr>
          <a:xfrm>
            <a:off x="4617720" y="1645920"/>
            <a:ext cx="7025335"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Why this network</a:t>
            </a:r>
            <a:endParaRPr sz="2000"/>
          </a:p>
        </p:txBody>
      </p:sp>
      <p:sp>
        <p:nvSpPr>
          <p:cNvPr id="12" name="TextBox 11"/>
          <p:cNvSpPr txBox="1"/>
          <p:nvPr/>
        </p:nvSpPr>
        <p:spPr>
          <a:xfrm>
            <a:off x="4617720" y="2103120"/>
            <a:ext cx="7025335" cy="2103120"/>
          </a:xfrm>
          <a:prstGeom prst="rect">
            <a:avLst/>
          </a:prstGeom>
          <a:noFill/>
        </p:spPr>
        <p:txBody>
          <a:bodyPr wrap="square" lIns="0" rIns="0" tIns="0" bIns="0" anchor="t">
            <a:noAutofit/>
          </a:bodyPr>
          <a:lstStyle/>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It is still the most common CNN in recent work on this dataset (XProtoNet 2021, Goel 2024), so our numbers are easy to place</a:t>
            </a:r>
            <a:endParaRPr sz="1600"/>
          </a:p>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Its head is one average pool and one linear layer, which makes the class activation map add up exactly to the prediction</a:t>
            </a:r>
            <a:endParaRPr sz="1600"/>
          </a:p>
          <a:p>
            <a:pPr algn="l" marL="237744" indent="-237744">
              <a:lnSpc>
                <a:spcPct val="105000"/>
              </a:lnSpc>
              <a:spcAft>
                <a:spcPts val="800"/>
              </a:spcAft>
              <a:buClr>
                <a:srgbClr val="F2994A"/>
              </a:buClr>
              <a:buSzPct val="85000"/>
              <a:buFont typeface="Arial"/>
              <a:buChar char="▪"/>
            </a:pPr>
            <a:r>
              <a:rPr sz="1600" b="0">
                <a:solidFill>
                  <a:srgbClr val="D2D2D2"/>
                </a:solidFill>
                <a:latin typeface="Calibri"/>
              </a:rPr>
              <a:t>Explanation-focused papers on this dataset use it at 512 px too (XProtoNet 2021, ThoraX-PriorNet 2024), and it fits our 16 GB GPU at batch 32</a:t>
            </a:r>
            <a:endParaRPr sz="1600"/>
          </a:p>
        </p:txBody>
      </p:sp>
      <p:sp>
        <p:nvSpPr>
          <p:cNvPr id="13" name="TextBox 12"/>
          <p:cNvSpPr txBox="1"/>
          <p:nvPr/>
        </p:nvSpPr>
        <p:spPr>
          <a:xfrm>
            <a:off x="4617720" y="4160520"/>
            <a:ext cx="7025335" cy="411480"/>
          </a:xfrm>
          <a:prstGeom prst="rect">
            <a:avLst/>
          </a:prstGeom>
          <a:noFill/>
        </p:spPr>
        <p:txBody>
          <a:bodyPr wrap="square" lIns="0" rIns="0" tIns="0" bIns="0" anchor="t">
            <a:noAutofit/>
          </a:bodyPr>
          <a:lstStyle/>
          <a:p>
            <a:pPr algn="l">
              <a:lnSpc>
                <a:spcPct val="105000"/>
              </a:lnSpc>
              <a:spcAft>
                <a:spcPts val="0"/>
              </a:spcAft>
            </a:pPr>
            <a:r>
              <a:rPr sz="2000" b="1">
                <a:solidFill>
                  <a:srgbClr val="FFFFFF"/>
                </a:solidFill>
                <a:latin typeface="Calibri"/>
              </a:rPr>
              <a:t>Why 512 px and not 224</a:t>
            </a:r>
            <a:endParaRPr sz="2000"/>
          </a:p>
        </p:txBody>
      </p:sp>
      <p:sp>
        <p:nvSpPr>
          <p:cNvPr id="14" name="TextBox 13"/>
          <p:cNvSpPr txBox="1"/>
          <p:nvPr/>
        </p:nvSpPr>
        <p:spPr>
          <a:xfrm>
            <a:off x="4617720" y="4617720"/>
            <a:ext cx="7025335" cy="822960"/>
          </a:xfrm>
          <a:prstGeom prst="rect">
            <a:avLst/>
          </a:prstGeom>
          <a:noFill/>
        </p:spPr>
        <p:txBody>
          <a:bodyPr wrap="square" lIns="0" rIns="0" tIns="0" bIns="0" anchor="t">
            <a:noAutofit/>
          </a:bodyPr>
          <a:lstStyle/>
          <a:p>
            <a:pPr algn="l">
              <a:lnSpc>
                <a:spcPct val="105000"/>
              </a:lnSpc>
              <a:spcAft>
                <a:spcPts val="0"/>
              </a:spcAft>
            </a:pPr>
            <a:r>
              <a:rPr sz="1600" b="0">
                <a:solidFill>
                  <a:srgbClr val="D2D2D2"/>
                </a:solidFill>
                <a:latin typeface="Calibri"/>
              </a:rPr>
              <a:t>The last feature grid becomes 16 × 16 instead of 7 × 7, so explanation maps are finer, at about five times the compute per image. It scores higher too: 0.816 against 0.802 at 224 px, same recipe and seed.</a:t>
            </a:r>
            <a:endParaRPr sz="1600"/>
          </a:p>
        </p:txBody>
      </p:sp>
      <p:sp>
        <p:nvSpPr>
          <p:cNvPr id="15" name="TextBox 14"/>
          <p:cNvSpPr txBox="1"/>
          <p:nvPr/>
        </p:nvSpPr>
        <p:spPr>
          <a:xfrm>
            <a:off x="4617720" y="5532120"/>
            <a:ext cx="702533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What it costs: it isn't the strongest backbone today. A newer one might score higher, but it would break the comparison with published work.</a:t>
            </a:r>
            <a:endParaRPr sz="13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From a 512 px X-ray to 14 probabilities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7</a:t>
            </a:r>
            <a:endParaRPr sz="1000"/>
          </a:p>
        </p:txBody>
      </p:sp>
      <p:sp>
        <p:nvSpPr>
          <p:cNvPr id="6" name="Rectangle 5"/>
          <p:cNvSpPr/>
          <p:nvPr/>
        </p:nvSpPr>
        <p:spPr>
          <a:xfrm>
            <a:off x="548640" y="1691640"/>
            <a:ext cx="1005840" cy="274320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Input</a:t>
            </a:r>
            <a:endParaRPr sz="1300"/>
          </a:p>
        </p:txBody>
      </p:sp>
      <p:sp>
        <p:nvSpPr>
          <p:cNvPr id="7" name="TextBox 6"/>
          <p:cNvSpPr txBox="1"/>
          <p:nvPr/>
        </p:nvSpPr>
        <p:spPr>
          <a:xfrm>
            <a:off x="416509" y="4617720"/>
            <a:ext cx="127010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3 × 512 × 512</a:t>
            </a:r>
            <a:endParaRPr sz="1200"/>
          </a:p>
          <a:p>
            <a:pPr algn="ctr">
              <a:lnSpc>
                <a:spcPct val="100000"/>
              </a:lnSpc>
              <a:spcAft>
                <a:spcPts val="0"/>
              </a:spcAft>
            </a:pPr>
            <a:r>
              <a:rPr sz="1100" b="0">
                <a:solidFill>
                  <a:srgbClr val="8F8F8F"/>
                </a:solidFill>
                <a:latin typeface="Calibri"/>
              </a:rPr>
              <a:t>grey X-ray as 3 channels</a:t>
            </a:r>
            <a:endParaRPr sz="1100"/>
          </a:p>
        </p:txBody>
      </p:sp>
      <p:cxnSp>
        <p:nvCxnSpPr>
          <p:cNvPr id="8" name="Connector 7"/>
          <p:cNvCxnSpPr/>
          <p:nvPr/>
        </p:nvCxnSpPr>
        <p:spPr>
          <a:xfrm>
            <a:off x="1618488"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1891893" y="2011680"/>
            <a:ext cx="1005840" cy="210312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Stem</a:t>
            </a:r>
            <a:endParaRPr sz="1300"/>
          </a:p>
        </p:txBody>
      </p:sp>
      <p:sp>
        <p:nvSpPr>
          <p:cNvPr id="10" name="TextBox 9"/>
          <p:cNvSpPr txBox="1"/>
          <p:nvPr/>
        </p:nvSpPr>
        <p:spPr>
          <a:xfrm>
            <a:off x="1759762" y="4617720"/>
            <a:ext cx="127010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64 × 128 × 128</a:t>
            </a:r>
            <a:endParaRPr sz="1200"/>
          </a:p>
          <a:p>
            <a:pPr algn="ctr">
              <a:lnSpc>
                <a:spcPct val="100000"/>
              </a:lnSpc>
              <a:spcAft>
                <a:spcPts val="0"/>
              </a:spcAft>
            </a:pPr>
            <a:r>
              <a:rPr sz="1100" b="0">
                <a:solidFill>
                  <a:srgbClr val="8F8F8F"/>
                </a:solidFill>
                <a:latin typeface="Calibri"/>
              </a:rPr>
              <a:t>7×7 conv, max pool</a:t>
            </a:r>
            <a:endParaRPr sz="1100"/>
          </a:p>
        </p:txBody>
      </p:sp>
      <p:cxnSp>
        <p:nvCxnSpPr>
          <p:cNvPr id="11" name="Connector 10"/>
          <p:cNvCxnSpPr/>
          <p:nvPr/>
        </p:nvCxnSpPr>
        <p:spPr>
          <a:xfrm>
            <a:off x="2961741"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235147" y="2011680"/>
            <a:ext cx="1143000" cy="210312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1</a:t>
            </a:r>
            <a:endParaRPr sz="1300"/>
          </a:p>
        </p:txBody>
      </p:sp>
      <p:sp>
        <p:nvSpPr>
          <p:cNvPr id="13" name="TextBox 12"/>
          <p:cNvSpPr txBox="1"/>
          <p:nvPr/>
        </p:nvSpPr>
        <p:spPr>
          <a:xfrm>
            <a:off x="3103016"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256 × 128 × 128</a:t>
            </a:r>
            <a:endParaRPr sz="1200"/>
          </a:p>
          <a:p>
            <a:pPr algn="ctr">
              <a:lnSpc>
                <a:spcPct val="100000"/>
              </a:lnSpc>
              <a:spcAft>
                <a:spcPts val="0"/>
              </a:spcAft>
            </a:pPr>
            <a:r>
              <a:rPr sz="1100" b="0">
                <a:solidFill>
                  <a:srgbClr val="8F8F8F"/>
                </a:solidFill>
                <a:latin typeface="Calibri"/>
              </a:rPr>
              <a:t>6 layers</a:t>
            </a:r>
            <a:endParaRPr sz="1100"/>
          </a:p>
        </p:txBody>
      </p:sp>
      <p:cxnSp>
        <p:nvCxnSpPr>
          <p:cNvPr id="14" name="Connector 13"/>
          <p:cNvCxnSpPr/>
          <p:nvPr/>
        </p:nvCxnSpPr>
        <p:spPr>
          <a:xfrm>
            <a:off x="4442155"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4715560" y="2286000"/>
            <a:ext cx="1143000" cy="155448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2</a:t>
            </a:r>
            <a:endParaRPr sz="1300"/>
          </a:p>
        </p:txBody>
      </p:sp>
      <p:sp>
        <p:nvSpPr>
          <p:cNvPr id="16" name="TextBox 15"/>
          <p:cNvSpPr txBox="1"/>
          <p:nvPr/>
        </p:nvSpPr>
        <p:spPr>
          <a:xfrm>
            <a:off x="4583430"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512 × 64 × 64</a:t>
            </a:r>
            <a:endParaRPr sz="1200"/>
          </a:p>
          <a:p>
            <a:pPr algn="ctr">
              <a:lnSpc>
                <a:spcPct val="100000"/>
              </a:lnSpc>
              <a:spcAft>
                <a:spcPts val="0"/>
              </a:spcAft>
            </a:pPr>
            <a:r>
              <a:rPr sz="1100" b="0">
                <a:solidFill>
                  <a:srgbClr val="8F8F8F"/>
                </a:solidFill>
                <a:latin typeface="Calibri"/>
              </a:rPr>
              <a:t>12 layers</a:t>
            </a:r>
            <a:endParaRPr sz="1100"/>
          </a:p>
        </p:txBody>
      </p:sp>
      <p:cxnSp>
        <p:nvCxnSpPr>
          <p:cNvPr id="17" name="Connector 16"/>
          <p:cNvCxnSpPr/>
          <p:nvPr/>
        </p:nvCxnSpPr>
        <p:spPr>
          <a:xfrm>
            <a:off x="5922568"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95974" y="2491740"/>
            <a:ext cx="1143000" cy="114300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3</a:t>
            </a:r>
            <a:endParaRPr sz="1300"/>
          </a:p>
        </p:txBody>
      </p:sp>
      <p:sp>
        <p:nvSpPr>
          <p:cNvPr id="19" name="TextBox 18"/>
          <p:cNvSpPr txBox="1"/>
          <p:nvPr/>
        </p:nvSpPr>
        <p:spPr>
          <a:xfrm>
            <a:off x="6063843"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1024 × 32 × 32</a:t>
            </a:r>
            <a:endParaRPr sz="1200"/>
          </a:p>
          <a:p>
            <a:pPr algn="ctr">
              <a:lnSpc>
                <a:spcPct val="100000"/>
              </a:lnSpc>
              <a:spcAft>
                <a:spcPts val="0"/>
              </a:spcAft>
            </a:pPr>
            <a:r>
              <a:rPr sz="1100" b="0">
                <a:solidFill>
                  <a:srgbClr val="8F8F8F"/>
                </a:solidFill>
                <a:latin typeface="Calibri"/>
              </a:rPr>
              <a:t>24 layers</a:t>
            </a:r>
            <a:endParaRPr sz="1100"/>
          </a:p>
        </p:txBody>
      </p:sp>
      <p:cxnSp>
        <p:nvCxnSpPr>
          <p:cNvPr id="20" name="Connector 19"/>
          <p:cNvCxnSpPr/>
          <p:nvPr/>
        </p:nvCxnSpPr>
        <p:spPr>
          <a:xfrm>
            <a:off x="7402982"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7676388" y="2651760"/>
            <a:ext cx="1143000" cy="822960"/>
          </a:xfrm>
          <a:prstGeom prst="rect">
            <a:avLst/>
          </a:prstGeom>
          <a:solidFill>
            <a:srgbClr val="151515"/>
          </a:solidFill>
          <a:ln w="2222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Dense</a:t>
            </a:r>
            <a:endParaRPr sz="1300"/>
          </a:p>
          <a:p>
            <a:pPr algn="ctr">
              <a:lnSpc>
                <a:spcPct val="95000"/>
              </a:lnSpc>
              <a:spcAft>
                <a:spcPts val="0"/>
              </a:spcAft>
            </a:pPr>
            <a:r>
              <a:rPr sz="1300" b="1">
                <a:solidFill>
                  <a:srgbClr val="FFFFFF"/>
                </a:solidFill>
                <a:latin typeface="Calibri"/>
              </a:rPr>
              <a:t>block 4</a:t>
            </a:r>
            <a:endParaRPr sz="1300"/>
          </a:p>
        </p:txBody>
      </p:sp>
      <p:sp>
        <p:nvSpPr>
          <p:cNvPr id="22" name="TextBox 21"/>
          <p:cNvSpPr txBox="1"/>
          <p:nvPr/>
        </p:nvSpPr>
        <p:spPr>
          <a:xfrm>
            <a:off x="7544257" y="4617720"/>
            <a:ext cx="140726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2994A"/>
                </a:solidFill>
                <a:latin typeface="Calibri"/>
              </a:rPr>
              <a:t>1024 × 16 × 16</a:t>
            </a:r>
            <a:endParaRPr sz="1200"/>
          </a:p>
          <a:p>
            <a:pPr algn="ctr">
              <a:lnSpc>
                <a:spcPct val="100000"/>
              </a:lnSpc>
              <a:spcAft>
                <a:spcPts val="0"/>
              </a:spcAft>
            </a:pPr>
            <a:r>
              <a:rPr sz="1100" b="0">
                <a:solidFill>
                  <a:srgbClr val="8F8F8F"/>
                </a:solidFill>
                <a:latin typeface="Calibri"/>
              </a:rPr>
              <a:t>16 layers; maps are taken here</a:t>
            </a:r>
            <a:endParaRPr sz="1100"/>
          </a:p>
        </p:txBody>
      </p:sp>
      <p:cxnSp>
        <p:nvCxnSpPr>
          <p:cNvPr id="23" name="Connector 22"/>
          <p:cNvCxnSpPr/>
          <p:nvPr/>
        </p:nvCxnSpPr>
        <p:spPr>
          <a:xfrm>
            <a:off x="8883396" y="3063240"/>
            <a:ext cx="209397"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56801" y="2651760"/>
            <a:ext cx="1097280" cy="82296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Pool and</a:t>
            </a:r>
            <a:endParaRPr sz="1300"/>
          </a:p>
          <a:p>
            <a:pPr algn="ctr">
              <a:lnSpc>
                <a:spcPct val="95000"/>
              </a:lnSpc>
              <a:spcAft>
                <a:spcPts val="0"/>
              </a:spcAft>
            </a:pPr>
            <a:r>
              <a:rPr sz="1300" b="1">
                <a:solidFill>
                  <a:srgbClr val="FFFFFF"/>
                </a:solidFill>
                <a:latin typeface="Calibri"/>
              </a:rPr>
              <a:t>linear</a:t>
            </a:r>
            <a:endParaRPr sz="1300"/>
          </a:p>
        </p:txBody>
      </p:sp>
      <p:sp>
        <p:nvSpPr>
          <p:cNvPr id="25" name="TextBox 24"/>
          <p:cNvSpPr txBox="1"/>
          <p:nvPr/>
        </p:nvSpPr>
        <p:spPr>
          <a:xfrm>
            <a:off x="9024670" y="4617720"/>
            <a:ext cx="136154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1024 → 14</a:t>
            </a:r>
            <a:endParaRPr sz="1200"/>
          </a:p>
          <a:p>
            <a:pPr algn="ctr">
              <a:lnSpc>
                <a:spcPct val="100000"/>
              </a:lnSpc>
              <a:spcAft>
                <a:spcPts val="0"/>
              </a:spcAft>
            </a:pPr>
            <a:r>
              <a:rPr sz="1100" b="0">
                <a:solidFill>
                  <a:srgbClr val="8F8F8F"/>
                </a:solidFill>
                <a:latin typeface="Calibri"/>
              </a:rPr>
              <a:t>average each map, then weight</a:t>
            </a:r>
            <a:endParaRPr sz="1100"/>
          </a:p>
        </p:txBody>
      </p:sp>
      <p:cxnSp>
        <p:nvCxnSpPr>
          <p:cNvPr id="26" name="Connector 25"/>
          <p:cNvCxnSpPr/>
          <p:nvPr/>
        </p:nvCxnSpPr>
        <p:spPr>
          <a:xfrm>
            <a:off x="10318089" y="3063240"/>
            <a:ext cx="209398" cy="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591495" y="2651760"/>
            <a:ext cx="1051560" cy="822960"/>
          </a:xfrm>
          <a:prstGeom prst="rect">
            <a:avLst/>
          </a:prstGeom>
          <a:solidFill>
            <a:srgbClr val="151515"/>
          </a:solidFill>
          <a:ln w="952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noAutofit/>
          </a:bodyPr>
          <a:lstStyle/>
          <a:p>
            <a:pPr algn="ctr">
              <a:lnSpc>
                <a:spcPct val="95000"/>
              </a:lnSpc>
              <a:spcAft>
                <a:spcPts val="0"/>
              </a:spcAft>
            </a:pPr>
            <a:r>
              <a:rPr sz="1300" b="1">
                <a:solidFill>
                  <a:srgbClr val="FFFFFF"/>
                </a:solidFill>
                <a:latin typeface="Calibri"/>
              </a:rPr>
              <a:t>Sigmoid</a:t>
            </a:r>
            <a:endParaRPr sz="1300"/>
          </a:p>
        </p:txBody>
      </p:sp>
      <p:sp>
        <p:nvSpPr>
          <p:cNvPr id="28" name="TextBox 27"/>
          <p:cNvSpPr txBox="1"/>
          <p:nvPr/>
        </p:nvSpPr>
        <p:spPr>
          <a:xfrm>
            <a:off x="10459364" y="4617720"/>
            <a:ext cx="1315821" cy="1005840"/>
          </a:xfrm>
          <a:prstGeom prst="rect">
            <a:avLst/>
          </a:prstGeom>
          <a:noFill/>
        </p:spPr>
        <p:txBody>
          <a:bodyPr wrap="square" lIns="0" rIns="0" tIns="0" bIns="0" anchor="t">
            <a:noAutofit/>
          </a:bodyPr>
          <a:lstStyle/>
          <a:p>
            <a:pPr algn="ctr">
              <a:lnSpc>
                <a:spcPct val="100000"/>
              </a:lnSpc>
              <a:spcAft>
                <a:spcPts val="300"/>
              </a:spcAft>
            </a:pPr>
            <a:r>
              <a:rPr sz="1200" b="1">
                <a:solidFill>
                  <a:srgbClr val="FFFFFF"/>
                </a:solidFill>
                <a:latin typeface="Calibri"/>
              </a:rPr>
              <a:t>14</a:t>
            </a:r>
            <a:endParaRPr sz="1200"/>
          </a:p>
          <a:p>
            <a:pPr algn="ctr">
              <a:lnSpc>
                <a:spcPct val="100000"/>
              </a:lnSpc>
              <a:spcAft>
                <a:spcPts val="0"/>
              </a:spcAft>
            </a:pPr>
            <a:r>
              <a:rPr sz="1100" b="0">
                <a:solidFill>
                  <a:srgbClr val="8F8F8F"/>
                </a:solidFill>
                <a:latin typeface="Calibri"/>
              </a:rPr>
              <a:t>one probability per finding</a:t>
            </a:r>
            <a:endParaRPr sz="1100"/>
          </a:p>
        </p:txBody>
      </p:sp>
      <p:sp>
        <p:nvSpPr>
          <p:cNvPr id="29" name="TextBox 28"/>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Each arrow between dense blocks is a transition layer: a 1 × 1 convolution and a 2 × 2 average pool that halve both the channel count and the grid.</a:t>
            </a:r>
            <a:endParaRPr sz="13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Layer by layer</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8</a:t>
            </a:r>
            <a:endParaRPr sz="1000"/>
          </a:p>
        </p:txBody>
      </p:sp>
      <p:graphicFrame>
        <p:nvGraphicFramePr>
          <p:cNvPr id="6" name="Table 5"/>
          <p:cNvGraphicFramePr>
            <a:graphicFrameLocks noGrp="1"/>
          </p:cNvGraphicFramePr>
          <p:nvPr/>
        </p:nvGraphicFramePr>
        <p:xfrm>
          <a:off x="548640" y="1508760"/>
          <a:ext cx="11091672" cy="4251960"/>
        </p:xfrm>
        <a:graphic>
          <a:graphicData uri="http://schemas.openxmlformats.org/drawingml/2006/table">
            <a:tbl>
              <a:tblPr firstRow="0" bandRow="0">
                <a:tableStyleId>{2D5ABB26-0587-4C30-8999-92F81FD0307C}</a:tableStyleId>
              </a:tblPr>
              <a:tblGrid>
                <a:gridCol w="2057400"/>
                <a:gridCol w="3520440"/>
                <a:gridCol w="3685032"/>
                <a:gridCol w="1828800"/>
              </a:tblGrid>
              <a:tr h="329184">
                <a:tc>
                  <a:txBody>
                    <a:bodyPr wrap="square"/>
                    <a:lstStyle/>
                    <a:p>
                      <a:pPr algn="l">
                        <a:lnSpc>
                          <a:spcPct val="105000"/>
                        </a:lnSpc>
                        <a:spcAft>
                          <a:spcPts val="0"/>
                        </a:spcAft>
                      </a:pPr>
                      <a:r>
                        <a:rPr sz="1200" b="0">
                          <a:solidFill>
                            <a:srgbClr val="8F8F8F"/>
                          </a:solidFill>
                          <a:latin typeface="Calibri"/>
                        </a:rPr>
                        <a:t>stage</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layers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it does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output</a:t>
                      </a:r>
                      <a:endParaRPr sz="1200"/>
                    </a:p>
                  </a:txBody>
                  <a:tcPr marL="73152" marR="73152" marT="27432" marB="27432" anchor="ctr">
                    <a:lnL w="0">
                      <a:noFill/>
                    </a:lnL>
                    <a:lnR w="0">
                      <a:noFill/>
                    </a:lnR>
                    <a:lnT w="0">
                      <a:noFill/>
                    </a:lnT>
                    <a:lnB w="12700">
                      <a:solidFill>
                        <a:srgbClr val="5C5C5C"/>
                      </a:solidFill>
                    </a:lnB>
                    <a:noFill/>
                  </a:tcPr>
                </a:tc>
              </a:tr>
              <a:tr h="301752">
                <a:tc>
                  <a:txBody>
                    <a:bodyPr wrap="square"/>
                    <a:lstStyle/>
                    <a:p>
                      <a:pPr algn="l">
                        <a:lnSpc>
                          <a:spcPct val="105000"/>
                        </a:lnSpc>
                        <a:spcAft>
                          <a:spcPts val="0"/>
                        </a:spcAft>
                      </a:pPr>
                      <a:r>
                        <a:rPr sz="1300" b="1">
                          <a:solidFill>
                            <a:srgbClr val="FFFFFF"/>
                          </a:solidFill>
                          <a:latin typeface="Calibri"/>
                        </a:rPr>
                        <a:t>Input</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Grey X-ray as 3 channels, ImageNet normalisation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3 × 512 × 512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Stem</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7×7 conv and 3×3 max pool, both stride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Early edges and texture; 512 → 128 per side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64 × 128 × 128</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6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Each dense layer adds 32 channels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256 × 128 × 128</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BN · ReLU · 1×1 conv · 2×2 avg pool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Halves the channels and the grid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128 × 64 × 64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12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512 × 64 × 64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same as 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256 × 32 × 32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Dense block 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24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 × 32 × 32</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Transition 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same as transition 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512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2994A"/>
                          </a:solidFill>
                          <a:latin typeface="Calibri"/>
                        </a:rPr>
                        <a:t>Dense block 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16 dense layers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Last features. Explanation maps are taken here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1024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Final BN · ReLU</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 × 16 × 16</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Average pool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over the 16 × 16 grid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One number per channel</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1024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Linear</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1024 → 14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One score per finding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14</a:t>
                      </a:r>
                      <a:endParaRPr sz="1300"/>
                    </a:p>
                  </a:txBody>
                  <a:tcPr marL="73152" marR="73152" marT="27432" marB="27432" anchor="ctr">
                    <a:lnL w="0">
                      <a:noFill/>
                    </a:lnL>
                    <a:lnR w="0">
                      <a:noFill/>
                    </a:lnR>
                    <a:lnT w="0">
                      <a:noFill/>
                    </a:lnT>
                    <a:lnB w="9525">
                      <a:solidFill>
                        <a:srgbClr val="2E2E2E"/>
                      </a:solidFill>
                    </a:lnB>
                    <a:noFill/>
                  </a:tcPr>
                </a:tc>
              </a:tr>
              <a:tr h="301752">
                <a:tc>
                  <a:txBody>
                    <a:bodyPr wrap="square"/>
                    <a:lstStyle/>
                    <a:p>
                      <a:pPr algn="l">
                        <a:lnSpc>
                          <a:spcPct val="105000"/>
                        </a:lnSpc>
                        <a:spcAft>
                          <a:spcPts val="0"/>
                        </a:spcAft>
                      </a:pPr>
                      <a:r>
                        <a:rPr sz="1300" b="1">
                          <a:solidFill>
                            <a:srgbClr val="FFFFFF"/>
                          </a:solidFill>
                          <a:latin typeface="Calibri"/>
                        </a:rPr>
                        <a:t>Sigmoid</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Turns each score into its own probability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14</a:t>
                      </a:r>
                      <a:endParaRPr sz="13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6053328"/>
            <a:ext cx="11094415" cy="36576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121 = 1 stem conv + 58 dense layers × 2 convs + 3 transition convs + 1 linear layer. 6,968,206 weights in total.</a:t>
            </a:r>
            <a:endParaRPr sz="13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Inside a dense block</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9</a:t>
            </a:r>
            <a:endParaRPr sz="1000"/>
          </a:p>
        </p:txBody>
      </p:sp>
      <p:sp>
        <p:nvSpPr>
          <p:cNvPr id="6" name="Rectangle 5"/>
          <p:cNvSpPr/>
          <p:nvPr/>
        </p:nvSpPr>
        <p:spPr>
          <a:xfrm>
            <a:off x="548640" y="1691640"/>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Every earlier feature map in the block, stacked</a:t>
            </a:r>
            <a:endParaRPr sz="1600"/>
          </a:p>
        </p:txBody>
      </p:sp>
      <p:cxnSp>
        <p:nvCxnSpPr>
          <p:cNvPr id="7" name="Connector 6"/>
          <p:cNvCxnSpPr/>
          <p:nvPr/>
        </p:nvCxnSpPr>
        <p:spPr>
          <a:xfrm>
            <a:off x="2788920" y="2450591"/>
            <a:ext cx="0" cy="274321"/>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548640" y="2770632"/>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BN · ReLU · 1 × 1 conv → 128 channels</a:t>
            </a:r>
            <a:endParaRPr sz="1600"/>
          </a:p>
        </p:txBody>
      </p:sp>
      <p:cxnSp>
        <p:nvCxnSpPr>
          <p:cNvPr id="9" name="Connector 8"/>
          <p:cNvCxnSpPr/>
          <p:nvPr/>
        </p:nvCxnSpPr>
        <p:spPr>
          <a:xfrm>
            <a:off x="2788920" y="3529584"/>
            <a:ext cx="0" cy="27432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48640" y="3849624"/>
            <a:ext cx="4480560" cy="713232"/>
          </a:xfrm>
          <a:prstGeom prst="rect">
            <a:avLst/>
          </a:prstGeom>
          <a:solidFill>
            <a:srgbClr val="151515"/>
          </a:solidFill>
          <a:ln w="15875">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BN · ReLU · 3 × 3 conv → 32 channels</a:t>
            </a:r>
            <a:endParaRPr sz="1600"/>
          </a:p>
        </p:txBody>
      </p:sp>
      <p:cxnSp>
        <p:nvCxnSpPr>
          <p:cNvPr id="11" name="Connector 10"/>
          <p:cNvCxnSpPr/>
          <p:nvPr/>
        </p:nvCxnSpPr>
        <p:spPr>
          <a:xfrm>
            <a:off x="2788920" y="4608576"/>
            <a:ext cx="0" cy="274320"/>
          </a:xfrm>
          <a:prstGeom prst="line">
            <a:avLst/>
          </a:prstGeom>
          <a:ln w="15875">
            <a:solidFill>
              <a:srgbClr val="5C5C5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48640" y="4928616"/>
            <a:ext cx="4480560" cy="713232"/>
          </a:xfrm>
          <a:prstGeom prst="rect">
            <a:avLst/>
          </a:prstGeom>
          <a:solidFill>
            <a:srgbClr val="151515"/>
          </a:solidFill>
          <a:ln w="1587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noAutofit/>
          </a:bodyPr>
          <a:lstStyle/>
          <a:p>
            <a:pPr algn="ctr">
              <a:lnSpc>
                <a:spcPct val="105000"/>
              </a:lnSpc>
              <a:spcAft>
                <a:spcPts val="0"/>
              </a:spcAft>
            </a:pPr>
            <a:r>
              <a:rPr sz="1600" b="0">
                <a:solidFill>
                  <a:srgbClr val="FFFFFF"/>
                </a:solidFill>
                <a:latin typeface="Calibri"/>
              </a:rPr>
              <a:t>Append the 32 new channels to the stack</a:t>
            </a:r>
            <a:endParaRPr sz="1600"/>
          </a:p>
        </p:txBody>
      </p:sp>
      <p:sp>
        <p:nvSpPr>
          <p:cNvPr id="13" name="TextBox 12"/>
          <p:cNvSpPr txBox="1"/>
          <p:nvPr/>
        </p:nvSpPr>
        <p:spPr>
          <a:xfrm>
            <a:off x="5577840" y="1691640"/>
            <a:ext cx="6065215" cy="2926080"/>
          </a:xfrm>
          <a:prstGeom prst="rect">
            <a:avLst/>
          </a:prstGeom>
          <a:noFill/>
        </p:spPr>
        <p:txBody>
          <a:bodyPr wrap="square" lIns="0" rIns="0" tIns="0" bIns="0" anchor="t">
            <a:noAutofit/>
          </a:bodyPr>
          <a:lstStyle/>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Each layer reads every earlier feature map in its block, not only the one just before it</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The 1 × 1 convolution squeezes that stack to 128 channels, so the 3 × 3 convolution stays cheap</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Each layer adds 32 channels, called the growth rate</a:t>
            </a:r>
            <a:endParaRPr sz="1700"/>
          </a:p>
          <a:p>
            <a:pPr algn="l" marL="237744" indent="-237744">
              <a:lnSpc>
                <a:spcPct val="105000"/>
              </a:lnSpc>
              <a:spcAft>
                <a:spcPts val="1000"/>
              </a:spcAft>
              <a:buClr>
                <a:srgbClr val="F2994A"/>
              </a:buClr>
              <a:buSzPct val="85000"/>
              <a:buFont typeface="Arial"/>
              <a:buChar char="▪"/>
            </a:pPr>
            <a:r>
              <a:rPr sz="1700" b="0">
                <a:solidFill>
                  <a:srgbClr val="D2D2D2"/>
                </a:solidFill>
                <a:latin typeface="Calibri"/>
              </a:rPr>
              <a:t>Features are reused instead of relearned, so the whole network needs about 7 million weights. ResNet-50 needs about 25 million.</a:t>
            </a:r>
            <a:endParaRPr sz="1700"/>
          </a:p>
        </p:txBody>
      </p:sp>
      <p:sp>
        <p:nvSpPr>
          <p:cNvPr id="14" name="TextBox 13"/>
          <p:cNvSpPr txBox="1"/>
          <p:nvPr/>
        </p:nvSpPr>
        <p:spPr>
          <a:xfrm>
            <a:off x="5577840" y="4800600"/>
            <a:ext cx="6065215"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Channels in block 1, one layer at a time</a:t>
            </a:r>
            <a:endParaRPr sz="1300"/>
          </a:p>
        </p:txBody>
      </p:sp>
      <p:sp>
        <p:nvSpPr>
          <p:cNvPr id="15" name="TextBox 14"/>
          <p:cNvSpPr txBox="1"/>
          <p:nvPr/>
        </p:nvSpPr>
        <p:spPr>
          <a:xfrm>
            <a:off x="5577840" y="5120640"/>
            <a:ext cx="6065215" cy="548640"/>
          </a:xfrm>
          <a:prstGeom prst="rect">
            <a:avLst/>
          </a:prstGeom>
          <a:noFill/>
        </p:spPr>
        <p:txBody>
          <a:bodyPr wrap="square" lIns="0" rIns="0" tIns="0" bIns="0" anchor="t">
            <a:noAutofit/>
          </a:bodyPr>
          <a:lstStyle/>
          <a:p>
            <a:pPr algn="l">
              <a:lnSpc>
                <a:spcPct val="105000"/>
              </a:lnSpc>
              <a:spcAft>
                <a:spcPts val="0"/>
              </a:spcAft>
            </a:pPr>
            <a:r>
              <a:rPr sz="2600" b="0">
                <a:solidFill>
                  <a:srgbClr val="F2994A"/>
                </a:solidFill>
                <a:latin typeface="Calibri Light"/>
              </a:rPr>
              <a:t>64 → 96 → 128 → 160 → 192 → 224 → 256</a:t>
            </a:r>
            <a:endParaRPr sz="26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ARCHITECTURE</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the last two layers make the explanation exact</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10</a:t>
            </a:r>
            <a:endParaRPr sz="1000"/>
          </a:p>
        </p:txBody>
      </p:sp>
      <p:sp>
        <p:nvSpPr>
          <p:cNvPr id="6" name="TextBox 5"/>
          <p:cNvSpPr txBox="1"/>
          <p:nvPr/>
        </p:nvSpPr>
        <p:spPr>
          <a:xfrm>
            <a:off x="548640" y="1664207"/>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1</a:t>
            </a:r>
            <a:endParaRPr sz="3600"/>
          </a:p>
        </p:txBody>
      </p:sp>
      <p:sp>
        <p:nvSpPr>
          <p:cNvPr id="7" name="TextBox 6"/>
          <p:cNvSpPr txBox="1"/>
          <p:nvPr/>
        </p:nvSpPr>
        <p:spPr>
          <a:xfrm>
            <a:off x="1143000" y="17373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Dense block 4 ends with 1024 feature maps, each 16 × 16.</a:t>
            </a:r>
            <a:endParaRPr sz="1700"/>
          </a:p>
        </p:txBody>
      </p:sp>
      <p:sp>
        <p:nvSpPr>
          <p:cNvPr id="8" name="TextBox 7"/>
          <p:cNvSpPr txBox="1"/>
          <p:nvPr/>
        </p:nvSpPr>
        <p:spPr>
          <a:xfrm>
            <a:off x="548640" y="2578608"/>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2</a:t>
            </a:r>
            <a:endParaRPr sz="3600"/>
          </a:p>
        </p:txBody>
      </p:sp>
      <p:sp>
        <p:nvSpPr>
          <p:cNvPr id="9" name="TextBox 8"/>
          <p:cNvSpPr txBox="1"/>
          <p:nvPr/>
        </p:nvSpPr>
        <p:spPr>
          <a:xfrm>
            <a:off x="1143000" y="26517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Average pooling turns each map into one number.</a:t>
            </a:r>
            <a:endParaRPr sz="1700"/>
          </a:p>
        </p:txBody>
      </p:sp>
      <p:sp>
        <p:nvSpPr>
          <p:cNvPr id="10" name="TextBox 9"/>
          <p:cNvSpPr txBox="1"/>
          <p:nvPr/>
        </p:nvSpPr>
        <p:spPr>
          <a:xfrm>
            <a:off x="548640" y="3493008"/>
            <a:ext cx="548640" cy="640080"/>
          </a:xfrm>
          <a:prstGeom prst="rect">
            <a:avLst/>
          </a:prstGeom>
          <a:noFill/>
        </p:spPr>
        <p:txBody>
          <a:bodyPr wrap="square" lIns="0" rIns="0" tIns="0" bIns="0" anchor="t">
            <a:noAutofit/>
          </a:bodyPr>
          <a:lstStyle/>
          <a:p>
            <a:pPr algn="l">
              <a:lnSpc>
                <a:spcPct val="105000"/>
              </a:lnSpc>
              <a:spcAft>
                <a:spcPts val="0"/>
              </a:spcAft>
            </a:pPr>
            <a:r>
              <a:rPr sz="3600" b="0">
                <a:solidFill>
                  <a:srgbClr val="F2994A"/>
                </a:solidFill>
                <a:latin typeface="Calibri Light"/>
              </a:rPr>
              <a:t>3</a:t>
            </a:r>
            <a:endParaRPr sz="3600"/>
          </a:p>
        </p:txBody>
      </p:sp>
      <p:sp>
        <p:nvSpPr>
          <p:cNvPr id="11" name="TextBox 10"/>
          <p:cNvSpPr txBox="1"/>
          <p:nvPr/>
        </p:nvSpPr>
        <p:spPr>
          <a:xfrm>
            <a:off x="1143000" y="3566160"/>
            <a:ext cx="4297680" cy="914400"/>
          </a:xfrm>
          <a:prstGeom prst="rect">
            <a:avLst/>
          </a:prstGeom>
          <a:noFill/>
        </p:spPr>
        <p:txBody>
          <a:bodyPr wrap="square" lIns="0" rIns="0" tIns="0" bIns="0" anchor="t">
            <a:noAutofit/>
          </a:bodyPr>
          <a:lstStyle/>
          <a:p>
            <a:pPr algn="l">
              <a:lnSpc>
                <a:spcPct val="105000"/>
              </a:lnSpc>
              <a:spcAft>
                <a:spcPts val="0"/>
              </a:spcAft>
            </a:pPr>
            <a:r>
              <a:rPr sz="1700" b="0">
                <a:solidFill>
                  <a:srgbClr val="D2D2D2"/>
                </a:solidFill>
                <a:latin typeface="Calibri"/>
              </a:rPr>
              <a:t>The linear layer scores each finding as a weighted sum of those 1024 numbers, plus a bias.</a:t>
            </a:r>
            <a:endParaRPr sz="1700"/>
          </a:p>
        </p:txBody>
      </p:sp>
      <p:sp>
        <p:nvSpPr>
          <p:cNvPr id="12" name="Rectangle 11"/>
          <p:cNvSpPr/>
          <p:nvPr/>
        </p:nvSpPr>
        <p:spPr>
          <a:xfrm>
            <a:off x="5669280" y="1691640"/>
            <a:ext cx="5973775" cy="256032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89320" y="1920240"/>
            <a:ext cx="5333695" cy="2468880"/>
          </a:xfrm>
          <a:prstGeom prst="rect">
            <a:avLst/>
          </a:prstGeom>
          <a:noFill/>
        </p:spPr>
        <p:txBody>
          <a:bodyPr wrap="square" lIns="0" rIns="0" tIns="0" bIns="0" anchor="t">
            <a:noAutofit/>
          </a:bodyPr>
          <a:lstStyle/>
          <a:p>
            <a:pPr algn="l">
              <a:lnSpc>
                <a:spcPct val="100000"/>
              </a:lnSpc>
              <a:spcAft>
                <a:spcPts val="1200"/>
              </a:spcAft>
            </a:pPr>
            <a:r>
              <a:rPr sz="2300" b="0">
                <a:solidFill>
                  <a:srgbClr val="FFFFFF"/>
                </a:solidFill>
                <a:latin typeface="Cambria Math"/>
              </a:rPr>
              <a:t>score</a:t>
            </a:r>
            <a:r>
              <a:rPr sz="2300" b="0" baseline="-25000">
                <a:solidFill>
                  <a:srgbClr val="FFFFFF"/>
                </a:solidFill>
                <a:latin typeface="Cambria Math"/>
              </a:rPr>
              <a:t>c</a:t>
            </a:r>
            <a:r>
              <a:rPr sz="2300" b="0">
                <a:solidFill>
                  <a:srgbClr val="FFFFFF"/>
                </a:solidFill>
                <a:latin typeface="Cambria Math"/>
              </a:rPr>
              <a:t> = Σ</a:t>
            </a:r>
            <a:r>
              <a:rPr sz="2300" b="0" baseline="-25000">
                <a:solidFill>
                  <a:srgbClr val="FFFFFF"/>
                </a:solidFill>
                <a:latin typeface="Cambria Math"/>
              </a:rPr>
              <a:t>k</a:t>
            </a:r>
            <a:r>
              <a:rPr sz="2300" b="0">
                <a:solidFill>
                  <a:srgbClr val="FFFFFF"/>
                </a:solidFill>
                <a:latin typeface="Cambria Math"/>
              </a:rPr>
              <a:t> w</a:t>
            </a:r>
            <a:r>
              <a:rPr sz="2300" b="0" baseline="-25000">
                <a:solidFill>
                  <a:srgbClr val="FFFFFF"/>
                </a:solidFill>
                <a:latin typeface="Cambria Math"/>
              </a:rPr>
              <a:t>ck</a:t>
            </a:r>
            <a:r>
              <a:rPr sz="2300" b="0">
                <a:solidFill>
                  <a:srgbClr val="FFFFFF"/>
                </a:solidFill>
                <a:latin typeface="Cambria Math"/>
              </a:rPr>
              <a:t> · mean(F</a:t>
            </a:r>
            <a:r>
              <a:rPr sz="2300" b="0" baseline="-25000">
                <a:solidFill>
                  <a:srgbClr val="FFFFFF"/>
                </a:solidFill>
                <a:latin typeface="Cambria Math"/>
              </a:rPr>
              <a:t>k</a:t>
            </a:r>
            <a:r>
              <a:rPr sz="2300" b="0">
                <a:solidFill>
                  <a:srgbClr val="FFFFFF"/>
                </a:solidFill>
                <a:latin typeface="Cambria Math"/>
              </a:rPr>
              <a:t>) + b</a:t>
            </a:r>
            <a:r>
              <a:rPr sz="2300" b="0" baseline="-25000">
                <a:solidFill>
                  <a:srgbClr val="FFFFFF"/>
                </a:solidFill>
                <a:latin typeface="Cambria Math"/>
              </a:rPr>
              <a:t>c</a:t>
            </a:r>
            <a:endParaRPr sz="2300"/>
          </a:p>
          <a:p>
            <a:pPr algn="l">
              <a:lnSpc>
                <a:spcPct val="100000"/>
              </a:lnSpc>
              <a:spcAft>
                <a:spcPts val="2200"/>
              </a:spcAft>
            </a:pPr>
            <a:r>
              <a:rPr sz="2300" b="0">
                <a:solidFill>
                  <a:srgbClr val="FFFFFF"/>
                </a:solidFill>
                <a:latin typeface="Cambria Math"/>
              </a:rPr>
              <a:t>score</a:t>
            </a:r>
            <a:r>
              <a:rPr sz="2300" b="0" baseline="-25000">
                <a:solidFill>
                  <a:srgbClr val="FFFFFF"/>
                </a:solidFill>
                <a:latin typeface="Cambria Math"/>
              </a:rPr>
              <a:t>c</a:t>
            </a:r>
            <a:r>
              <a:rPr sz="2300" b="0">
                <a:solidFill>
                  <a:srgbClr val="FFFFFF"/>
                </a:solidFill>
                <a:latin typeface="Cambria Math"/>
              </a:rPr>
              <a:t> = mean( Σ</a:t>
            </a:r>
            <a:r>
              <a:rPr sz="2300" b="0" baseline="-25000">
                <a:solidFill>
                  <a:srgbClr val="FFFFFF"/>
                </a:solidFill>
                <a:latin typeface="Cambria Math"/>
              </a:rPr>
              <a:t>k</a:t>
            </a:r>
            <a:r>
              <a:rPr sz="2300" b="0">
                <a:solidFill>
                  <a:srgbClr val="FFFFFF"/>
                </a:solidFill>
                <a:latin typeface="Cambria Math"/>
              </a:rPr>
              <a:t> w</a:t>
            </a:r>
            <a:r>
              <a:rPr sz="2300" b="0" baseline="-25000">
                <a:solidFill>
                  <a:srgbClr val="FFFFFF"/>
                </a:solidFill>
                <a:latin typeface="Cambria Math"/>
              </a:rPr>
              <a:t>ck</a:t>
            </a:r>
            <a:r>
              <a:rPr sz="2300" b="0">
                <a:solidFill>
                  <a:srgbClr val="FFFFFF"/>
                </a:solidFill>
                <a:latin typeface="Cambria Math"/>
              </a:rPr>
              <a:t> F</a:t>
            </a:r>
            <a:r>
              <a:rPr sz="2300" b="0" baseline="-25000">
                <a:solidFill>
                  <a:srgbClr val="FFFFFF"/>
                </a:solidFill>
                <a:latin typeface="Cambria Math"/>
              </a:rPr>
              <a:t>k</a:t>
            </a:r>
            <a:r>
              <a:rPr sz="2300" b="0">
                <a:solidFill>
                  <a:srgbClr val="FFFFFF"/>
                </a:solidFill>
                <a:latin typeface="Cambria Math"/>
              </a:rPr>
              <a:t> ) + b</a:t>
            </a:r>
            <a:r>
              <a:rPr sz="2300" b="0" baseline="-25000">
                <a:solidFill>
                  <a:srgbClr val="FFFFFF"/>
                </a:solidFill>
                <a:latin typeface="Cambria Math"/>
              </a:rPr>
              <a:t>c</a:t>
            </a:r>
            <a:endParaRPr sz="2300"/>
          </a:p>
          <a:p>
            <a:pPr algn="l">
              <a:lnSpc>
                <a:spcPct val="100000"/>
              </a:lnSpc>
              <a:spcAft>
                <a:spcPts val="400"/>
              </a:spcAft>
            </a:pPr>
            <a:r>
              <a:rPr sz="2300" b="0">
                <a:solidFill>
                  <a:srgbClr val="F2994A"/>
                </a:solidFill>
                <a:latin typeface="Cambria Math"/>
              </a:rPr>
              <a:t>CAM</a:t>
            </a:r>
            <a:r>
              <a:rPr sz="2300" b="0" baseline="-25000">
                <a:solidFill>
                  <a:srgbClr val="F2994A"/>
                </a:solidFill>
                <a:latin typeface="Cambria Math"/>
              </a:rPr>
              <a:t>c</a:t>
            </a:r>
            <a:r>
              <a:rPr sz="2300" b="0">
                <a:solidFill>
                  <a:srgbClr val="F2994A"/>
                </a:solidFill>
                <a:latin typeface="Cambria Math"/>
              </a:rPr>
              <a:t> = Σ</a:t>
            </a:r>
            <a:r>
              <a:rPr sz="2300" b="0" baseline="-25000">
                <a:solidFill>
                  <a:srgbClr val="F2994A"/>
                </a:solidFill>
                <a:latin typeface="Cambria Math"/>
              </a:rPr>
              <a:t>k</a:t>
            </a:r>
            <a:r>
              <a:rPr sz="2300" b="0">
                <a:solidFill>
                  <a:srgbClr val="F2994A"/>
                </a:solidFill>
                <a:latin typeface="Cambria Math"/>
              </a:rPr>
              <a:t> w</a:t>
            </a:r>
            <a:r>
              <a:rPr sz="2300" b="0" baseline="-25000">
                <a:solidFill>
                  <a:srgbClr val="F2994A"/>
                </a:solidFill>
                <a:latin typeface="Cambria Math"/>
              </a:rPr>
              <a:t>ck</a:t>
            </a:r>
            <a:r>
              <a:rPr sz="2300" b="0">
                <a:solidFill>
                  <a:srgbClr val="F2994A"/>
                </a:solidFill>
                <a:latin typeface="Cambria Math"/>
              </a:rPr>
              <a:t> F</a:t>
            </a:r>
            <a:r>
              <a:rPr sz="2300" b="0" baseline="-25000">
                <a:solidFill>
                  <a:srgbClr val="F2994A"/>
                </a:solidFill>
                <a:latin typeface="Cambria Math"/>
              </a:rPr>
              <a:t>k</a:t>
            </a:r>
            <a:endParaRPr sz="2300"/>
          </a:p>
          <a:p>
            <a:pPr algn="l">
              <a:lnSpc>
                <a:spcPct val="100000"/>
              </a:lnSpc>
              <a:spcAft>
                <a:spcPts val="0"/>
              </a:spcAft>
            </a:pPr>
            <a:r>
              <a:rPr sz="1300" b="0">
                <a:solidFill>
                  <a:srgbClr val="8F8F8F"/>
                </a:solidFill>
                <a:latin typeface="Calibri"/>
              </a:rPr>
              <a:t>a 16 × 16 map for finding c. F</a:t>
            </a:r>
            <a:r>
              <a:rPr sz="1300" b="0" baseline="-25000">
                <a:solidFill>
                  <a:srgbClr val="8F8F8F"/>
                </a:solidFill>
                <a:latin typeface="Calibri"/>
              </a:rPr>
              <a:t>k</a:t>
            </a:r>
            <a:r>
              <a:rPr sz="1300" b="0">
                <a:solidFill>
                  <a:srgbClr val="8F8F8F"/>
                </a:solidFill>
                <a:latin typeface="Calibri"/>
              </a:rPr>
              <a:t> is feature map k, w</a:t>
            </a:r>
            <a:r>
              <a:rPr sz="1300" b="0" baseline="-25000">
                <a:solidFill>
                  <a:srgbClr val="8F8F8F"/>
                </a:solidFill>
                <a:latin typeface="Calibri"/>
              </a:rPr>
              <a:t>ck</a:t>
            </a:r>
            <a:r>
              <a:rPr sz="1300" b="0">
                <a:solidFill>
                  <a:srgbClr val="8F8F8F"/>
                </a:solidFill>
                <a:latin typeface="Calibri"/>
              </a:rPr>
              <a:t> its weight for finding c.</a:t>
            </a:r>
            <a:endParaRPr sz="1300"/>
          </a:p>
        </p:txBody>
      </p:sp>
      <p:sp>
        <p:nvSpPr>
          <p:cNvPr id="14" name="TextBox 13"/>
          <p:cNvSpPr txBox="1"/>
          <p:nvPr/>
        </p:nvSpPr>
        <p:spPr>
          <a:xfrm>
            <a:off x="548640" y="4846320"/>
            <a:ext cx="11094415" cy="82296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Weighting and averaging can swap places, so the map's average plus the bias </a:t>
            </a:r>
            <a:r>
              <a:rPr sz="1700" b="1">
                <a:solidFill>
                  <a:srgbClr val="FFFFFF"/>
                </a:solidFill>
                <a:latin typeface="Calibri"/>
              </a:rPr>
              <a:t>is</a:t>
            </a:r>
            <a:r>
              <a:rPr sz="1700" b="0">
                <a:solidFill>
                  <a:srgbClr val="D2D2D2"/>
                </a:solidFill>
                <a:latin typeface="Calibri"/>
              </a:rPr>
              <a:t> the score. CAM splits the prediction across the image instead of estimating it, and a unit test checks the equality.</a:t>
            </a:r>
            <a:endParaRPr sz="1700"/>
          </a:p>
        </p:txBody>
      </p:sp>
      <p:sp>
        <p:nvSpPr>
          <p:cNvPr id="15" name="TextBox 14"/>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One map cell covers 32 × 32 px of the 512 px input, or 64 × 64 px of the original image. That limit comes back with nodules.</a:t>
            </a:r>
            <a:endParaRPr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TRAINING</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How it was trained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11</a:t>
            </a:r>
            <a:endParaRPr sz="1000"/>
          </a:p>
        </p:txBody>
      </p:sp>
      <p:graphicFrame>
        <p:nvGraphicFramePr>
          <p:cNvPr id="6" name="Table 5"/>
          <p:cNvGraphicFramePr>
            <a:graphicFrameLocks noGrp="1"/>
          </p:cNvGraphicFramePr>
          <p:nvPr/>
        </p:nvGraphicFramePr>
        <p:xfrm>
          <a:off x="548640" y="1645920"/>
          <a:ext cx="11094415" cy="3968496"/>
        </p:xfrm>
        <a:graphic>
          <a:graphicData uri="http://schemas.openxmlformats.org/drawingml/2006/table">
            <a:tbl>
              <a:tblPr firstRow="0" bandRow="0">
                <a:tableStyleId>{2D5ABB26-0587-4C30-8999-92F81FD0307C}</a:tableStyleId>
              </a:tblPr>
              <a:tblGrid>
                <a:gridCol w="2103120"/>
                <a:gridCol w="8991295"/>
              </a:tblGrid>
              <a:tr h="566928">
                <a:tc>
                  <a:txBody>
                    <a:bodyPr wrap="square"/>
                    <a:lstStyle/>
                    <a:p>
                      <a:pPr algn="l">
                        <a:lnSpc>
                          <a:spcPct val="105000"/>
                        </a:lnSpc>
                        <a:spcAft>
                          <a:spcPts val="0"/>
                        </a:spcAft>
                      </a:pPr>
                      <a:r>
                        <a:rPr sz="1500" b="1">
                          <a:solidFill>
                            <a:srgbClr val="FFFFFF"/>
                          </a:solidFill>
                          <a:latin typeface="Calibri"/>
                        </a:rPr>
                        <a:t>Loss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Binary cross-entropy for each finding. Positives weighted by √(negatives ÷ positives), so Hernia gets 25× instead of 626×.</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Optimiser</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AdamW, peak learning rate 1e-4, weight decay 1e-5, one-cycle schedule with a 5% warm-up.</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Stopping</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Up to 12 epochs. Stop after 3 epochs without a better validation mean AUROC, and keep the best epoch.</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Augmentation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Rotation up to 7°, shift up to 5%, zoom within 5%. No horizontal flip: it puts the heart on the wrong side, and we report left and right.</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Validation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10% of the official training list, split by patient. A check fails loudly if a patient lands in two splits.</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Hardware</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RTX 5070 Ti, 16 GB. bfloat16 mixed precision, batch 32, about 12 GB in use. 10.4 min for the first epoch, then about 7.5 min each.</a:t>
                      </a:r>
                      <a:endParaRPr sz="15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500" b="1">
                          <a:solidFill>
                            <a:srgbClr val="FFFFFF"/>
                          </a:solidFill>
                          <a:latin typeface="Calibri"/>
                        </a:rPr>
                        <a:t>Checkpoints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Everything needed to resume is saved every epoch, added after three power cuts.</a:t>
                      </a:r>
                      <a:endParaRPr sz="1500"/>
                    </a:p>
                  </a:txBody>
                  <a:tcPr marL="73152" marR="73152"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Three runs, one recipe, three seeds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12</a:t>
            </a:r>
            <a:endParaRPr sz="1000"/>
          </a:p>
        </p:txBody>
      </p:sp>
      <p:sp>
        <p:nvSpPr>
          <p:cNvPr id="6" name="TextBox 5"/>
          <p:cNvSpPr txBox="1"/>
          <p:nvPr/>
        </p:nvSpPr>
        <p:spPr>
          <a:xfrm>
            <a:off x="548640" y="1572768"/>
            <a:ext cx="11094415"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Validation mean AUROC after each epoch. Highlighted: the epoch whose weights were kept.</a:t>
            </a:r>
            <a:endParaRPr sz="1300"/>
          </a:p>
        </p:txBody>
      </p:sp>
      <p:graphicFrame>
        <p:nvGraphicFramePr>
          <p:cNvPr id="7" name="Table 6"/>
          <p:cNvGraphicFramePr>
            <a:graphicFrameLocks noGrp="1"/>
          </p:cNvGraphicFramePr>
          <p:nvPr/>
        </p:nvGraphicFramePr>
        <p:xfrm>
          <a:off x="548640" y="1920240"/>
          <a:ext cx="11091672" cy="1837944"/>
        </p:xfrm>
        <a:graphic>
          <a:graphicData uri="http://schemas.openxmlformats.org/drawingml/2006/table">
            <a:tbl>
              <a:tblPr firstRow="0" bandRow="0">
                <a:tableStyleId>{2D5ABB26-0587-4C30-8999-92F81FD0307C}</a:tableStyleId>
              </a:tblPr>
              <a:tblGrid>
                <a:gridCol w="1188720"/>
                <a:gridCol w="960120"/>
                <a:gridCol w="960120"/>
                <a:gridCol w="960120"/>
                <a:gridCol w="960120"/>
                <a:gridCol w="960120"/>
                <a:gridCol w="960120"/>
                <a:gridCol w="960120"/>
                <a:gridCol w="960120"/>
                <a:gridCol w="2221992"/>
              </a:tblGrid>
              <a:tr h="411480">
                <a:tc>
                  <a:txBody>
                    <a:bodyPr wrap="square"/>
                    <a:lstStyle/>
                    <a:p>
                      <a:pPr algn="l">
                        <a:lnSpc>
                          <a:spcPct val="105000"/>
                        </a:lnSpc>
                        <a:spcAft>
                          <a:spcPts val="0"/>
                        </a:spcAft>
                      </a:pPr>
                      <a:r>
                        <a:rPr sz="1200" b="0">
                          <a:solidFill>
                            <a:srgbClr val="8F8F8F"/>
                          </a:solidFill>
                          <a:latin typeface="Calibri"/>
                        </a:rPr>
                        <a:t>seed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epoch 1</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2</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3</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4</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5</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6</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7</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8</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test AUROC</a:t>
                      </a:r>
                      <a:endParaRPr sz="1200"/>
                    </a:p>
                  </a:txBody>
                  <a:tcPr marL="73152" marR="73152" marT="27432" marB="27432" anchor="ctr">
                    <a:lnL w="0">
                      <a:noFill/>
                    </a:lnL>
                    <a:lnR w="0">
                      <a:noFill/>
                    </a:lnR>
                    <a:lnT w="0">
                      <a:noFill/>
                    </a:lnT>
                    <a:lnB w="12700">
                      <a:solidFill>
                        <a:srgbClr val="5C5C5C"/>
                      </a:solidFill>
                    </a:lnB>
                    <a:noFill/>
                  </a:tcPr>
                </a:tc>
              </a:tr>
              <a:tr h="475488">
                <a:tc>
                  <a:txBody>
                    <a:bodyPr wrap="square"/>
                    <a:lstStyle/>
                    <a:p>
                      <a:pPr algn="l">
                        <a:lnSpc>
                          <a:spcPct val="105000"/>
                        </a:lnSpc>
                        <a:spcAft>
                          <a:spcPts val="0"/>
                        </a:spcAft>
                      </a:pPr>
                      <a:r>
                        <a:rPr sz="1600" b="1">
                          <a:solidFill>
                            <a:srgbClr val="FFFFFF"/>
                          </a:solidFill>
                          <a:latin typeface="Calibri"/>
                        </a:rPr>
                        <a:t>1337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0.8138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0.8335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0.8490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0.8533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0.8514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0.8525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0.8510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0.8158</a:t>
                      </a:r>
                      <a:endParaRPr sz="1600"/>
                    </a:p>
                  </a:txBody>
                  <a:tcPr marL="73152" marR="73152" marT="27432" marB="27432" anchor="ctr">
                    <a:lnL w="0">
                      <a:noFill/>
                    </a:lnL>
                    <a:lnR w="0">
                      <a:noFill/>
                    </a:lnR>
                    <a:lnT w="0">
                      <a:noFill/>
                    </a:lnT>
                    <a:lnB w="9525">
                      <a:solidFill>
                        <a:srgbClr val="2E2E2E"/>
                      </a:solidFill>
                    </a:lnB>
                    <a:noFill/>
                  </a:tcPr>
                </a:tc>
              </a:tr>
              <a:tr h="475488">
                <a:tc>
                  <a:txBody>
                    <a:bodyPr wrap="square"/>
                    <a:lstStyle/>
                    <a:p>
                      <a:pPr algn="l">
                        <a:lnSpc>
                          <a:spcPct val="105000"/>
                        </a:lnSpc>
                        <a:spcAft>
                          <a:spcPts val="0"/>
                        </a:spcAft>
                      </a:pPr>
                      <a:r>
                        <a:rPr sz="1600" b="1">
                          <a:solidFill>
                            <a:srgbClr val="FFFFFF"/>
                          </a:solidFill>
                          <a:latin typeface="Calibri"/>
                        </a:rPr>
                        <a:t>2024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0.8077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0.8430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0.8479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0.8438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0.8409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0.8321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0.8190</a:t>
                      </a:r>
                      <a:endParaRPr sz="1600"/>
                    </a:p>
                  </a:txBody>
                  <a:tcPr marL="73152" marR="73152" marT="27432" marB="27432" anchor="ctr">
                    <a:lnL w="0">
                      <a:noFill/>
                    </a:lnL>
                    <a:lnR w="0">
                      <a:noFill/>
                    </a:lnR>
                    <a:lnT w="0">
                      <a:noFill/>
                    </a:lnT>
                    <a:lnB w="9525">
                      <a:solidFill>
                        <a:srgbClr val="2E2E2E"/>
                      </a:solidFill>
                    </a:lnB>
                    <a:noFill/>
                  </a:tcPr>
                </a:tc>
              </a:tr>
              <a:tr h="475488">
                <a:tc>
                  <a:txBody>
                    <a:bodyPr wrap="square"/>
                    <a:lstStyle/>
                    <a:p>
                      <a:pPr algn="l">
                        <a:lnSpc>
                          <a:spcPct val="105000"/>
                        </a:lnSpc>
                        <a:spcAft>
                          <a:spcPts val="0"/>
                        </a:spcAft>
                      </a:pPr>
                      <a:r>
                        <a:rPr sz="1600" b="1">
                          <a:solidFill>
                            <a:srgbClr val="FFFFFF"/>
                          </a:solidFill>
                          <a:latin typeface="Calibri"/>
                        </a:rPr>
                        <a:t>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0.8161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0.8380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0.8469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0.8483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0.8463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0.8404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0.8353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FFFFF"/>
                          </a:solidFill>
                          <a:latin typeface="Calibri"/>
                        </a:rPr>
                        <a:t>0.8164</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8" name="TextBox 7"/>
          <p:cNvSpPr txBox="1"/>
          <p:nvPr/>
        </p:nvSpPr>
        <p:spPr>
          <a:xfrm>
            <a:off x="548640"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0.8171</a:t>
            </a:r>
            <a:endParaRPr sz="4400"/>
          </a:p>
        </p:txBody>
      </p:sp>
      <p:sp>
        <p:nvSpPr>
          <p:cNvPr id="9" name="TextBox 8"/>
          <p:cNvSpPr txBox="1"/>
          <p:nvPr/>
        </p:nvSpPr>
        <p:spPr>
          <a:xfrm>
            <a:off x="548640"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mean test AUROC of the three runs</a:t>
            </a:r>
            <a:endParaRPr sz="1500"/>
          </a:p>
        </p:txBody>
      </p:sp>
      <p:sp>
        <p:nvSpPr>
          <p:cNvPr id="10" name="TextBox 9"/>
          <p:cNvSpPr txBox="1"/>
          <p:nvPr/>
        </p:nvSpPr>
        <p:spPr>
          <a:xfrm>
            <a:off x="4374794"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0.0032</a:t>
            </a:r>
            <a:endParaRPr sz="4400"/>
          </a:p>
        </p:txBody>
      </p:sp>
      <p:sp>
        <p:nvSpPr>
          <p:cNvPr id="11" name="TextBox 10"/>
          <p:cNvSpPr txBox="1"/>
          <p:nvPr/>
        </p:nvSpPr>
        <p:spPr>
          <a:xfrm>
            <a:off x="4374794"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spread between the lowest and highest test score</a:t>
            </a:r>
            <a:endParaRPr sz="1500"/>
          </a:p>
        </p:txBody>
      </p:sp>
      <p:sp>
        <p:nvSpPr>
          <p:cNvPr id="12" name="TextBox 11"/>
          <p:cNvSpPr txBox="1"/>
          <p:nvPr/>
        </p:nvSpPr>
        <p:spPr>
          <a:xfrm>
            <a:off x="8200948" y="4069080"/>
            <a:ext cx="3442106" cy="731520"/>
          </a:xfrm>
          <a:prstGeom prst="rect">
            <a:avLst/>
          </a:prstGeom>
          <a:noFill/>
        </p:spPr>
        <p:txBody>
          <a:bodyPr wrap="square" lIns="0" rIns="0" tIns="0" bIns="0" anchor="b">
            <a:noAutofit/>
          </a:bodyPr>
          <a:lstStyle/>
          <a:p>
            <a:pPr algn="l">
              <a:lnSpc>
                <a:spcPct val="90000"/>
              </a:lnSpc>
              <a:spcAft>
                <a:spcPts val="0"/>
              </a:spcAft>
            </a:pPr>
            <a:r>
              <a:rPr sz="4400" b="0">
                <a:solidFill>
                  <a:srgbClr val="FFFFFF"/>
                </a:solidFill>
                <a:latin typeface="Calibri Light"/>
              </a:rPr>
              <a:t>4 or 5</a:t>
            </a:r>
            <a:endParaRPr sz="4400"/>
          </a:p>
        </p:txBody>
      </p:sp>
      <p:sp>
        <p:nvSpPr>
          <p:cNvPr id="13" name="TextBox 12"/>
          <p:cNvSpPr txBox="1"/>
          <p:nvPr/>
        </p:nvSpPr>
        <p:spPr>
          <a:xfrm>
            <a:off x="8200948" y="4892040"/>
            <a:ext cx="3442106" cy="73152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best epoch in every run. Early stopping ended each run three epochs later.</a:t>
            </a:r>
            <a:endParaRPr sz="1500"/>
          </a:p>
        </p:txBody>
      </p:sp>
      <p:sp>
        <p:nvSpPr>
          <p:cNvPr id="14" name="TextBox 13"/>
          <p:cNvSpPr txBox="1"/>
          <p:nvPr/>
        </p:nvSpPr>
        <p:spPr>
          <a:xfrm>
            <a:off x="548640" y="5852160"/>
            <a:ext cx="1109441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A seed changes the new output layer's starting weights, the shuffling, the augmentation and which patients are held out for validation. The test set never changes.</a:t>
            </a:r>
            <a:endParaRPr sz="13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Why we keep the weights we keep</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13</a:t>
            </a:r>
            <a:endParaRPr sz="1000"/>
          </a:p>
        </p:txBody>
      </p:sp>
      <p:sp>
        <p:nvSpPr>
          <p:cNvPr id="6" name="TextBox 5"/>
          <p:cNvSpPr txBox="1"/>
          <p:nvPr/>
        </p:nvSpPr>
        <p:spPr>
          <a:xfrm>
            <a:off x="548640" y="1536192"/>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1</a:t>
            </a:r>
            <a:endParaRPr sz="4400"/>
          </a:p>
        </p:txBody>
      </p:sp>
      <p:sp>
        <p:nvSpPr>
          <p:cNvPr id="7" name="TextBox 6"/>
          <p:cNvSpPr txBox="1"/>
          <p:nvPr/>
        </p:nvSpPr>
        <p:spPr>
          <a:xfrm>
            <a:off x="1280160" y="16459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Inside a run, validation picks the epoch</a:t>
            </a:r>
            <a:endParaRPr sz="2100"/>
          </a:p>
        </p:txBody>
      </p:sp>
      <p:sp>
        <p:nvSpPr>
          <p:cNvPr id="8" name="TextBox 7"/>
          <p:cNvSpPr txBox="1"/>
          <p:nvPr/>
        </p:nvSpPr>
        <p:spPr>
          <a:xfrm>
            <a:off x="1280160" y="2084832"/>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All three runs peak at epoch 4 or 5 and slip after that, while training loss keeps falling (seed 1337: 0.331 at epoch 4, 0.271 at epoch 7). That is the start of overfitting, so the later epochs are not used.</a:t>
            </a:r>
            <a:endParaRPr sz="1600"/>
          </a:p>
        </p:txBody>
      </p:sp>
      <p:sp>
        <p:nvSpPr>
          <p:cNvPr id="9" name="TextBox 8"/>
          <p:cNvSpPr txBox="1"/>
          <p:nvPr/>
        </p:nvSpPr>
        <p:spPr>
          <a:xfrm>
            <a:off x="548640" y="2907791"/>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2</a:t>
            </a:r>
            <a:endParaRPr sz="4400"/>
          </a:p>
        </p:txBody>
      </p:sp>
      <p:sp>
        <p:nvSpPr>
          <p:cNvPr id="10" name="TextBox 9"/>
          <p:cNvSpPr txBox="1"/>
          <p:nvPr/>
        </p:nvSpPr>
        <p:spPr>
          <a:xfrm>
            <a:off x="1280160" y="30175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Across runs, validation cannot pick a winner</a:t>
            </a:r>
            <a:endParaRPr sz="2100"/>
          </a:p>
        </p:txBody>
      </p:sp>
      <p:sp>
        <p:nvSpPr>
          <p:cNvPr id="11" name="TextBox 10"/>
          <p:cNvSpPr txBox="1"/>
          <p:nvPr/>
        </p:nvSpPr>
        <p:spPr>
          <a:xfrm>
            <a:off x="1280160" y="3456432"/>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Seed 1337 has the best validation score (0.8533) and the lowest test score (0.8158). Each run also validates on different patients, so those scores are not strictly comparable.</a:t>
            </a:r>
            <a:endParaRPr sz="1600"/>
          </a:p>
        </p:txBody>
      </p:sp>
      <p:sp>
        <p:nvSpPr>
          <p:cNvPr id="12" name="TextBox 11"/>
          <p:cNvSpPr txBox="1"/>
          <p:nvPr/>
        </p:nvSpPr>
        <p:spPr>
          <a:xfrm>
            <a:off x="548640" y="4279392"/>
            <a:ext cx="640080" cy="731520"/>
          </a:xfrm>
          <a:prstGeom prst="rect">
            <a:avLst/>
          </a:prstGeom>
          <a:noFill/>
        </p:spPr>
        <p:txBody>
          <a:bodyPr wrap="square" lIns="0" rIns="0" tIns="0" bIns="0" anchor="t">
            <a:noAutofit/>
          </a:bodyPr>
          <a:lstStyle/>
          <a:p>
            <a:pPr algn="l">
              <a:lnSpc>
                <a:spcPct val="105000"/>
              </a:lnSpc>
              <a:spcAft>
                <a:spcPts val="0"/>
              </a:spcAft>
            </a:pPr>
            <a:r>
              <a:rPr sz="4400" b="0">
                <a:solidFill>
                  <a:srgbClr val="F2994A"/>
                </a:solidFill>
                <a:latin typeface="Calibri Light"/>
              </a:rPr>
              <a:t>3</a:t>
            </a:r>
            <a:endParaRPr sz="4400"/>
          </a:p>
        </p:txBody>
      </p:sp>
      <p:sp>
        <p:nvSpPr>
          <p:cNvPr id="13" name="TextBox 12"/>
          <p:cNvSpPr txBox="1"/>
          <p:nvPr/>
        </p:nvSpPr>
        <p:spPr>
          <a:xfrm>
            <a:off x="1280160" y="4389120"/>
            <a:ext cx="10362895" cy="411480"/>
          </a:xfrm>
          <a:prstGeom prst="rect">
            <a:avLst/>
          </a:prstGeom>
          <a:noFill/>
        </p:spPr>
        <p:txBody>
          <a:bodyPr wrap="square" lIns="0" rIns="0" tIns="0" bIns="0" anchor="t">
            <a:noAutofit/>
          </a:bodyPr>
          <a:lstStyle/>
          <a:p>
            <a:pPr algn="l">
              <a:lnSpc>
                <a:spcPct val="105000"/>
              </a:lnSpc>
              <a:spcAft>
                <a:spcPts val="0"/>
              </a:spcAft>
            </a:pPr>
            <a:r>
              <a:rPr sz="2100" b="1">
                <a:solidFill>
                  <a:srgbClr val="FFFFFF"/>
                </a:solidFill>
                <a:latin typeface="Calibri"/>
              </a:rPr>
              <a:t>We report seed 1337, and the spread</a:t>
            </a:r>
            <a:endParaRPr sz="2100"/>
          </a:p>
        </p:txBody>
      </p:sp>
      <p:sp>
        <p:nvSpPr>
          <p:cNvPr id="14" name="TextBox 13"/>
          <p:cNvSpPr txBox="1"/>
          <p:nvPr/>
        </p:nvSpPr>
        <p:spPr>
          <a:xfrm>
            <a:off x="1280160" y="4828031"/>
            <a:ext cx="10362895" cy="822960"/>
          </a:xfrm>
          <a:prstGeom prst="rect">
            <a:avLst/>
          </a:prstGeom>
          <a:noFill/>
        </p:spPr>
        <p:txBody>
          <a:bodyPr wrap="square" lIns="0" rIns="0" tIns="0" bIns="0" anchor="t">
            <a:noAutofit/>
          </a:bodyPr>
          <a:lstStyle/>
          <a:p>
            <a:pPr algn="l">
              <a:lnSpc>
                <a:spcPct val="108000"/>
              </a:lnSpc>
              <a:spcAft>
                <a:spcPts val="0"/>
              </a:spcAft>
            </a:pPr>
            <a:r>
              <a:rPr sz="1600" b="0">
                <a:solidFill>
                  <a:srgbClr val="D2D2D2"/>
                </a:solidFill>
                <a:latin typeface="Calibri"/>
              </a:rPr>
              <a:t>It was fixed as the main run before the other two existed. Picking seed 2024 now because it tests best would mean choosing on the test set, which the official split exists to prevent.</a:t>
            </a:r>
            <a:endParaRPr sz="1600"/>
          </a:p>
        </p:txBody>
      </p:sp>
      <p:sp>
        <p:nvSpPr>
          <p:cNvPr id="15" name="TextBox 14"/>
          <p:cNvSpPr txBox="1"/>
          <p:nvPr/>
        </p:nvSpPr>
        <p:spPr>
          <a:xfrm>
            <a:off x="548640" y="5806440"/>
            <a:ext cx="11094415" cy="411480"/>
          </a:xfrm>
          <a:prstGeom prst="rect">
            <a:avLst/>
          </a:prstGeom>
          <a:noFill/>
        </p:spPr>
        <p:txBody>
          <a:bodyPr wrap="square" lIns="0" rIns="0" tIns="0" bIns="0" anchor="t">
            <a:noAutofit/>
          </a:bodyPr>
          <a:lstStyle/>
          <a:p>
            <a:pPr algn="l">
              <a:lnSpc>
                <a:spcPct val="105000"/>
              </a:lnSpc>
              <a:spcAft>
                <a:spcPts val="0"/>
              </a:spcAft>
            </a:pPr>
            <a:r>
              <a:rPr sz="1700" b="0">
                <a:solidFill>
                  <a:srgbClr val="FFFFFF"/>
                </a:solidFill>
                <a:latin typeface="Calibri"/>
              </a:rPr>
              <a:t>The number to quote: </a:t>
            </a:r>
            <a:r>
              <a:rPr sz="1700" b="1">
                <a:solidFill>
                  <a:srgbClr val="F2994A"/>
                </a:solidFill>
                <a:latin typeface="Calibri"/>
              </a:rPr>
              <a:t>0.817</a:t>
            </a:r>
            <a:r>
              <a:rPr sz="1700" b="0">
                <a:solidFill>
                  <a:srgbClr val="FFFFFF"/>
                </a:solidFill>
                <a:latin typeface="Calibri"/>
              </a:rPr>
              <a:t> on average, between 0.816 and 0.819 across runs.</a:t>
            </a:r>
            <a:endParaRPr sz="17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RELATED WORK</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recent papers use, and what we picked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14</a:t>
            </a:r>
            <a:endParaRPr sz="1000"/>
          </a:p>
        </p:txBody>
      </p:sp>
      <p:graphicFrame>
        <p:nvGraphicFramePr>
          <p:cNvPr id="6" name="Table 5"/>
          <p:cNvGraphicFramePr>
            <a:graphicFrameLocks noGrp="1"/>
          </p:cNvGraphicFramePr>
          <p:nvPr/>
        </p:nvGraphicFramePr>
        <p:xfrm>
          <a:off x="548640" y="1572768"/>
          <a:ext cx="11094415" cy="4023360"/>
        </p:xfrm>
        <a:graphic>
          <a:graphicData uri="http://schemas.openxmlformats.org/drawingml/2006/table">
            <a:tbl>
              <a:tblPr firstRow="0" bandRow="0">
                <a:tableStyleId>{2D5ABB26-0587-4C30-8999-92F81FD0307C}</a:tableStyleId>
              </a:tblPr>
              <a:tblGrid>
                <a:gridCol w="1600200"/>
                <a:gridCol w="5760720"/>
                <a:gridCol w="3733495"/>
              </a:tblGrid>
              <a:tr h="365760">
                <a:tc>
                  <a:txBody>
                    <a:bodyPr wrap="square"/>
                    <a:lstStyle/>
                    <a:p>
                      <a:pPr algn="l">
                        <a:lnSpc>
                          <a:spcPct val="105000"/>
                        </a:lnSpc>
                        <a:spcAft>
                          <a:spcPts val="0"/>
                        </a:spcAft>
                      </a:pP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papers from 2021 to 2025 on ChestX-ray14</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our choice</a:t>
                      </a:r>
                      <a:endParaRPr sz="1200"/>
                    </a:p>
                  </a:txBody>
                  <a:tcPr marL="73152" marR="73152" marT="27432" marB="27432" anchor="ctr">
                    <a:lnL w="0">
                      <a:noFill/>
                    </a:lnL>
                    <a:lnR w="0">
                      <a:noFill/>
                    </a:lnR>
                    <a:lnT w="0">
                      <a:noFill/>
                    </a:lnT>
                    <a:lnB w="12700">
                      <a:solidFill>
                        <a:srgbClr val="5C5C5C"/>
                      </a:solidFill>
                    </a:lnB>
                    <a:noFill/>
                  </a:tcPr>
                </a:tc>
              </a:tr>
              <a:tr h="731520">
                <a:tc>
                  <a:txBody>
                    <a:bodyPr wrap="square"/>
                    <a:lstStyle/>
                    <a:p>
                      <a:pPr algn="l">
                        <a:lnSpc>
                          <a:spcPct val="105000"/>
                        </a:lnSpc>
                        <a:spcAft>
                          <a:spcPts val="0"/>
                        </a:spcAft>
                      </a:pPr>
                      <a:r>
                        <a:rPr sz="1400" b="1">
                          <a:solidFill>
                            <a:srgbClr val="FFFFFF"/>
                          </a:solidFill>
                          <a:latin typeface="Calibri"/>
                        </a:rPr>
                        <a:t>Network</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DenseNet-121 in the CNN papers (XProtoNet 2021, ThoraX-PriorNet 2024, Goel 2024). Swin and ViT transformers since 2022 (SwinCheX, Xiao, EVA-X, CLARiTy).</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DenseNet-121: easy to compare, and its head makes CAM exact</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Pretraining</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ImageNet weights for XProtoNet and Goel's DenseNet-121. Self-supervised pretraining on 0.3 to 0.5 million chest X-rays for the strongest transformers (Xiao 2023, EVA-X 2025).</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ImageNet: standard, and needs no extra data</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Input size</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224 px in SwinCheX, Xiao, Goel and EVA-X. 512 px in XProtoNet, ThoraX-PriorNet and CLARiTy, the papers that study localisation or explanations.</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512 px, like the explanation papers: 16 × 16 maps</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Split</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The official patient-wise split in all of them except ThoraX-PriorNet, which used its own random split.</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The official split, untouched</a:t>
                      </a:r>
                      <a:endParaRPr sz="14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400" b="1">
                          <a:solidFill>
                            <a:srgbClr val="FFFFFF"/>
                          </a:solidFill>
                          <a:latin typeface="Calibri"/>
                        </a:rPr>
                        <a:t>Metrics</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Mean AUROC everywhere. The localisation papers add IoU accuracy on the 984 boxes. None of the papers we checked report AUPRC.</a:t>
                      </a:r>
                      <a:endParaRPr sz="14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FFFFFF"/>
                          </a:solidFill>
                          <a:latin typeface="Calibri"/>
                        </a:rPr>
                        <a:t>AUROC and AUPRC, box accuracy, faithfulness and the randomisation check</a:t>
                      </a:r>
                      <a:endParaRPr sz="14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760720"/>
            <a:ext cx="11094415" cy="457200"/>
          </a:xfrm>
          <a:prstGeom prst="rect">
            <a:avLst/>
          </a:prstGeom>
          <a:noFill/>
        </p:spPr>
        <p:txBody>
          <a:bodyPr wrap="square" lIns="0" rIns="0" tIns="0" bIns="0" anchor="t">
            <a:noAutofit/>
          </a:bodyPr>
          <a:lstStyle/>
          <a:p>
            <a:pPr algn="l">
              <a:lnSpc>
                <a:spcPct val="105000"/>
              </a:lnSpc>
              <a:spcAft>
                <a:spcPts val="0"/>
              </a:spcAft>
            </a:pPr>
            <a:r>
              <a:rPr sz="1400" b="0">
                <a:solidFill>
                  <a:srgbClr val="D2D2D2"/>
                </a:solidFill>
                <a:latin typeface="Calibri"/>
              </a:rPr>
              <a:t>The papers closest to ours in purpose, XProtoNet 2021 and CLARiTy 2025, also train at 512 px on the official split and study where the model looks.</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0.816 sits among recent results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15</a:t>
            </a:r>
            <a:endParaRPr sz="1000"/>
          </a:p>
        </p:txBody>
      </p:sp>
      <p:graphicFrame>
        <p:nvGraphicFramePr>
          <p:cNvPr id="6" name="Table 5"/>
          <p:cNvGraphicFramePr>
            <a:graphicFrameLocks noGrp="1"/>
          </p:cNvGraphicFramePr>
          <p:nvPr/>
        </p:nvGraphicFramePr>
        <p:xfrm>
          <a:off x="548640" y="1481328"/>
          <a:ext cx="7818120" cy="4279392"/>
        </p:xfrm>
        <a:graphic>
          <a:graphicData uri="http://schemas.openxmlformats.org/drawingml/2006/table">
            <a:tbl>
              <a:tblPr firstRow="0" bandRow="0">
                <a:tableStyleId>{2D5ABB26-0587-4C30-8999-92F81FD0307C}</a:tableStyleId>
              </a:tblPr>
              <a:tblGrid>
                <a:gridCol w="3017520"/>
                <a:gridCol w="3611880"/>
                <a:gridCol w="1188720"/>
              </a:tblGrid>
              <a:tr h="329184">
                <a:tc>
                  <a:txBody>
                    <a:bodyPr wrap="square"/>
                    <a:lstStyle/>
                    <a:p>
                      <a:pPr algn="l">
                        <a:lnSpc>
                          <a:spcPct val="105000"/>
                        </a:lnSpc>
                        <a:spcAft>
                          <a:spcPts val="0"/>
                        </a:spcAft>
                      </a:pPr>
                      <a:r>
                        <a:rPr sz="1100" b="0">
                          <a:solidFill>
                            <a:srgbClr val="8F8F8F"/>
                          </a:solidFill>
                          <a:latin typeface="Calibri"/>
                        </a:rPr>
                        <a:t>work</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100" b="0">
                          <a:solidFill>
                            <a:srgbClr val="8F8F8F"/>
                          </a:solidFill>
                          <a:latin typeface="Calibri"/>
                        </a:rPr>
                        <a:t>network and input</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mean AUROC</a:t>
                      </a:r>
                      <a:endParaRPr sz="1100"/>
                    </a:p>
                  </a:txBody>
                  <a:tcPr marL="73152" marR="73152" marT="27432" marB="27432" anchor="ctr">
                    <a:lnL w="0">
                      <a:noFill/>
                    </a:lnL>
                    <a:lnR w="0">
                      <a:noFill/>
                    </a:lnR>
                    <a:lnT w="0">
                      <a:noFill/>
                    </a:lnT>
                    <a:lnB w="12700">
                      <a:solidFill>
                        <a:srgbClr val="5C5C5C"/>
                      </a:solidFill>
                    </a:lnB>
                    <a:noFill/>
                  </a:tcPr>
                </a:tc>
              </a:tr>
              <a:tr h="329184">
                <a:tc>
                  <a:txBody>
                    <a:bodyPr wrap="square"/>
                    <a:lstStyle/>
                    <a:p>
                      <a:pPr algn="l">
                        <a:lnSpc>
                          <a:spcPct val="105000"/>
                        </a:lnSpc>
                        <a:spcAft>
                          <a:spcPts val="0"/>
                        </a:spcAft>
                      </a:pPr>
                      <a:r>
                        <a:rPr sz="1300" b="1">
                          <a:solidFill>
                            <a:srgbClr val="F2994A"/>
                          </a:solidFill>
                          <a:latin typeface="Calibri"/>
                        </a:rPr>
                        <a:t>This project, 1 run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DenseNet-121,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0.802</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Taslimi et al. 2022, SwinCheX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Swin-L,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0.810</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Xiao et al. 2023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MAE on 0.3M X-rays,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0.812</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1">
                          <a:solidFill>
                            <a:srgbClr val="F2994A"/>
                          </a:solidFill>
                          <a:latin typeface="Calibri"/>
                        </a:rPr>
                        <a:t>This project, 3 runs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1">
                          <a:solidFill>
                            <a:srgbClr val="F2994A"/>
                          </a:solidFill>
                          <a:latin typeface="Calibri"/>
                        </a:rPr>
                        <a:t>DenseNet-121,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0.816 to 0.819</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Statheros et al. 2025, CLARiTy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ViT-S,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0.818</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Goel et al. 2024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0.8202</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Kim et al. 2021, XProtoNet</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0.822</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Goel et al. 2024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DenseNet-121 + low-rank features,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0.8235</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Statheros et al. 2025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ConvNeXt V2-B baseline, 512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0.825</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Xiao et al. 2023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ViT-B, MAE on 0.5M X-rays,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0.830</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Yao et al. 2025, EVA-X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ViT-S, 520k X-rays,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0.833</a:t>
                      </a:r>
                      <a:endParaRPr sz="1300"/>
                    </a:p>
                  </a:txBody>
                  <a:tcPr marL="73152" marR="73152" marT="27432" marB="27432" anchor="ctr">
                    <a:lnL w="0">
                      <a:noFill/>
                    </a:lnL>
                    <a:lnR w="0">
                      <a:noFill/>
                    </a:lnR>
                    <a:lnT w="0">
                      <a:noFill/>
                    </a:lnT>
                    <a:lnB w="9525">
                      <a:solidFill>
                        <a:srgbClr val="2E2E2E"/>
                      </a:solidFill>
                    </a:lnB>
                    <a:noFill/>
                  </a:tcPr>
                </a:tc>
              </a:tr>
              <a:tr h="329184">
                <a:tc>
                  <a:txBody>
                    <a:bodyPr wrap="square"/>
                    <a:lstStyle/>
                    <a:p>
                      <a:pPr algn="l">
                        <a:lnSpc>
                          <a:spcPct val="105000"/>
                        </a:lnSpc>
                        <a:spcAft>
                          <a:spcPts val="0"/>
                        </a:spcAft>
                      </a:pPr>
                      <a:r>
                        <a:rPr sz="1300" b="0">
                          <a:solidFill>
                            <a:srgbClr val="FFFFFF"/>
                          </a:solidFill>
                          <a:latin typeface="Calibri"/>
                        </a:rPr>
                        <a:t>Goel et al. 2024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300" b="0">
                          <a:solidFill>
                            <a:srgbClr val="D2D2D2"/>
                          </a:solidFill>
                          <a:latin typeface="Calibri"/>
                        </a:rPr>
                        <a:t>ViT-B + low-rank features, 224 px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FFFFFF"/>
                          </a:solidFill>
                          <a:latin typeface="Calibri"/>
                        </a:rPr>
                        <a:t>0.834</a:t>
                      </a:r>
                      <a:endParaRPr sz="13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8778240" y="1554480"/>
            <a:ext cx="2864815" cy="4389120"/>
          </a:xfrm>
          <a:prstGeom prst="rect">
            <a:avLst/>
          </a:prstGeom>
          <a:noFill/>
        </p:spPr>
        <p:txBody>
          <a:bodyPr wrap="square" lIns="0" rIns="0" tIns="0" bIns="0" anchor="t">
            <a:noAutofit/>
          </a:bodyPr>
          <a:lstStyle/>
          <a:p>
            <a:pPr algn="l">
              <a:lnSpc>
                <a:spcPct val="105000"/>
              </a:lnSpc>
              <a:spcAft>
                <a:spcPts val="1400"/>
              </a:spcAft>
            </a:pPr>
            <a:r>
              <a:rPr sz="1400" b="0">
                <a:solidFill>
                  <a:srgbClr val="D2D2D2"/>
                </a:solidFill>
                <a:latin typeface="Calibri"/>
              </a:rPr>
              <a:t>DenseNet-121 results from 2021 to 2024 run from 0.812 to 0.822. Ours sit inside that range, a little below its top.</a:t>
            </a:r>
            <a:endParaRPr sz="1400"/>
          </a:p>
          <a:p>
            <a:pPr algn="l">
              <a:lnSpc>
                <a:spcPct val="105000"/>
              </a:lnSpc>
              <a:spcAft>
                <a:spcPts val="1400"/>
              </a:spcAft>
            </a:pPr>
            <a:r>
              <a:rPr sz="1400" b="0">
                <a:solidFill>
                  <a:srgbClr val="D2D2D2"/>
                </a:solidFill>
                <a:latin typeface="Calibri"/>
              </a:rPr>
              <a:t>The same recipe at 224 px scores 0.802, clearly below all three 512 px runs, so the larger input helps accuracy as well as the maps.</a:t>
            </a:r>
            <a:endParaRPr sz="1400"/>
          </a:p>
          <a:p>
            <a:pPr algn="l">
              <a:lnSpc>
                <a:spcPct val="105000"/>
              </a:lnSpc>
              <a:spcAft>
                <a:spcPts val="1400"/>
              </a:spcAft>
            </a:pPr>
            <a:r>
              <a:rPr sz="1400" b="0">
                <a:solidFill>
                  <a:srgbClr val="D2D2D2"/>
                </a:solidFill>
                <a:latin typeface="Calibri"/>
              </a:rPr>
              <a:t>Goel et al. get 0.820 from DenseNet-121 at 224 px, so the rest of the gap is in our training recipe.</a:t>
            </a:r>
            <a:endParaRPr sz="1400"/>
          </a:p>
          <a:p>
            <a:pPr algn="l">
              <a:lnSpc>
                <a:spcPct val="105000"/>
              </a:lnSpc>
              <a:spcAft>
                <a:spcPts val="1400"/>
              </a:spcAft>
            </a:pPr>
            <a:r>
              <a:rPr sz="1400" b="0">
                <a:solidFill>
                  <a:srgbClr val="D2D2D2"/>
                </a:solidFill>
                <a:latin typeface="Calibri"/>
              </a:rPr>
              <a:t>Transformers pretrained on half a million chest X-rays reach 0.830 to 0.834.</a:t>
            </a:r>
            <a:endParaRPr sz="1400"/>
          </a:p>
          <a:p>
            <a:pPr algn="l">
              <a:lnSpc>
                <a:spcPct val="105000"/>
              </a:lnSpc>
              <a:spcAft>
                <a:spcPts val="1000"/>
              </a:spcAft>
            </a:pPr>
            <a:r>
              <a:rPr sz="1400" b="0">
                <a:solidFill>
                  <a:srgbClr val="8F8F8F"/>
                </a:solidFill>
                <a:latin typeface="Calibri"/>
              </a:rPr>
              <a:t>ThoraX-PriorNet's 0.847 (2024) used its own random split, so it isn't in this table.</a:t>
            </a:r>
            <a:endParaRPr sz="1400"/>
          </a:p>
        </p:txBody>
      </p:sp>
      <p:sp>
        <p:nvSpPr>
          <p:cNvPr id="8" name="TextBox 7"/>
          <p:cNvSpPr txBox="1"/>
          <p:nvPr/>
        </p:nvSpPr>
        <p:spPr>
          <a:xfrm>
            <a:off x="548640" y="5989320"/>
            <a:ext cx="7818120" cy="27432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Mean AUROC over 14 findings on NIH's official test split. Papers from 2021 to 2025.</a:t>
            </a:r>
            <a:endParaRPr sz="11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Finding by finding, against recent papers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16</a:t>
            </a:r>
            <a:endParaRPr sz="1000"/>
          </a:p>
        </p:txBody>
      </p:sp>
      <p:graphicFrame>
        <p:nvGraphicFramePr>
          <p:cNvPr id="6" name="Table 5"/>
          <p:cNvGraphicFramePr>
            <a:graphicFrameLocks noGrp="1"/>
          </p:cNvGraphicFramePr>
          <p:nvPr/>
        </p:nvGraphicFramePr>
        <p:xfrm>
          <a:off x="548640" y="1481328"/>
          <a:ext cx="7452360" cy="4443984"/>
        </p:xfrm>
        <a:graphic>
          <a:graphicData uri="http://schemas.openxmlformats.org/drawingml/2006/table">
            <a:tbl>
              <a:tblPr firstRow="0" bandRow="0">
                <a:tableStyleId>{2D5ABB26-0587-4C30-8999-92F81FD0307C}</a:tableStyleId>
              </a:tblPr>
              <a:tblGrid>
                <a:gridCol w="2377440"/>
                <a:gridCol w="1691640"/>
                <a:gridCol w="1691640"/>
                <a:gridCol w="1691640"/>
              </a:tblGrid>
              <a:tr h="329184">
                <a:tc>
                  <a:txBody>
                    <a:bodyPr wrap="square"/>
                    <a:lstStyle/>
                    <a:p>
                      <a:pPr algn="l">
                        <a:lnSpc>
                          <a:spcPct val="105000"/>
                        </a:lnSpc>
                        <a:spcAft>
                          <a:spcPts val="0"/>
                        </a:spcAft>
                      </a:pPr>
                      <a:r>
                        <a:rPr sz="1100" b="0">
                          <a:solidFill>
                            <a:srgbClr val="8F8F8F"/>
                          </a:solidFill>
                          <a:latin typeface="Calibri"/>
                        </a:rPr>
                        <a:t>finding</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XProtoNet 2021</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SwinCheX 2022</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ours, 3 runs</a:t>
                      </a:r>
                      <a:endParaRPr sz="1100"/>
                    </a:p>
                  </a:txBody>
                  <a:tcPr marL="73152" marR="73152" marT="27432" marB="27432" anchor="ctr">
                    <a:lnL w="0">
                      <a:noFill/>
                    </a:lnL>
                    <a:lnR w="0">
                      <a:noFill/>
                    </a:lnR>
                    <a:lnT w="0">
                      <a:noFill/>
                    </a:lnT>
                    <a:lnB w="12700">
                      <a:solidFill>
                        <a:srgbClr val="5C5C5C"/>
                      </a:solidFill>
                    </a:lnB>
                    <a:noFill/>
                  </a:tcPr>
                </a:tc>
              </a:tr>
              <a:tr h="274320">
                <a:tc>
                  <a:txBody>
                    <a:bodyPr wrap="square"/>
                    <a:lstStyle/>
                    <a:p>
                      <a:pPr algn="l">
                        <a:lnSpc>
                          <a:spcPct val="105000"/>
                        </a:lnSpc>
                        <a:spcAft>
                          <a:spcPts val="0"/>
                        </a:spcAft>
                      </a:pPr>
                      <a:r>
                        <a:rPr sz="1300" b="0">
                          <a:solidFill>
                            <a:srgbClr val="FFFFFF"/>
                          </a:solidFill>
                          <a:latin typeface="Calibri"/>
                        </a:rPr>
                        <a:t>Atelectasis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0.781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Cardiomegaly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0.887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Effusion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0.832</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Infiltration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0.710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0.701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0.701</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Mass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0.822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Nodule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0.804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0.734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0.713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0.717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Pneumothorax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0.878</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Consolidation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0.747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0.748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0.745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Edema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0.852</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Emphysema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0.941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0.914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0.935</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Fibrosis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0.826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0.839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Pleural thickening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0.799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0.790</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Hernia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0.909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0.855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0.903</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1">
                          <a:solidFill>
                            <a:srgbClr val="FFFFFF"/>
                          </a:solidFill>
                          <a:latin typeface="Calibri"/>
                        </a:rPr>
                        <a:t>mean of 14</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0.822</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0.810</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0.817</a:t>
                      </a:r>
                      <a:endParaRPr sz="1300"/>
                    </a:p>
                  </a:txBody>
                  <a:tcPr marL="73152" marR="73152" marT="27432" marB="27432" anchor="ctr">
                    <a:lnL w="0">
                      <a:noFill/>
                    </a:lnL>
                    <a:lnR w="0">
                      <a:noFill/>
                    </a:lnR>
                    <a:lnT w="12700">
                      <a:solidFill>
                        <a:srgbClr val="5C5C5C"/>
                      </a:solidFill>
                    </a:lnT>
                    <a:lnB w="9525">
                      <a:solidFill>
                        <a:srgbClr val="2E2E2E"/>
                      </a:solidFill>
                    </a:lnB>
                    <a:noFill/>
                  </a:tcPr>
                </a:tc>
              </a:tr>
            </a:tbl>
          </a:graphicData>
        </a:graphic>
      </p:graphicFrame>
      <p:sp>
        <p:nvSpPr>
          <p:cNvPr id="7" name="TextBox 6"/>
          <p:cNvSpPr txBox="1"/>
          <p:nvPr/>
        </p:nvSpPr>
        <p:spPr>
          <a:xfrm>
            <a:off x="8458200" y="1600200"/>
            <a:ext cx="3184855" cy="4206240"/>
          </a:xfrm>
          <a:prstGeom prst="rect">
            <a:avLst/>
          </a:prstGeom>
          <a:noFill/>
        </p:spPr>
        <p:txBody>
          <a:bodyPr wrap="square" lIns="0" rIns="0" tIns="0" bIns="0" anchor="t">
            <a:noAutofit/>
          </a:bodyPr>
          <a:lstStyle/>
          <a:p>
            <a:pPr algn="l">
              <a:lnSpc>
                <a:spcPct val="108000"/>
              </a:lnSpc>
              <a:spcAft>
                <a:spcPts val="1400"/>
              </a:spcAft>
            </a:pPr>
            <a:r>
              <a:rPr sz="1500" b="0">
                <a:solidFill>
                  <a:srgbClr val="D2D2D2"/>
                </a:solidFill>
                <a:latin typeface="Calibri"/>
              </a:rPr>
              <a:t>Ours is the best of the three on pneumothorax, edema and fibrosis.</a:t>
            </a:r>
            <a:endParaRPr sz="1500"/>
          </a:p>
          <a:p>
            <a:pPr algn="l">
              <a:lnSpc>
                <a:spcPct val="108000"/>
              </a:lnSpc>
              <a:spcAft>
                <a:spcPts val="1400"/>
              </a:spcAft>
            </a:pPr>
            <a:r>
              <a:rPr sz="1500" b="0">
                <a:solidFill>
                  <a:srgbClr val="D2D2D2"/>
                </a:solidFill>
                <a:latin typeface="Calibri"/>
              </a:rPr>
              <a:t>The widest gaps are nodule (0.775 against 0.804) and pneumonia (0.717 against 0.734).</a:t>
            </a:r>
            <a:endParaRPr sz="1500"/>
          </a:p>
          <a:p>
            <a:pPr algn="l">
              <a:lnSpc>
                <a:spcPct val="108000"/>
              </a:lnSpc>
              <a:spcAft>
                <a:spcPts val="0"/>
              </a:spcAft>
            </a:pPr>
            <a:r>
              <a:rPr sz="1500" b="0">
                <a:solidFill>
                  <a:srgbClr val="D2D2D2"/>
                </a:solidFill>
                <a:latin typeface="Calibri"/>
              </a:rPr>
              <a:t>XProtoNet is the closest match to our setup: DenseNet-121 at 512 px on the same split.</a:t>
            </a:r>
            <a:endParaRPr sz="1500"/>
          </a:p>
        </p:txBody>
      </p:sp>
      <p:sp>
        <p:nvSpPr>
          <p:cNvPr id="8" name="TextBox 7"/>
          <p:cNvSpPr txBox="1"/>
          <p:nvPr/>
        </p:nvSpPr>
        <p:spPr>
          <a:xfrm>
            <a:off x="548640" y="6035040"/>
            <a:ext cx="7406640" cy="27432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AUROC per finding, NIH's official test split. Published values from Kim et al. 2021 (Table 1) and Taslimi et al. 2022.</a:t>
            </a:r>
            <a:endParaRPr sz="11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AUROC flatters the rare findings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17</a:t>
            </a:r>
            <a:endParaRPr sz="1000"/>
          </a:p>
        </p:txBody>
      </p:sp>
      <p:graphicFrame>
        <p:nvGraphicFramePr>
          <p:cNvPr id="6" name="Table 5"/>
          <p:cNvGraphicFramePr>
            <a:graphicFrameLocks noGrp="1"/>
          </p:cNvGraphicFramePr>
          <p:nvPr/>
        </p:nvGraphicFramePr>
        <p:xfrm>
          <a:off x="548640" y="1508760"/>
          <a:ext cx="6126480" cy="4594860"/>
        </p:xfrm>
        <a:graphic>
          <a:graphicData uri="http://schemas.openxmlformats.org/drawingml/2006/table">
            <a:tbl>
              <a:tblPr firstRow="0" bandRow="0">
                <a:tableStyleId>{2D5ABB26-0587-4C30-8999-92F81FD0307C}</a:tableStyleId>
              </a:tblPr>
              <a:tblGrid>
                <a:gridCol w="2240280"/>
                <a:gridCol w="1508760"/>
                <a:gridCol w="1188720"/>
                <a:gridCol w="1188720"/>
              </a:tblGrid>
              <a:tr h="411480">
                <a:tc>
                  <a:txBody>
                    <a:bodyPr wrap="square"/>
                    <a:lstStyle/>
                    <a:p>
                      <a:pPr algn="l">
                        <a:lnSpc>
                          <a:spcPct val="105000"/>
                        </a:lnSpc>
                        <a:spcAft>
                          <a:spcPts val="0"/>
                        </a:spcAft>
                      </a:pPr>
                      <a:r>
                        <a:rPr sz="1200" b="0">
                          <a:solidFill>
                            <a:srgbClr val="8F8F8F"/>
                          </a:solidFill>
                          <a:latin typeface="Calibri"/>
                        </a:rPr>
                        <a:t>finding</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share of test</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AUROC</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AUPRC</a:t>
                      </a:r>
                      <a:endParaRPr sz="1200"/>
                    </a:p>
                  </a:txBody>
                  <a:tcPr marL="73152" marR="73152" marT="27432" marB="27432" anchor="ctr">
                    <a:lnL w="0">
                      <a:noFill/>
                    </a:lnL>
                    <a:lnR w="0">
                      <a:noFill/>
                    </a:lnR>
                    <a:lnT w="0">
                      <a:noFill/>
                    </a:lnT>
                    <a:lnB w="12700">
                      <a:solidFill>
                        <a:srgbClr val="5C5C5C"/>
                      </a:solidFill>
                    </a:lnB>
                    <a:noFill/>
                  </a:tcPr>
                </a:tc>
              </a:tr>
              <a:tr h="278892">
                <a:tc>
                  <a:txBody>
                    <a:bodyPr wrap="square"/>
                    <a:lstStyle/>
                    <a:p>
                      <a:pPr algn="l">
                        <a:lnSpc>
                          <a:spcPct val="105000"/>
                        </a:lnSpc>
                        <a:spcAft>
                          <a:spcPts val="0"/>
                        </a:spcAft>
                      </a:pPr>
                      <a:r>
                        <a:rPr sz="1300" b="0">
                          <a:solidFill>
                            <a:srgbClr val="FFFFFF"/>
                          </a:solidFill>
                          <a:latin typeface="Calibri"/>
                        </a:rPr>
                        <a:t>Infiltration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23.9%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0.699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0.393</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Effusion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18.2%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0.830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0.511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Atelectasis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12.8%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0.341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Pneumothorax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10.4%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0.873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0.424</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Consolidation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0.160</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Mass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6.8%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0.299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Nodule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6.3%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0.777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0.225</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Pleural thickening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0.791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0.150</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Emphysema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0.451</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Cardiomegaly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4.2%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0.329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Edema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3.6%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0.857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0.195</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1">
                          <a:solidFill>
                            <a:srgbClr val="F2994A"/>
                          </a:solidFill>
                          <a:latin typeface="Calibri"/>
                        </a:rPr>
                        <a:t>Pneumonia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2.2%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0.711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1">
                          <a:solidFill>
                            <a:srgbClr val="F2994A"/>
                          </a:solidFill>
                          <a:latin typeface="Calibri"/>
                        </a:rPr>
                        <a:t>0.048</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Fibrosis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0.841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0.113</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0">
                          <a:solidFill>
                            <a:srgbClr val="FFFFFF"/>
                          </a:solidFill>
                          <a:latin typeface="Calibri"/>
                        </a:rPr>
                        <a:t>Hernia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0.389</a:t>
                      </a:r>
                      <a:endParaRPr sz="1300"/>
                    </a:p>
                  </a:txBody>
                  <a:tcPr marL="73152" marR="73152" marT="27432" marB="27432" anchor="ctr">
                    <a:lnL w="0">
                      <a:noFill/>
                    </a:lnL>
                    <a:lnR w="0">
                      <a:noFill/>
                    </a:lnR>
                    <a:lnT w="0">
                      <a:noFill/>
                    </a:lnT>
                    <a:lnB w="9525">
                      <a:solidFill>
                        <a:srgbClr val="2E2E2E"/>
                      </a:solidFill>
                    </a:lnB>
                    <a:noFill/>
                  </a:tcPr>
                </a:tc>
              </a:tr>
              <a:tr h="278892">
                <a:tc>
                  <a:txBody>
                    <a:bodyPr wrap="square"/>
                    <a:lstStyle/>
                    <a:p>
                      <a:pPr algn="l">
                        <a:lnSpc>
                          <a:spcPct val="105000"/>
                        </a:lnSpc>
                        <a:spcAft>
                          <a:spcPts val="0"/>
                        </a:spcAft>
                      </a:pPr>
                      <a:r>
                        <a:rPr sz="1300" b="1">
                          <a:solidFill>
                            <a:srgbClr val="FFFFFF"/>
                          </a:solidFill>
                          <a:latin typeface="Calibri"/>
                        </a:rPr>
                        <a:t>mean of 14</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0.816</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0.288</a:t>
                      </a:r>
                      <a:endParaRPr sz="1300"/>
                    </a:p>
                  </a:txBody>
                  <a:tcPr marL="73152" marR="73152" marT="27432" marB="27432" anchor="ctr">
                    <a:lnL w="0">
                      <a:noFill/>
                    </a:lnL>
                    <a:lnR w="0">
                      <a:noFill/>
                    </a:lnR>
                    <a:lnT w="12700">
                      <a:solidFill>
                        <a:srgbClr val="5C5C5C"/>
                      </a:solidFill>
                    </a:lnT>
                    <a:lnB w="9525">
                      <a:solidFill>
                        <a:srgbClr val="2E2E2E"/>
                      </a:solidFill>
                    </a:lnB>
                    <a:noFill/>
                  </a:tcPr>
                </a:tc>
              </a:tr>
            </a:tbl>
          </a:graphicData>
        </a:graphic>
      </p:graphicFrame>
      <p:sp>
        <p:nvSpPr>
          <p:cNvPr id="7" name="TextBox 6"/>
          <p:cNvSpPr txBox="1"/>
          <p:nvPr/>
        </p:nvSpPr>
        <p:spPr>
          <a:xfrm>
            <a:off x="7269480" y="1600200"/>
            <a:ext cx="4373575" cy="1051560"/>
          </a:xfrm>
          <a:prstGeom prst="rect">
            <a:avLst/>
          </a:prstGeom>
          <a:noFill/>
        </p:spPr>
        <p:txBody>
          <a:bodyPr wrap="square" lIns="0" rIns="0" tIns="0" bIns="0" anchor="b">
            <a:noAutofit/>
          </a:bodyPr>
          <a:lstStyle/>
          <a:p>
            <a:pPr algn="l">
              <a:lnSpc>
                <a:spcPct val="90000"/>
              </a:lnSpc>
              <a:spcAft>
                <a:spcPts val="0"/>
              </a:spcAft>
            </a:pPr>
            <a:r>
              <a:rPr sz="7200" b="0">
                <a:solidFill>
                  <a:srgbClr val="F2994A"/>
                </a:solidFill>
                <a:latin typeface="Calibri Light"/>
              </a:rPr>
              <a:t>0.048</a:t>
            </a:r>
            <a:endParaRPr sz="7200"/>
          </a:p>
        </p:txBody>
      </p:sp>
      <p:sp>
        <p:nvSpPr>
          <p:cNvPr id="8" name="TextBox 7"/>
          <p:cNvSpPr txBox="1"/>
          <p:nvPr/>
        </p:nvSpPr>
        <p:spPr>
          <a:xfrm>
            <a:off x="7269480" y="2743200"/>
            <a:ext cx="4373575" cy="1097280"/>
          </a:xfrm>
          <a:prstGeom prst="rect">
            <a:avLst/>
          </a:prstGeom>
          <a:noFill/>
        </p:spPr>
        <p:txBody>
          <a:bodyPr wrap="square" lIns="0" rIns="0" tIns="0" bIns="0" anchor="t">
            <a:noAutofit/>
          </a:bodyPr>
          <a:lstStyle/>
          <a:p>
            <a:pPr algn="l">
              <a:lnSpc>
                <a:spcPct val="110000"/>
              </a:lnSpc>
              <a:spcAft>
                <a:spcPts val="0"/>
              </a:spcAft>
            </a:pPr>
            <a:r>
              <a:rPr sz="1700" b="0">
                <a:solidFill>
                  <a:srgbClr val="D2D2D2"/>
                </a:solidFill>
                <a:latin typeface="Calibri"/>
              </a:rPr>
              <a:t>AUPRC for pneumonia, against an AUROC of 0.711. At 2.2% prevalence the model is close to useless for it in practice.</a:t>
            </a:r>
            <a:endParaRPr sz="1700"/>
          </a:p>
        </p:txBody>
      </p:sp>
      <p:sp>
        <p:nvSpPr>
          <p:cNvPr id="9" name="TextBox 8"/>
          <p:cNvSpPr txBox="1"/>
          <p:nvPr/>
        </p:nvSpPr>
        <p:spPr>
          <a:xfrm>
            <a:off x="7269480" y="4069080"/>
            <a:ext cx="4373575" cy="1645920"/>
          </a:xfrm>
          <a:prstGeom prst="rect">
            <a:avLst/>
          </a:prstGeom>
          <a:noFill/>
        </p:spPr>
        <p:txBody>
          <a:bodyPr wrap="square" lIns="0" rIns="0" tIns="0" bIns="0" anchor="t">
            <a:noAutofit/>
          </a:bodyPr>
          <a:lstStyle/>
          <a:p>
            <a:pPr algn="l">
              <a:lnSpc>
                <a:spcPct val="110000"/>
              </a:lnSpc>
              <a:spcAft>
                <a:spcPts val="1200"/>
              </a:spcAft>
            </a:pPr>
            <a:r>
              <a:rPr sz="1600" b="0">
                <a:solidFill>
                  <a:srgbClr val="D2D2D2"/>
                </a:solidFill>
                <a:latin typeface="Calibri"/>
              </a:rPr>
              <a:t>A random guess scores AUROC 0.5 on every finding, but its AUPRC equals the prevalence. So 0.048 is only about twice chance.</a:t>
            </a:r>
            <a:endParaRPr sz="1600"/>
          </a:p>
          <a:p>
            <a:pPr algn="l">
              <a:lnSpc>
                <a:spcPct val="110000"/>
              </a:lnSpc>
              <a:spcAft>
                <a:spcPts val="0"/>
              </a:spcAft>
            </a:pPr>
            <a:r>
              <a:rPr sz="1600" b="0">
                <a:solidFill>
                  <a:srgbClr val="FFFFFF"/>
                </a:solidFill>
                <a:latin typeface="Calibri"/>
              </a:rPr>
              <a:t>A table with AUROC alone would hide this.</a:t>
            </a:r>
            <a:endParaRPr sz="16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RESULTS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Precision and recall, with cut-offs chosen on validation</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18</a:t>
            </a:r>
            <a:endParaRPr sz="1000"/>
          </a:p>
        </p:txBody>
      </p:sp>
      <p:graphicFrame>
        <p:nvGraphicFramePr>
          <p:cNvPr id="6" name="Table 5"/>
          <p:cNvGraphicFramePr>
            <a:graphicFrameLocks noGrp="1"/>
          </p:cNvGraphicFramePr>
          <p:nvPr/>
        </p:nvGraphicFramePr>
        <p:xfrm>
          <a:off x="548640" y="1481328"/>
          <a:ext cx="7086600" cy="4443984"/>
        </p:xfrm>
        <a:graphic>
          <a:graphicData uri="http://schemas.openxmlformats.org/drawingml/2006/table">
            <a:tbl>
              <a:tblPr firstRow="0" bandRow="0">
                <a:tableStyleId>{2D5ABB26-0587-4C30-8999-92F81FD0307C}</a:tableStyleId>
              </a:tblPr>
              <a:tblGrid>
                <a:gridCol w="2240280"/>
                <a:gridCol w="914400"/>
                <a:gridCol w="1051560"/>
                <a:gridCol w="914400"/>
                <a:gridCol w="1143000"/>
                <a:gridCol w="822960"/>
              </a:tblGrid>
              <a:tr h="329184">
                <a:tc>
                  <a:txBody>
                    <a:bodyPr wrap="square"/>
                    <a:lstStyle/>
                    <a:p>
                      <a:pPr algn="l">
                        <a:lnSpc>
                          <a:spcPct val="105000"/>
                        </a:lnSpc>
                        <a:spcAft>
                          <a:spcPts val="0"/>
                        </a:spcAft>
                      </a:pPr>
                      <a:r>
                        <a:rPr sz="1100" b="0">
                          <a:solidFill>
                            <a:srgbClr val="8F8F8F"/>
                          </a:solidFill>
                          <a:latin typeface="Calibri"/>
                        </a:rPr>
                        <a:t>finding</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cut-off</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precision</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recall</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specificity</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F1</a:t>
                      </a:r>
                      <a:endParaRPr sz="1100"/>
                    </a:p>
                  </a:txBody>
                  <a:tcPr marL="73152" marR="73152" marT="27432" marB="27432" anchor="ctr">
                    <a:lnL w="0">
                      <a:noFill/>
                    </a:lnL>
                    <a:lnR w="0">
                      <a:noFill/>
                    </a:lnR>
                    <a:lnT w="0">
                      <a:noFill/>
                    </a:lnT>
                    <a:lnB w="12700">
                      <a:solidFill>
                        <a:srgbClr val="5C5C5C"/>
                      </a:solidFill>
                    </a:lnB>
                    <a:noFill/>
                  </a:tcPr>
                </a:tc>
              </a:tr>
              <a:tr h="274320">
                <a:tc>
                  <a:txBody>
                    <a:bodyPr wrap="square"/>
                    <a:lstStyle/>
                    <a:p>
                      <a:pPr algn="l">
                        <a:lnSpc>
                          <a:spcPct val="105000"/>
                        </a:lnSpc>
                        <a:spcAft>
                          <a:spcPts val="0"/>
                        </a:spcAft>
                      </a:pPr>
                      <a:r>
                        <a:rPr sz="1300" b="0">
                          <a:solidFill>
                            <a:srgbClr val="FFFFFF"/>
                          </a:solidFill>
                          <a:latin typeface="Calibri"/>
                        </a:rPr>
                        <a:t>Effusion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0.53</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Emphysema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0.61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0.52</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Pneumothorax</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Infiltration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Hernia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0.71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1.00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Atelectasis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0.40</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Cardiomegaly</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Mass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Nodule</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Edema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0.24</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0.27</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Consolidation</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0.09</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0.16</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0.50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0.80</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0.24</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Pleural thickening</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0.12</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0.18</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0.33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0.23</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Fibrosis</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0.07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0.27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0.97</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0.18</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0">
                          <a:solidFill>
                            <a:srgbClr val="FFFFFF"/>
                          </a:solidFill>
                          <a:latin typeface="Calibri"/>
                        </a:rPr>
                        <a:t>Pneumonia</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0.03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0.05</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0.43</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0.81</a:t>
                      </a:r>
                      <a:endParaRPr sz="13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300" b="0">
                          <a:solidFill>
                            <a:srgbClr val="D2D2D2"/>
                          </a:solidFill>
                          <a:latin typeface="Calibri"/>
                        </a:rPr>
                        <a:t>0.09</a:t>
                      </a:r>
                      <a:endParaRPr sz="1300"/>
                    </a:p>
                  </a:txBody>
                  <a:tcPr marL="73152" marR="73152" marT="27432" marB="27432" anchor="ctr">
                    <a:lnL w="0">
                      <a:noFill/>
                    </a:lnL>
                    <a:lnR w="0">
                      <a:noFill/>
                    </a:lnR>
                    <a:lnT w="0">
                      <a:noFill/>
                    </a:lnT>
                    <a:lnB w="9525">
                      <a:solidFill>
                        <a:srgbClr val="2E2E2E"/>
                      </a:solidFill>
                    </a:lnB>
                    <a:noFill/>
                  </a:tcPr>
                </a:tc>
              </a:tr>
              <a:tr h="274320">
                <a:tc>
                  <a:txBody>
                    <a:bodyPr wrap="square"/>
                    <a:lstStyle/>
                    <a:p>
                      <a:pPr algn="l">
                        <a:lnSpc>
                          <a:spcPct val="105000"/>
                        </a:lnSpc>
                        <a:spcAft>
                          <a:spcPts val="0"/>
                        </a:spcAft>
                      </a:pPr>
                      <a:r>
                        <a:rPr sz="1300" b="1">
                          <a:solidFill>
                            <a:srgbClr val="FFFFFF"/>
                          </a:solidFill>
                          <a:latin typeface="Calibri"/>
                        </a:rPr>
                        <a:t>mean of 14</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0.32</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0.46</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0.89</a:t>
                      </a:r>
                      <a:endParaRPr sz="13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300" b="1">
                          <a:solidFill>
                            <a:srgbClr val="FFFFFF"/>
                          </a:solidFill>
                          <a:latin typeface="Calibri"/>
                        </a:rPr>
                        <a:t>0.35</a:t>
                      </a:r>
                      <a:endParaRPr sz="1300"/>
                    </a:p>
                  </a:txBody>
                  <a:tcPr marL="73152" marR="73152" marT="27432" marB="27432" anchor="ctr">
                    <a:lnL w="0">
                      <a:noFill/>
                    </a:lnL>
                    <a:lnR w="0">
                      <a:noFill/>
                    </a:lnR>
                    <a:lnT w="12700">
                      <a:solidFill>
                        <a:srgbClr val="5C5C5C"/>
                      </a:solidFill>
                    </a:lnT>
                    <a:lnB w="9525">
                      <a:solidFill>
                        <a:srgbClr val="2E2E2E"/>
                      </a:solidFill>
                    </a:lnB>
                    <a:noFill/>
                  </a:tcPr>
                </a:tc>
              </a:tr>
            </a:tbl>
          </a:graphicData>
        </a:graphic>
      </p:graphicFrame>
      <p:sp>
        <p:nvSpPr>
          <p:cNvPr id="7" name="TextBox 6"/>
          <p:cNvSpPr txBox="1"/>
          <p:nvPr/>
        </p:nvSpPr>
        <p:spPr>
          <a:xfrm>
            <a:off x="8092440" y="1554480"/>
            <a:ext cx="3550615" cy="4389120"/>
          </a:xfrm>
          <a:prstGeom prst="rect">
            <a:avLst/>
          </a:prstGeom>
          <a:noFill/>
        </p:spPr>
        <p:txBody>
          <a:bodyPr wrap="square" lIns="0" rIns="0" tIns="0" bIns="0" anchor="t">
            <a:noAutofit/>
          </a:bodyPr>
          <a:lstStyle/>
          <a:p>
            <a:pPr algn="l">
              <a:lnSpc>
                <a:spcPct val="105000"/>
              </a:lnSpc>
              <a:spcAft>
                <a:spcPts val="1200"/>
              </a:spcAft>
            </a:pPr>
            <a:r>
              <a:rPr sz="1400" b="0">
                <a:solidFill>
                  <a:srgbClr val="D2D2D2"/>
                </a:solidFill>
                <a:latin typeface="Calibri"/>
              </a:rPr>
              <a:t>Calibration error fell from 0.117 to 0.011. AUROC is unchanged.</a:t>
            </a:r>
            <a:endParaRPr sz="1400"/>
          </a:p>
          <a:p>
            <a:pPr algn="l">
              <a:lnSpc>
                <a:spcPct val="105000"/>
              </a:lnSpc>
              <a:spcAft>
                <a:spcPts val="1200"/>
              </a:spcAft>
            </a:pPr>
            <a:r>
              <a:rPr sz="1400" b="0">
                <a:solidFill>
                  <a:srgbClr val="D2D2D2"/>
                </a:solidFill>
                <a:latin typeface="Calibri"/>
              </a:rPr>
              <a:t>Flagging every image would give a mean F1 of 0.13. Ours is 0.35.</a:t>
            </a:r>
            <a:endParaRPr sz="1400"/>
          </a:p>
          <a:p>
            <a:pPr algn="l">
              <a:lnSpc>
                <a:spcPct val="105000"/>
              </a:lnSpc>
              <a:spcAft>
                <a:spcPts val="1200"/>
              </a:spcAft>
            </a:pPr>
            <a:r>
              <a:rPr sz="1400" b="0">
                <a:solidFill>
                  <a:srgbClr val="D2D2D2"/>
                </a:solidFill>
                <a:latin typeface="Calibri"/>
              </a:rPr>
              <a:t>Set to catch 90% of cases, recall on test is 0.93 at a specificity of only 0.43: too many false alarms for screening.</a:t>
            </a:r>
            <a:endParaRPr sz="1400"/>
          </a:p>
          <a:p>
            <a:pPr algn="l">
              <a:lnSpc>
                <a:spcPct val="105000"/>
              </a:lnSpc>
              <a:spcAft>
                <a:spcPts val="0"/>
              </a:spcAft>
            </a:pPr>
            <a:r>
              <a:rPr sz="1400" b="0">
                <a:solidFill>
                  <a:srgbClr val="8F8F8F"/>
                </a:solidFill>
                <a:latin typeface="Calibri"/>
              </a:rPr>
              <a:t>Accuracy is 0.87, below the 0.92 of always saying no, so we don't quote it.</a:t>
            </a:r>
            <a:endParaRPr sz="1400"/>
          </a:p>
        </p:txBody>
      </p:sp>
      <p:sp>
        <p:nvSpPr>
          <p:cNvPr id="8" name="TextBox 7"/>
          <p:cNvSpPr txBox="1"/>
          <p:nvPr/>
        </p:nvSpPr>
        <p:spPr>
          <a:xfrm>
            <a:off x="548640" y="6035040"/>
            <a:ext cx="7132320" cy="27432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Cut-offs and calibration fitted on the 8,197 validation images, applied once to the 25,596 test images.</a:t>
            </a:r>
            <a:endParaRPr sz="11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Four ways to explain a prediction, plus a control</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19</a:t>
            </a:r>
            <a:endParaRPr sz="1000"/>
          </a:p>
        </p:txBody>
      </p:sp>
      <p:graphicFrame>
        <p:nvGraphicFramePr>
          <p:cNvPr id="6" name="Table 5"/>
          <p:cNvGraphicFramePr>
            <a:graphicFrameLocks noGrp="1"/>
          </p:cNvGraphicFramePr>
          <p:nvPr/>
        </p:nvGraphicFramePr>
        <p:xfrm>
          <a:off x="548640" y="1645920"/>
          <a:ext cx="11094415" cy="3657600"/>
        </p:xfrm>
        <a:graphic>
          <a:graphicData uri="http://schemas.openxmlformats.org/drawingml/2006/table">
            <a:tbl>
              <a:tblPr firstRow="0" bandRow="0">
                <a:tableStyleId>{2D5ABB26-0587-4C30-8999-92F81FD0307C}</a:tableStyleId>
              </a:tblPr>
              <a:tblGrid>
                <a:gridCol w="2331720"/>
                <a:gridCol w="8762695"/>
              </a:tblGrid>
              <a:tr h="731520">
                <a:tc>
                  <a:txBody>
                    <a:bodyPr wrap="square"/>
                    <a:lstStyle/>
                    <a:p>
                      <a:pPr algn="l">
                        <a:lnSpc>
                          <a:spcPct val="105000"/>
                        </a:lnSpc>
                        <a:spcAft>
                          <a:spcPts val="0"/>
                        </a:spcAft>
                      </a:pPr>
                      <a:r>
                        <a:rPr sz="1900" b="1">
                          <a:solidFill>
                            <a:srgbClr val="FFFFFF"/>
                          </a:solidFill>
                          <a:latin typeface="Calibri"/>
                        </a:rPr>
                        <a:t>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model's own map. Exact for this network, and free to compute.</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Grad-CAM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Weights each of the 1024 feature maps by the average gradient of the score, then keeps the positive part. The usual choice in medical imaging papers.</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Grad-CAM++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Grad-CAM with a finer, per-location gradient weighting, meant for findings that show up in more than one place.</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FFFFFF"/>
                          </a:solidFill>
                          <a:latin typeface="Calibri"/>
                        </a:rPr>
                        <a:t>EigenCAM</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D2D2D2"/>
                          </a:solidFill>
                          <a:latin typeface="Calibri"/>
                        </a:rPr>
                        <a:t>The first principal component of the last layer's activations. Uses no gradients and ignores which finding you ask about.</a:t>
                      </a:r>
                      <a:endParaRPr sz="1600"/>
                    </a:p>
                  </a:txBody>
                  <a:tcPr marL="73152" marR="73152" marT="27432" marB="27432" anchor="ctr">
                    <a:lnL w="0">
                      <a:noFill/>
                    </a:lnL>
                    <a:lnR w="0">
                      <a:noFill/>
                    </a:lnR>
                    <a:lnT w="0">
                      <a:noFill/>
                    </a:lnT>
                    <a:lnB w="9525">
                      <a:solidFill>
                        <a:srgbClr val="2E2E2E"/>
                      </a:solidFill>
                    </a:lnB>
                    <a:noFill/>
                  </a:tcPr>
                </a:tc>
              </a:tr>
              <a:tr h="731520">
                <a:tc>
                  <a:txBody>
                    <a:bodyPr wrap="square"/>
                    <a:lstStyle/>
                    <a:p>
                      <a:pPr algn="l">
                        <a:lnSpc>
                          <a:spcPct val="105000"/>
                        </a:lnSpc>
                        <a:spcAft>
                          <a:spcPts val="0"/>
                        </a:spcAft>
                      </a:pPr>
                      <a:r>
                        <a:rPr sz="1900" b="1">
                          <a:solidFill>
                            <a:srgbClr val="8F8F8F"/>
                          </a:solidFill>
                          <a:latin typeface="Calibri"/>
                        </a:rPr>
                        <a:t>Random map</a:t>
                      </a:r>
                      <a:endParaRPr sz="19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600" b="0">
                          <a:solidFill>
                            <a:srgbClr val="8F8F8F"/>
                          </a:solidFill>
                          <a:latin typeface="Calibri"/>
                        </a:rPr>
                        <a:t>The control. Any score a random map also earns proves nothing.</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669280"/>
            <a:ext cx="11094415" cy="5486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All five give a 16 × 16 map, stretched to the size of the image. Score-CAM, Integrated Gradients and occlusion are written but not scored yet.</a:t>
            </a:r>
            <a:endParaRPr sz="13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Three questions for every explanation</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20</a:t>
            </a:r>
            <a:endParaRPr sz="1000"/>
          </a:p>
        </p:txBody>
      </p:sp>
      <p:sp>
        <p:nvSpPr>
          <p:cNvPr id="6" name="TextBox 5"/>
          <p:cNvSpPr txBox="1"/>
          <p:nvPr/>
        </p:nvSpPr>
        <p:spPr>
          <a:xfrm>
            <a:off x="548640"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1</a:t>
            </a:r>
            <a:endParaRPr sz="5600"/>
          </a:p>
        </p:txBody>
      </p:sp>
      <p:sp>
        <p:nvSpPr>
          <p:cNvPr id="7" name="TextBox 6"/>
          <p:cNvSpPr txBox="1"/>
          <p:nvPr/>
        </p:nvSpPr>
        <p:spPr>
          <a:xfrm>
            <a:off x="548640"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Does it point where the radiologist did?</a:t>
            </a:r>
            <a:endParaRPr sz="2000"/>
          </a:p>
        </p:txBody>
      </p:sp>
      <p:sp>
        <p:nvSpPr>
          <p:cNvPr id="8" name="TextBox 7"/>
          <p:cNvSpPr txBox="1"/>
          <p:nvPr/>
        </p:nvSpPr>
        <p:spPr>
          <a:xfrm>
            <a:off x="548640"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Pointing game: is the hottest point inside the box? Also the overlap (IoU) and T(IoBB), the dataset's own box measure. 984 boxes, all on test images.</a:t>
            </a:r>
            <a:endParaRPr sz="1500"/>
          </a:p>
        </p:txBody>
      </p:sp>
      <p:sp>
        <p:nvSpPr>
          <p:cNvPr id="9" name="TextBox 8"/>
          <p:cNvSpPr txBox="1"/>
          <p:nvPr/>
        </p:nvSpPr>
        <p:spPr>
          <a:xfrm>
            <a:off x="4374794"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2</a:t>
            </a:r>
            <a:endParaRPr sz="5600"/>
          </a:p>
        </p:txBody>
      </p:sp>
      <p:sp>
        <p:nvSpPr>
          <p:cNvPr id="10" name="TextBox 9"/>
          <p:cNvSpPr txBox="1"/>
          <p:nvPr/>
        </p:nvSpPr>
        <p:spPr>
          <a:xfrm>
            <a:off x="4374794"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Is it faithful to the model?</a:t>
            </a:r>
            <a:endParaRPr sz="2000"/>
          </a:p>
        </p:txBody>
      </p:sp>
      <p:sp>
        <p:nvSpPr>
          <p:cNvPr id="11" name="TextBox 10"/>
          <p:cNvSpPr txBox="1"/>
          <p:nvPr/>
        </p:nvSpPr>
        <p:spPr>
          <a:xfrm>
            <a:off x="4374794"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Deletion: blank the pixels the map ranks highest and watch the score fall. Insertion: add them to a blank image and watch it rise. 50 images per method.</a:t>
            </a:r>
            <a:endParaRPr sz="1500"/>
          </a:p>
        </p:txBody>
      </p:sp>
      <p:sp>
        <p:nvSpPr>
          <p:cNvPr id="12" name="TextBox 11"/>
          <p:cNvSpPr txBox="1"/>
          <p:nvPr/>
        </p:nvSpPr>
        <p:spPr>
          <a:xfrm>
            <a:off x="8200948" y="1554480"/>
            <a:ext cx="1097280" cy="868680"/>
          </a:xfrm>
          <a:prstGeom prst="rect">
            <a:avLst/>
          </a:prstGeom>
          <a:noFill/>
        </p:spPr>
        <p:txBody>
          <a:bodyPr wrap="square" lIns="0" rIns="0" tIns="0" bIns="0" anchor="b">
            <a:noAutofit/>
          </a:bodyPr>
          <a:lstStyle/>
          <a:p>
            <a:pPr algn="l">
              <a:lnSpc>
                <a:spcPct val="105000"/>
              </a:lnSpc>
              <a:spcAft>
                <a:spcPts val="0"/>
              </a:spcAft>
            </a:pPr>
            <a:r>
              <a:rPr sz="5600" b="0">
                <a:solidFill>
                  <a:srgbClr val="F2994A"/>
                </a:solidFill>
                <a:latin typeface="Calibri Light"/>
              </a:rPr>
              <a:t>3</a:t>
            </a:r>
            <a:endParaRPr sz="5600"/>
          </a:p>
        </p:txBody>
      </p:sp>
      <p:sp>
        <p:nvSpPr>
          <p:cNvPr id="13" name="TextBox 12"/>
          <p:cNvSpPr txBox="1"/>
          <p:nvPr/>
        </p:nvSpPr>
        <p:spPr>
          <a:xfrm>
            <a:off x="8200948" y="2560320"/>
            <a:ext cx="3350666" cy="822960"/>
          </a:xfrm>
          <a:prstGeom prst="rect">
            <a:avLst/>
          </a:prstGeom>
          <a:noFill/>
        </p:spPr>
        <p:txBody>
          <a:bodyPr wrap="square" lIns="0" rIns="0" tIns="0" bIns="0" anchor="t">
            <a:noAutofit/>
          </a:bodyPr>
          <a:lstStyle/>
          <a:p>
            <a:pPr algn="l">
              <a:lnSpc>
                <a:spcPct val="100000"/>
              </a:lnSpc>
              <a:spcAft>
                <a:spcPts val="0"/>
              </a:spcAft>
            </a:pPr>
            <a:r>
              <a:rPr sz="2000" b="1">
                <a:solidFill>
                  <a:srgbClr val="FFFFFF"/>
                </a:solidFill>
                <a:latin typeface="Calibri"/>
              </a:rPr>
              <a:t>Does it depend on the model at all?</a:t>
            </a:r>
            <a:endParaRPr sz="2000"/>
          </a:p>
        </p:txBody>
      </p:sp>
      <p:sp>
        <p:nvSpPr>
          <p:cNvPr id="14" name="TextBox 13"/>
          <p:cNvSpPr txBox="1"/>
          <p:nvPr/>
        </p:nvSpPr>
        <p:spPr>
          <a:xfrm>
            <a:off x="8200948" y="3383280"/>
            <a:ext cx="3350666" cy="1737360"/>
          </a:xfrm>
          <a:prstGeom prst="rect">
            <a:avLst/>
          </a:prstGeom>
          <a:noFill/>
        </p:spPr>
        <p:txBody>
          <a:bodyPr wrap="square" lIns="0" rIns="0" tIns="0" bIns="0" anchor="t">
            <a:noAutofit/>
          </a:bodyPr>
          <a:lstStyle/>
          <a:p>
            <a:pPr algn="l">
              <a:lnSpc>
                <a:spcPct val="110000"/>
              </a:lnSpc>
              <a:spcAft>
                <a:spcPts val="0"/>
              </a:spcAft>
            </a:pPr>
            <a:r>
              <a:rPr sz="1500" b="0">
                <a:solidFill>
                  <a:srgbClr val="D2D2D2"/>
                </a:solidFill>
                <a:latin typeface="Calibri"/>
              </a:rPr>
              <a:t>Model randomisation: scramble the network one layer at a time, from the top. If the map barely changes, it was describing the image, not the model. 242 steps.</a:t>
            </a:r>
            <a:endParaRPr sz="1500"/>
          </a:p>
        </p:txBody>
      </p:sp>
      <p:sp>
        <p:nvSpPr>
          <p:cNvPr id="15" name="Rectangle 14"/>
          <p:cNvSpPr/>
          <p:nvPr/>
        </p:nvSpPr>
        <p:spPr>
          <a:xfrm>
            <a:off x="548640" y="5120640"/>
            <a:ext cx="11094415" cy="777240"/>
          </a:xfrm>
          <a:prstGeom prst="rect">
            <a:avLst/>
          </a:prstGeom>
          <a:solidFill>
            <a:srgbClr val="1515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120640"/>
            <a:ext cx="10454335" cy="777240"/>
          </a:xfrm>
          <a:prstGeom prst="rect">
            <a:avLst/>
          </a:prstGeom>
          <a:noFill/>
        </p:spPr>
        <p:txBody>
          <a:bodyPr wrap="square" lIns="0" rIns="0" tIns="0" bIns="0" anchor="ctr">
            <a:noAutofit/>
          </a:bodyPr>
          <a:lstStyle/>
          <a:p>
            <a:pPr algn="l">
              <a:lnSpc>
                <a:spcPct val="110000"/>
              </a:lnSpc>
              <a:spcAft>
                <a:spcPts val="0"/>
              </a:spcAft>
            </a:pPr>
            <a:r>
              <a:rPr sz="1500" b="0">
                <a:solidFill>
                  <a:srgbClr val="D2D2D2"/>
                </a:solidFill>
                <a:latin typeface="Calibri"/>
              </a:rPr>
              <a:t>Arun et al. (2021): all eight saliency methods they tested on chest X-rays failed at least one trust test. Saporta et al. (2022): on CheXpert, saliency maps' hit rate was on average 29.4% worse than radiologists'.</a:t>
            </a:r>
            <a:endParaRPr sz="15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EXPLANATIONS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No method wins all three tests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21</a:t>
            </a:r>
            <a:endParaRPr sz="1000"/>
          </a:p>
        </p:txBody>
      </p:sp>
      <p:graphicFrame>
        <p:nvGraphicFramePr>
          <p:cNvPr id="6" name="Table 5"/>
          <p:cNvGraphicFramePr>
            <a:graphicFrameLocks noGrp="1"/>
          </p:cNvGraphicFramePr>
          <p:nvPr/>
        </p:nvGraphicFramePr>
        <p:xfrm>
          <a:off x="548640" y="1600200"/>
          <a:ext cx="11091672" cy="2697480"/>
        </p:xfrm>
        <a:graphic>
          <a:graphicData uri="http://schemas.openxmlformats.org/drawingml/2006/table">
            <a:tbl>
              <a:tblPr firstRow="0" bandRow="0">
                <a:tableStyleId>{2D5ABB26-0587-4C30-8999-92F81FD0307C}</a:tableStyleId>
              </a:tblPr>
              <a:tblGrid>
                <a:gridCol w="2313432"/>
                <a:gridCol w="2011680"/>
                <a:gridCol w="1463040"/>
                <a:gridCol w="2651760"/>
                <a:gridCol w="2651760"/>
              </a:tblGrid>
              <a:tr h="411480">
                <a:tc>
                  <a:txBody>
                    <a:bodyPr wrap="square"/>
                    <a:lstStyle/>
                    <a:p>
                      <a:pPr algn="l">
                        <a:lnSpc>
                          <a:spcPct val="105000"/>
                        </a:lnSpc>
                        <a:spcAft>
                          <a:spcPts val="0"/>
                        </a:spcAft>
                      </a:pPr>
                      <a:r>
                        <a:rPr sz="1200" b="0">
                          <a:solidFill>
                            <a:srgbClr val="8F8F8F"/>
                          </a:solidFill>
                          <a:latin typeface="Calibri"/>
                        </a:rPr>
                        <a:t>method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pointing game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IoU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insertion − deletion ↑</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similarity after scrambling ↓</a:t>
                      </a:r>
                      <a:endParaRPr sz="1200"/>
                    </a:p>
                  </a:txBody>
                  <a:tcPr marL="73152" marR="73152" marT="27432" marB="27432" anchor="ctr">
                    <a:lnL w="0">
                      <a:noFill/>
                    </a:lnL>
                    <a:lnR w="0">
                      <a:noFill/>
                    </a:lnR>
                    <a:lnT w="0">
                      <a:noFill/>
                    </a:lnT>
                    <a:lnB w="12700">
                      <a:solidFill>
                        <a:srgbClr val="5C5C5C"/>
                      </a:solidFill>
                    </a:lnB>
                    <a:noFill/>
                  </a:tcPr>
                </a:tc>
              </a:tr>
              <a:tr h="457200">
                <a:tc>
                  <a:txBody>
                    <a:bodyPr wrap="square"/>
                    <a:lstStyle/>
                    <a:p>
                      <a:pPr algn="l">
                        <a:lnSpc>
                          <a:spcPct val="105000"/>
                        </a:lnSpc>
                        <a:spcAft>
                          <a:spcPts val="0"/>
                        </a:spcAft>
                      </a:pPr>
                      <a:r>
                        <a:rPr sz="1700" b="1">
                          <a:solidFill>
                            <a:srgbClr val="FFFFFF"/>
                          </a:solidFill>
                          <a:latin typeface="Calibri"/>
                        </a:rPr>
                        <a:t>Grad-CAM++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0.544</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0.212</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0.391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0.199</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Grad-CAM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0.496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0.182</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0.431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0.052</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0.493</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0.176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0.430</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1">
                          <a:solidFill>
                            <a:srgbClr val="F2994A"/>
                          </a:solidFill>
                          <a:latin typeface="Calibri"/>
                        </a:rPr>
                        <a:t>0.009</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FFFFFF"/>
                          </a:solidFill>
                          <a:latin typeface="Calibri"/>
                        </a:rPr>
                        <a:t>EigenCAM</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0.479</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0.190</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0.306</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D2D2D2"/>
                          </a:solidFill>
                          <a:latin typeface="Calibri"/>
                        </a:rPr>
                        <a:t>0.152</a:t>
                      </a:r>
                      <a:endParaRPr sz="1700"/>
                    </a:p>
                  </a:txBody>
                  <a:tcPr marL="73152" marR="73152" marT="27432" marB="27432" anchor="ctr">
                    <a:lnL w="0">
                      <a:noFill/>
                    </a:lnL>
                    <a:lnR w="0">
                      <a:noFill/>
                    </a:lnR>
                    <a:lnT w="0">
                      <a:noFill/>
                    </a:lnT>
                    <a:lnB w="9525">
                      <a:solidFill>
                        <a:srgbClr val="2E2E2E"/>
                      </a:solidFill>
                    </a:lnB>
                    <a:noFill/>
                  </a:tcPr>
                </a:tc>
              </a:tr>
              <a:tr h="457200">
                <a:tc>
                  <a:txBody>
                    <a:bodyPr wrap="square"/>
                    <a:lstStyle/>
                    <a:p>
                      <a:pPr algn="l">
                        <a:lnSpc>
                          <a:spcPct val="105000"/>
                        </a:lnSpc>
                        <a:spcAft>
                          <a:spcPts val="0"/>
                        </a:spcAft>
                      </a:pPr>
                      <a:r>
                        <a:rPr sz="1700" b="1">
                          <a:solidFill>
                            <a:srgbClr val="8F8F8F"/>
                          </a:solidFill>
                          <a:latin typeface="Calibri"/>
                        </a:rPr>
                        <a:t>Random map</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0.228</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0.091</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700" b="0">
                          <a:solidFill>
                            <a:srgbClr val="8F8F8F"/>
                          </a:solidFill>
                          <a:latin typeface="Calibri"/>
                        </a:rPr>
                        <a:t>0.033</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endParaRPr sz="17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4434840"/>
            <a:ext cx="11094415" cy="320040"/>
          </a:xfrm>
          <a:prstGeom prst="rect">
            <a:avLst/>
          </a:prstGeom>
          <a:noFill/>
        </p:spPr>
        <p:txBody>
          <a:bodyPr wrap="square" lIns="0" rIns="0" tIns="0" bIns="0" anchor="t">
            <a:noAutofit/>
          </a:bodyPr>
          <a:lstStyle/>
          <a:p>
            <a:pPr algn="l">
              <a:lnSpc>
                <a:spcPct val="105000"/>
              </a:lnSpc>
              <a:spcAft>
                <a:spcPts val="0"/>
              </a:spcAft>
            </a:pPr>
            <a:r>
              <a:rPr sz="1200" b="0">
                <a:solidFill>
                  <a:srgbClr val="8F8F8F"/>
                </a:solidFill>
                <a:latin typeface="Calibri"/>
              </a:rPr>
              <a:t>Pointing and IoU over 984 boxes. Faithfulness over 50 images. Similarity: mean absolute rank correlation with the original map over the last 20 of 242 scrambling steps.</a:t>
            </a:r>
            <a:endParaRPr sz="1200"/>
          </a:p>
        </p:txBody>
      </p:sp>
      <p:sp>
        <p:nvSpPr>
          <p:cNvPr id="8" name="TextBox 7"/>
          <p:cNvSpPr txBox="1"/>
          <p:nvPr/>
        </p:nvSpPr>
        <p:spPr>
          <a:xfrm>
            <a:off x="548640"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Every method at least doubles the random map on pointing, so the test is not trivially easy.</a:t>
            </a:r>
            <a:endParaRPr sz="1500"/>
          </a:p>
        </p:txBody>
      </p:sp>
      <p:sp>
        <p:nvSpPr>
          <p:cNvPr id="9" name="TextBox 8"/>
          <p:cNvSpPr txBox="1"/>
          <p:nvPr/>
        </p:nvSpPr>
        <p:spPr>
          <a:xfrm>
            <a:off x="4374794"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Grad-CAM++ localises best, and its map stays the most similar when the model is scrambled.</a:t>
            </a:r>
            <a:endParaRPr sz="1500"/>
          </a:p>
        </p:txBody>
      </p:sp>
      <p:sp>
        <p:nvSpPr>
          <p:cNvPr id="10" name="TextBox 9"/>
          <p:cNvSpPr txBox="1"/>
          <p:nvPr/>
        </p:nvSpPr>
        <p:spPr>
          <a:xfrm>
            <a:off x="8200948" y="4892040"/>
            <a:ext cx="3350666" cy="109728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CAM and Grad-CAM are the most faithful and depend most on the model, but localise a little worse.</a:t>
            </a:r>
            <a:endParaRPr sz="1500"/>
          </a:p>
        </p:txBody>
      </p:sp>
      <p:sp>
        <p:nvSpPr>
          <p:cNvPr id="11" name="TextBox 10"/>
          <p:cNvSpPr txBox="1"/>
          <p:nvPr/>
        </p:nvSpPr>
        <p:spPr>
          <a:xfrm>
            <a:off x="548640" y="5943600"/>
            <a:ext cx="11094415" cy="365760"/>
          </a:xfrm>
          <a:prstGeom prst="rect">
            <a:avLst/>
          </a:prstGeom>
          <a:noFill/>
        </p:spPr>
        <p:txBody>
          <a:bodyPr wrap="square" lIns="0" rIns="0" tIns="0" bIns="0" anchor="t">
            <a:noAutofit/>
          </a:bodyPr>
          <a:lstStyle/>
          <a:p>
            <a:pPr algn="l">
              <a:lnSpc>
                <a:spcPct val="105000"/>
              </a:lnSpc>
              <a:spcAft>
                <a:spcPts val="0"/>
              </a:spcAft>
            </a:pPr>
            <a:r>
              <a:rPr sz="1500" b="0">
                <a:solidFill>
                  <a:srgbClr val="FFFFFF"/>
                </a:solidFill>
                <a:latin typeface="Calibri"/>
              </a:rPr>
              <a:t>A paper that reports one test for one method is picking its answer. This is the angle we would suggest.</a:t>
            </a:r>
            <a:endParaRPr sz="15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The finding matters more than the method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22</a:t>
            </a:r>
            <a:endParaRPr sz="1000"/>
          </a:p>
        </p:txBody>
      </p:sp>
      <p:sp>
        <p:nvSpPr>
          <p:cNvPr id="6" name="TextBox 5"/>
          <p:cNvSpPr txBox="1"/>
          <p:nvPr/>
        </p:nvSpPr>
        <p:spPr>
          <a:xfrm>
            <a:off x="548640" y="1572768"/>
            <a:ext cx="7315200"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Pointing game by finding: share of cases whose hottest point is inside the box</a:t>
            </a:r>
            <a:endParaRPr sz="1300"/>
          </a:p>
        </p:txBody>
      </p:sp>
      <p:graphicFrame>
        <p:nvGraphicFramePr>
          <p:cNvPr id="7" name="Table 6"/>
          <p:cNvGraphicFramePr>
            <a:graphicFrameLocks noGrp="1"/>
          </p:cNvGraphicFramePr>
          <p:nvPr/>
        </p:nvGraphicFramePr>
        <p:xfrm>
          <a:off x="548640" y="1920240"/>
          <a:ext cx="7406640" cy="3776472"/>
        </p:xfrm>
        <a:graphic>
          <a:graphicData uri="http://schemas.openxmlformats.org/drawingml/2006/table">
            <a:tbl>
              <a:tblPr firstRow="0" bandRow="0">
                <a:tableStyleId>{2D5ABB26-0587-4C30-8999-92F81FD0307C}</a:tableStyleId>
              </a:tblPr>
              <a:tblGrid>
                <a:gridCol w="2240280"/>
                <a:gridCol w="1051560"/>
                <a:gridCol w="1143000"/>
                <a:gridCol w="1508760"/>
                <a:gridCol w="1463040"/>
              </a:tblGrid>
              <a:tr h="411480">
                <a:tc>
                  <a:txBody>
                    <a:bodyPr wrap="square"/>
                    <a:lstStyle/>
                    <a:p>
                      <a:pPr algn="l">
                        <a:lnSpc>
                          <a:spcPct val="105000"/>
                        </a:lnSpc>
                        <a:spcAft>
                          <a:spcPts val="0"/>
                        </a:spcAft>
                      </a:pPr>
                      <a:r>
                        <a:rPr sz="1200" b="0">
                          <a:solidFill>
                            <a:srgbClr val="8F8F8F"/>
                          </a:solidFill>
                          <a:latin typeface="Calibri"/>
                        </a:rPr>
                        <a:t>finding</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boxes</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CAM</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Grad-CAM++</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200" b="0">
                          <a:solidFill>
                            <a:srgbClr val="8F8F8F"/>
                          </a:solidFill>
                          <a:latin typeface="Calibri"/>
                        </a:rPr>
                        <a:t>random map</a:t>
                      </a:r>
                      <a:endParaRPr sz="1200"/>
                    </a:p>
                  </a:txBody>
                  <a:tcPr marL="73152" marR="73152" marT="27432" marB="27432" anchor="ctr">
                    <a:lnL w="0">
                      <a:noFill/>
                    </a:lnL>
                    <a:lnR w="0">
                      <a:noFill/>
                    </a:lnR>
                    <a:lnT w="0">
                      <a:noFill/>
                    </a:lnT>
                    <a:lnB w="12700">
                      <a:solidFill>
                        <a:srgbClr val="5C5C5C"/>
                      </a:solidFill>
                    </a:lnB>
                    <a:noFill/>
                  </a:tcPr>
                </a:tc>
              </a:tr>
              <a:tr h="420624">
                <a:tc>
                  <a:txBody>
                    <a:bodyPr wrap="square"/>
                    <a:lstStyle/>
                    <a:p>
                      <a:pPr algn="l">
                        <a:lnSpc>
                          <a:spcPct val="105000"/>
                        </a:lnSpc>
                        <a:spcAft>
                          <a:spcPts val="0"/>
                        </a:spcAft>
                      </a:pPr>
                      <a:r>
                        <a:rPr sz="1600" b="0">
                          <a:solidFill>
                            <a:srgbClr val="FFFFFF"/>
                          </a:solidFill>
                          <a:latin typeface="Calibri"/>
                        </a:rPr>
                        <a:t>Cardiomegaly</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146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0.81</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0.35</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Pneumonia</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120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0.72</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0.28</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Infiltration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123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0.66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0.25</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Effusion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153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0.56</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0.23</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Mass</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85</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0.54</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0.22</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Atelectasis</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180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0.39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0.43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0.21</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0">
                          <a:solidFill>
                            <a:srgbClr val="FFFFFF"/>
                          </a:solidFill>
                          <a:latin typeface="Calibri"/>
                        </a:rPr>
                        <a:t>Nodule</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79</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0.20</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D2D2D2"/>
                          </a:solidFill>
                          <a:latin typeface="Calibri"/>
                        </a:rPr>
                        <a:t>0.23</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0">
                          <a:solidFill>
                            <a:srgbClr val="8F8F8F"/>
                          </a:solidFill>
                          <a:latin typeface="Calibri"/>
                        </a:rPr>
                        <a:t>0.11</a:t>
                      </a:r>
                      <a:endParaRPr sz="1600"/>
                    </a:p>
                  </a:txBody>
                  <a:tcPr marL="73152" marR="73152" marT="27432" marB="27432" anchor="ctr">
                    <a:lnL w="0">
                      <a:noFill/>
                    </a:lnL>
                    <a:lnR w="0">
                      <a:noFill/>
                    </a:lnR>
                    <a:lnT w="0">
                      <a:noFill/>
                    </a:lnT>
                    <a:lnB w="9525">
                      <a:solidFill>
                        <a:srgbClr val="2E2E2E"/>
                      </a:solidFill>
                    </a:lnB>
                    <a:noFill/>
                  </a:tcPr>
                </a:tc>
              </a:tr>
              <a:tr h="420624">
                <a:tc>
                  <a:txBody>
                    <a:bodyPr wrap="square"/>
                    <a:lstStyle/>
                    <a:p>
                      <a:pPr algn="l">
                        <a:lnSpc>
                          <a:spcPct val="105000"/>
                        </a:lnSpc>
                        <a:spcAft>
                          <a:spcPts val="0"/>
                        </a:spcAft>
                      </a:pPr>
                      <a:r>
                        <a:rPr sz="1600" b="1">
                          <a:solidFill>
                            <a:srgbClr val="F2994A"/>
                          </a:solidFill>
                          <a:latin typeface="Calibri"/>
                        </a:rPr>
                        <a:t>Pneumothorax</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98</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0.27</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0.22</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8F8F8F"/>
                          </a:solidFill>
                          <a:latin typeface="Calibri"/>
                        </a:rPr>
                        <a:t>0.07</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8" name="TextBox 7"/>
          <p:cNvSpPr txBox="1"/>
          <p:nvPr/>
        </p:nvSpPr>
        <p:spPr>
          <a:xfrm>
            <a:off x="8275320" y="1920240"/>
            <a:ext cx="3367735" cy="3931920"/>
          </a:xfrm>
          <a:prstGeom prst="rect">
            <a:avLst/>
          </a:prstGeom>
          <a:noFill/>
        </p:spPr>
        <p:txBody>
          <a:bodyPr wrap="square" lIns="0" rIns="0" tIns="0" bIns="0" anchor="t">
            <a:noAutofit/>
          </a:bodyPr>
          <a:lstStyle/>
          <a:p>
            <a:pPr algn="l">
              <a:lnSpc>
                <a:spcPct val="110000"/>
              </a:lnSpc>
              <a:spcAft>
                <a:spcPts val="1600"/>
              </a:spcAft>
            </a:pPr>
            <a:r>
              <a:rPr sz="1600" b="1">
                <a:solidFill>
                  <a:srgbClr val="FFFFFF"/>
                </a:solidFill>
                <a:latin typeface="Calibri"/>
              </a:rPr>
              <a:t>Cardiomegaly</a:t>
            </a:r>
            <a:r>
              <a:rPr sz="1600" b="0">
                <a:solidFill>
                  <a:srgbClr val="D2D2D2"/>
                </a:solidFill>
                <a:latin typeface="Calibri"/>
              </a:rPr>
              <a:t> is large and always in the same place, so every method finds it.</a:t>
            </a:r>
            <a:endParaRPr sz="1600"/>
          </a:p>
          <a:p>
            <a:pPr algn="l">
              <a:lnSpc>
                <a:spcPct val="110000"/>
              </a:lnSpc>
              <a:spcAft>
                <a:spcPts val="1600"/>
              </a:spcAft>
            </a:pPr>
            <a:r>
              <a:rPr sz="1600" b="1">
                <a:solidFill>
                  <a:srgbClr val="FFFFFF"/>
                </a:solidFill>
                <a:latin typeface="Calibri"/>
              </a:rPr>
              <a:t>Pneumothorax</a:t>
            </a:r>
            <a:r>
              <a:rPr sz="1600" b="0">
                <a:solidFill>
                  <a:srgbClr val="D2D2D2"/>
                </a:solidFill>
                <a:latin typeface="Calibri"/>
              </a:rPr>
              <a:t> is the weakest finding the measure can judge. Even the best method's hottest point misses the box in about four cases out of five.</a:t>
            </a:r>
            <a:endParaRPr sz="1600"/>
          </a:p>
          <a:p>
            <a:pPr algn="l">
              <a:lnSpc>
                <a:spcPct val="110000"/>
              </a:lnSpc>
              <a:spcAft>
                <a:spcPts val="0"/>
              </a:spcAft>
            </a:pPr>
            <a:r>
              <a:rPr sz="1600" b="1">
                <a:solidFill>
                  <a:srgbClr val="FFFFFF"/>
                </a:solidFill>
                <a:latin typeface="Calibri"/>
              </a:rPr>
              <a:t>Nodules</a:t>
            </a:r>
            <a:r>
              <a:rPr sz="1600" b="0">
                <a:solidFill>
                  <a:srgbClr val="D2D2D2"/>
                </a:solidFill>
                <a:latin typeface="Calibri"/>
              </a:rPr>
              <a:t> also score low, for a different reason: the measure cannot see them. Next slide.</a:t>
            </a:r>
            <a:endParaRPr sz="16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A nodule is smaller than one cell of the map</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23</a:t>
            </a:r>
            <a:endParaRPr sz="1000"/>
          </a:p>
        </p:txBody>
      </p:sp>
      <p:sp>
        <p:nvSpPr>
          <p:cNvPr id="6" name="TextBox 5"/>
          <p:cNvSpPr txBox="1"/>
          <p:nvPr/>
        </p:nvSpPr>
        <p:spPr>
          <a:xfrm>
            <a:off x="548640"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70 × 68 px</a:t>
            </a:r>
            <a:endParaRPr sz="4600"/>
          </a:p>
        </p:txBody>
      </p:sp>
      <p:sp>
        <p:nvSpPr>
          <p:cNvPr id="7" name="TextBox 6"/>
          <p:cNvSpPr txBox="1"/>
          <p:nvPr/>
        </p:nvSpPr>
        <p:spPr>
          <a:xfrm>
            <a:off x="548640"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median nodule box in the 1024 px image. One map cell is 64 × 64.</a:t>
            </a:r>
            <a:endParaRPr sz="1500"/>
          </a:p>
        </p:txBody>
      </p:sp>
      <p:sp>
        <p:nvSpPr>
          <p:cNvPr id="8" name="TextBox 7"/>
          <p:cNvSpPr txBox="1"/>
          <p:nvPr/>
        </p:nvSpPr>
        <p:spPr>
          <a:xfrm>
            <a:off x="4374794"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12×</a:t>
            </a:r>
            <a:endParaRPr sz="4600"/>
          </a:p>
        </p:txBody>
      </p:sp>
      <p:sp>
        <p:nvSpPr>
          <p:cNvPr id="9" name="TextBox 8"/>
          <p:cNvSpPr txBox="1"/>
          <p:nvPr/>
        </p:nvSpPr>
        <p:spPr>
          <a:xfrm>
            <a:off x="4374794"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how much larger than the nodule a box drawn from any map ends up</a:t>
            </a:r>
            <a:endParaRPr sz="1500"/>
          </a:p>
        </p:txBody>
      </p:sp>
      <p:sp>
        <p:nvSpPr>
          <p:cNvPr id="10" name="TextBox 9"/>
          <p:cNvSpPr txBox="1"/>
          <p:nvPr/>
        </p:nvSpPr>
        <p:spPr>
          <a:xfrm>
            <a:off x="8200948" y="1508760"/>
            <a:ext cx="3442106" cy="777240"/>
          </a:xfrm>
          <a:prstGeom prst="rect">
            <a:avLst/>
          </a:prstGeom>
          <a:noFill/>
        </p:spPr>
        <p:txBody>
          <a:bodyPr wrap="square" lIns="0" rIns="0" tIns="0" bIns="0" anchor="b">
            <a:noAutofit/>
          </a:bodyPr>
          <a:lstStyle/>
          <a:p>
            <a:pPr algn="l">
              <a:lnSpc>
                <a:spcPct val="90000"/>
              </a:lnSpc>
              <a:spcAft>
                <a:spcPts val="0"/>
              </a:spcAft>
            </a:pPr>
            <a:r>
              <a:rPr sz="4600" b="0">
                <a:solidFill>
                  <a:srgbClr val="FFFFFF"/>
                </a:solidFill>
                <a:latin typeface="Calibri Light"/>
              </a:rPr>
              <a:t>0 of 79</a:t>
            </a:r>
            <a:endParaRPr sz="4600"/>
          </a:p>
        </p:txBody>
      </p:sp>
      <p:sp>
        <p:nvSpPr>
          <p:cNvPr id="11" name="TextBox 10"/>
          <p:cNvSpPr txBox="1"/>
          <p:nvPr/>
        </p:nvSpPr>
        <p:spPr>
          <a:xfrm>
            <a:off x="8200948" y="2377440"/>
            <a:ext cx="3442106" cy="822960"/>
          </a:xfrm>
          <a:prstGeom prst="rect">
            <a:avLst/>
          </a:prstGeom>
          <a:noFill/>
        </p:spPr>
        <p:txBody>
          <a:bodyPr wrap="square" lIns="0" rIns="0" tIns="0" bIns="0" anchor="t">
            <a:noAutofit/>
          </a:bodyPr>
          <a:lstStyle/>
          <a:p>
            <a:pPr algn="l">
              <a:lnSpc>
                <a:spcPct val="105000"/>
              </a:lnSpc>
              <a:spcAft>
                <a:spcPts val="0"/>
              </a:spcAft>
            </a:pPr>
            <a:r>
              <a:rPr sz="1500" b="0">
                <a:solidFill>
                  <a:srgbClr val="D2D2D2"/>
                </a:solidFill>
                <a:latin typeface="Calibri"/>
              </a:rPr>
              <a:t>nodule cases where any placement of that box could reach T(IoBB) 0.5, for any method</a:t>
            </a:r>
            <a:endParaRPr sz="1500"/>
          </a:p>
        </p:txBody>
      </p:sp>
      <p:sp>
        <p:nvSpPr>
          <p:cNvPr id="12" name="TextBox 11"/>
          <p:cNvSpPr txBox="1"/>
          <p:nvPr/>
        </p:nvSpPr>
        <p:spPr>
          <a:xfrm>
            <a:off x="548640" y="3840480"/>
            <a:ext cx="5212080" cy="1463040"/>
          </a:xfrm>
          <a:prstGeom prst="rect">
            <a:avLst/>
          </a:prstGeom>
          <a:noFill/>
        </p:spPr>
        <p:txBody>
          <a:bodyPr wrap="square" lIns="0" rIns="0" tIns="0" bIns="0" anchor="t">
            <a:noAutofit/>
          </a:bodyPr>
          <a:lstStyle/>
          <a:p>
            <a:pPr algn="l">
              <a:lnSpc>
                <a:spcPct val="110000"/>
              </a:lnSpc>
              <a:spcAft>
                <a:spcPts val="0"/>
              </a:spcAft>
            </a:pPr>
            <a:r>
              <a:rPr sz="2000" b="0">
                <a:solidFill>
                  <a:srgbClr val="FFFFFF"/>
                </a:solidFill>
                <a:latin typeface="Calibri"/>
              </a:rPr>
              <a:t>So we asked a question the grid can answer: does the box drawn from the map contain the nodule's centre?</a:t>
            </a:r>
            <a:endParaRPr sz="2000"/>
          </a:p>
        </p:txBody>
      </p:sp>
      <p:graphicFrame>
        <p:nvGraphicFramePr>
          <p:cNvPr id="13" name="Table 12"/>
          <p:cNvGraphicFramePr>
            <a:graphicFrameLocks noGrp="1"/>
          </p:cNvGraphicFramePr>
          <p:nvPr/>
        </p:nvGraphicFramePr>
        <p:xfrm>
          <a:off x="6400800" y="3703320"/>
          <a:ext cx="4114800" cy="1828800"/>
        </p:xfrm>
        <a:graphic>
          <a:graphicData uri="http://schemas.openxmlformats.org/drawingml/2006/table">
            <a:tbl>
              <a:tblPr firstRow="0" bandRow="0">
                <a:tableStyleId>{2D5ABB26-0587-4C30-8999-92F81FD0307C}</a:tableStyleId>
              </a:tblPr>
              <a:tblGrid>
                <a:gridCol w="2926080"/>
                <a:gridCol w="1188720"/>
              </a:tblGrid>
              <a:tr h="365760">
                <a:tc>
                  <a:txBody>
                    <a:bodyPr wrap="square"/>
                    <a:lstStyle/>
                    <a:p>
                      <a:pPr algn="l">
                        <a:lnSpc>
                          <a:spcPct val="105000"/>
                        </a:lnSpc>
                        <a:spcAft>
                          <a:spcPts val="0"/>
                        </a:spcAft>
                      </a:pPr>
                      <a:r>
                        <a:rPr sz="1600" b="0">
                          <a:solidFill>
                            <a:srgbClr val="FFFFFF"/>
                          </a:solidFill>
                          <a:latin typeface="Calibri"/>
                        </a:rPr>
                        <a:t>Grad-CAM++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61%</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59%</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Grad-CAM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57%</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FFFFFF"/>
                          </a:solidFill>
                          <a:latin typeface="Calibri"/>
                        </a:rPr>
                        <a:t>EigenCAM</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F2994A"/>
                          </a:solidFill>
                          <a:latin typeface="Calibri"/>
                        </a:rPr>
                        <a:t>37%</a:t>
                      </a:r>
                      <a:endParaRPr sz="1600"/>
                    </a:p>
                  </a:txBody>
                  <a:tcPr marL="73152" marR="73152" marT="27432" marB="27432" anchor="ctr">
                    <a:lnL w="0">
                      <a:noFill/>
                    </a:lnL>
                    <a:lnR w="0">
                      <a:noFill/>
                    </a:lnR>
                    <a:lnT w="0">
                      <a:noFill/>
                    </a:lnT>
                    <a:lnB w="9525">
                      <a:solidFill>
                        <a:srgbClr val="2E2E2E"/>
                      </a:solidFill>
                    </a:lnB>
                    <a:noFill/>
                  </a:tcPr>
                </a:tc>
              </a:tr>
              <a:tr h="365760">
                <a:tc>
                  <a:txBody>
                    <a:bodyPr wrap="square"/>
                    <a:lstStyle/>
                    <a:p>
                      <a:pPr algn="l">
                        <a:lnSpc>
                          <a:spcPct val="105000"/>
                        </a:lnSpc>
                        <a:spcAft>
                          <a:spcPts val="0"/>
                        </a:spcAft>
                      </a:pPr>
                      <a:r>
                        <a:rPr sz="1600" b="0">
                          <a:solidFill>
                            <a:srgbClr val="8F8F8F"/>
                          </a:solidFill>
                          <a:latin typeface="Calibri"/>
                        </a:rPr>
                        <a:t>Random map</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600" b="1">
                          <a:solidFill>
                            <a:srgbClr val="8F8F8F"/>
                          </a:solidFill>
                          <a:latin typeface="Calibri"/>
                        </a:rPr>
                        <a:t>13%</a:t>
                      </a:r>
                      <a:endParaRPr sz="1600"/>
                    </a:p>
                  </a:txBody>
                  <a:tcPr marL="73152" marR="73152" marT="27432" marB="27432" anchor="ctr">
                    <a:lnL w="0">
                      <a:noFill/>
                    </a:lnL>
                    <a:lnR w="0">
                      <a:noFill/>
                    </a:lnR>
                    <a:lnT w="0">
                      <a:noFill/>
                    </a:lnT>
                    <a:lnB w="9525">
                      <a:solidFill>
                        <a:srgbClr val="2E2E2E"/>
                      </a:solidFill>
                    </a:lnB>
                    <a:noFill/>
                  </a:tcPr>
                </a:tc>
              </a:tr>
            </a:tbl>
          </a:graphicData>
        </a:graphic>
      </p:graphicFrame>
      <p:sp>
        <p:nvSpPr>
          <p:cNvPr id="14" name="TextBox 13"/>
          <p:cNvSpPr txBox="1"/>
          <p:nvPr/>
        </p:nvSpPr>
        <p:spPr>
          <a:xfrm>
            <a:off x="548640" y="5349240"/>
            <a:ext cx="5394960" cy="914400"/>
          </a:xfrm>
          <a:prstGeom prst="rect">
            <a:avLst/>
          </a:prstGeom>
          <a:noFill/>
        </p:spPr>
        <p:txBody>
          <a:bodyPr wrap="square" lIns="0" rIns="0" tIns="0" bIns="0" anchor="t">
            <a:noAutofit/>
          </a:bodyPr>
          <a:lstStyle/>
          <a:p>
            <a:pPr algn="l">
              <a:lnSpc>
                <a:spcPct val="110000"/>
              </a:lnSpc>
              <a:spcAft>
                <a:spcPts val="0"/>
              </a:spcAft>
            </a:pPr>
            <a:r>
              <a:rPr sz="1300" b="0">
                <a:solidFill>
                  <a:srgbClr val="8F8F8F"/>
                </a:solidFill>
                <a:latin typeface="Calibri"/>
              </a:rPr>
              <a:t>The maps find nodules far more often than chance; the standard box scores cannot show it at this resolution. The containment check is ours and has not been validated elsewhere.</a:t>
            </a:r>
            <a:endParaRPr sz="13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LOCALISATION</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Localisation against recent papers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24</a:t>
            </a:r>
            <a:endParaRPr sz="1000"/>
          </a:p>
        </p:txBody>
      </p:sp>
      <p:graphicFrame>
        <p:nvGraphicFramePr>
          <p:cNvPr id="6" name="Table 5"/>
          <p:cNvGraphicFramePr>
            <a:graphicFrameLocks noGrp="1"/>
          </p:cNvGraphicFramePr>
          <p:nvPr/>
        </p:nvGraphicFramePr>
        <p:xfrm>
          <a:off x="548640" y="1554480"/>
          <a:ext cx="9784080" cy="3182112"/>
        </p:xfrm>
        <a:graphic>
          <a:graphicData uri="http://schemas.openxmlformats.org/drawingml/2006/table">
            <a:tbl>
              <a:tblPr firstRow="0" bandRow="0">
                <a:tableStyleId>{2D5ABB26-0587-4C30-8999-92F81FD0307C}</a:tableStyleId>
              </a:tblPr>
              <a:tblGrid>
                <a:gridCol w="3840480"/>
                <a:gridCol w="1188720"/>
                <a:gridCol w="1188720"/>
                <a:gridCol w="1188720"/>
                <a:gridCol w="1188720"/>
                <a:gridCol w="1188720"/>
              </a:tblGrid>
              <a:tr h="365760">
                <a:tc>
                  <a:txBody>
                    <a:bodyPr wrap="square"/>
                    <a:lstStyle/>
                    <a:p>
                      <a:pPr algn="l">
                        <a:lnSpc>
                          <a:spcPct val="105000"/>
                        </a:lnSpc>
                        <a:spcAft>
                          <a:spcPts val="0"/>
                        </a:spcAft>
                      </a:pP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IoU above 0.1</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IoU above 0.2</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IoU above 0.3</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IoU above 0.4</a:t>
                      </a:r>
                      <a:endParaRPr sz="1100"/>
                    </a:p>
                  </a:txBody>
                  <a:tcPr marL="73152" marR="73152" marT="27432" marB="27432" anchor="ctr">
                    <a:lnL w="0">
                      <a:noFill/>
                    </a:lnL>
                    <a:lnR w="0">
                      <a:noFill/>
                    </a:lnR>
                    <a:lnT w="0">
                      <a:noFill/>
                    </a:lnT>
                    <a:lnB w="12700">
                      <a:solidFill>
                        <a:srgbClr val="5C5C5C"/>
                      </a:solidFill>
                    </a:lnB>
                    <a:noFill/>
                  </a:tcPr>
                </a:tc>
                <a:tc>
                  <a:txBody>
                    <a:bodyPr wrap="square"/>
                    <a:lstStyle/>
                    <a:p>
                      <a:pPr algn="r">
                        <a:lnSpc>
                          <a:spcPct val="105000"/>
                        </a:lnSpc>
                        <a:spcAft>
                          <a:spcPts val="0"/>
                        </a:spcAft>
                      </a:pPr>
                      <a:r>
                        <a:rPr sz="1100" b="0">
                          <a:solidFill>
                            <a:srgbClr val="8F8F8F"/>
                          </a:solidFill>
                          <a:latin typeface="Calibri"/>
                        </a:rPr>
                        <a:t>IoU above 0.5</a:t>
                      </a:r>
                      <a:endParaRPr sz="1100"/>
                    </a:p>
                  </a:txBody>
                  <a:tcPr marL="73152" marR="73152" marT="27432" marB="27432" anchor="ctr">
                    <a:lnL w="0">
                      <a:noFill/>
                    </a:lnL>
                    <a:lnR w="0">
                      <a:noFill/>
                    </a:lnR>
                    <a:lnT w="0">
                      <a:noFill/>
                    </a:lnT>
                    <a:lnB w="12700">
                      <a:solidFill>
                        <a:srgbClr val="5C5C5C"/>
                      </a:solidFill>
                    </a:lnB>
                    <a:noFill/>
                  </a:tcPr>
                </a:tc>
              </a:tr>
              <a:tr h="402336">
                <a:tc>
                  <a:txBody>
                    <a:bodyPr wrap="square"/>
                    <a:lstStyle/>
                    <a:p>
                      <a:pPr algn="l">
                        <a:lnSpc>
                          <a:spcPct val="105000"/>
                        </a:lnSpc>
                        <a:spcAft>
                          <a:spcPts val="0"/>
                        </a:spcAft>
                      </a:pPr>
                      <a:r>
                        <a:rPr sz="1500" b="0">
                          <a:solidFill>
                            <a:srgbClr val="FFFFFF"/>
                          </a:solidFill>
                          <a:latin typeface="Calibri"/>
                        </a:rPr>
                        <a:t>Li et al. 2022, CNN-ViT</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0.64</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0.53</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0.40</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0.31</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0.24</a:t>
                      </a:r>
                      <a:endParaRPr sz="1500"/>
                    </a:p>
                  </a:txBody>
                  <a:tcPr marL="73152" marR="73152" marT="27432" marB="27432" anchor="ctr">
                    <a:lnL w="0">
                      <a:noFill/>
                    </a:lnL>
                    <a:lnR w="0">
                      <a:noFill/>
                    </a:lnR>
                    <a:lnT w="0">
                      <a:noFill/>
                    </a:lnT>
                    <a:lnB w="9525">
                      <a:solidFill>
                        <a:srgbClr val="2E2E2E"/>
                      </a:solidFill>
                    </a:lnB>
                    <a:noFill/>
                  </a:tcPr>
                </a:tc>
              </a:tr>
              <a:tr h="402336">
                <a:tc>
                  <a:txBody>
                    <a:bodyPr wrap="square"/>
                    <a:lstStyle/>
                    <a:p>
                      <a:pPr algn="l">
                        <a:lnSpc>
                          <a:spcPct val="105000"/>
                        </a:lnSpc>
                        <a:spcAft>
                          <a:spcPts val="0"/>
                        </a:spcAft>
                      </a:pPr>
                      <a:r>
                        <a:rPr sz="1500" b="0">
                          <a:solidFill>
                            <a:srgbClr val="FFFFFF"/>
                          </a:solidFill>
                          <a:latin typeface="Calibri"/>
                        </a:rPr>
                        <a:t>Zhu et al. 2022, PCAN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0.78</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0.57</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0.36</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0.21</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0.10</a:t>
                      </a:r>
                      <a:endParaRPr sz="1500"/>
                    </a:p>
                  </a:txBody>
                  <a:tcPr marL="73152" marR="73152" marT="27432" marB="27432" anchor="ctr">
                    <a:lnL w="0">
                      <a:noFill/>
                    </a:lnL>
                    <a:lnR w="0">
                      <a:noFill/>
                    </a:lnR>
                    <a:lnT w="0">
                      <a:noFill/>
                    </a:lnT>
                    <a:lnB w="9525">
                      <a:solidFill>
                        <a:srgbClr val="2E2E2E"/>
                      </a:solidFill>
                    </a:lnB>
                    <a:noFill/>
                  </a:tcPr>
                </a:tc>
              </a:tr>
              <a:tr h="402336">
                <a:tc>
                  <a:txBody>
                    <a:bodyPr wrap="square"/>
                    <a:lstStyle/>
                    <a:p>
                      <a:pPr algn="l">
                        <a:lnSpc>
                          <a:spcPct val="105000"/>
                        </a:lnSpc>
                        <a:spcAft>
                          <a:spcPts val="0"/>
                        </a:spcAft>
                      </a:pPr>
                      <a:r>
                        <a:rPr sz="1500" b="0">
                          <a:solidFill>
                            <a:srgbClr val="FFFFFF"/>
                          </a:solidFill>
                          <a:latin typeface="Calibri"/>
                        </a:rPr>
                        <a:t>Hossain et al. 2024, ThoraX-PriorNet</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0.80</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0.63</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0.49</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0.33</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0.22</a:t>
                      </a:r>
                      <a:endParaRPr sz="1500"/>
                    </a:p>
                  </a:txBody>
                  <a:tcPr marL="73152" marR="73152" marT="27432" marB="27432" anchor="ctr">
                    <a:lnL w="0">
                      <a:noFill/>
                    </a:lnL>
                    <a:lnR w="0">
                      <a:noFill/>
                    </a:lnR>
                    <a:lnT w="0">
                      <a:noFill/>
                    </a:lnT>
                    <a:lnB w="9525">
                      <a:solidFill>
                        <a:srgbClr val="2E2E2E"/>
                      </a:solidFill>
                    </a:lnB>
                    <a:noFill/>
                  </a:tcPr>
                </a:tc>
              </a:tr>
              <a:tr h="402336">
                <a:tc>
                  <a:txBody>
                    <a:bodyPr wrap="square"/>
                    <a:lstStyle/>
                    <a:p>
                      <a:pPr algn="l">
                        <a:lnSpc>
                          <a:spcPct val="105000"/>
                        </a:lnSpc>
                        <a:spcAft>
                          <a:spcPts val="0"/>
                        </a:spcAft>
                      </a:pPr>
                      <a:r>
                        <a:rPr sz="1500" b="0">
                          <a:solidFill>
                            <a:srgbClr val="FFFFFF"/>
                          </a:solidFill>
                          <a:latin typeface="Calibri"/>
                        </a:rPr>
                        <a:t>Statheros et al. 2025, CLARiTy</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0.81</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0.69</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0.59</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0.47</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D2D2D2"/>
                          </a:solidFill>
                          <a:latin typeface="Calibri"/>
                        </a:rPr>
                        <a:t>0.32</a:t>
                      </a:r>
                      <a:endParaRPr sz="1500"/>
                    </a:p>
                  </a:txBody>
                  <a:tcPr marL="73152" marR="73152" marT="27432" marB="27432" anchor="ctr">
                    <a:lnL w="0">
                      <a:noFill/>
                    </a:lnL>
                    <a:lnR w="0">
                      <a:noFill/>
                    </a:lnR>
                    <a:lnT w="0">
                      <a:noFill/>
                    </a:lnT>
                    <a:lnB w="9525">
                      <a:solidFill>
                        <a:srgbClr val="2E2E2E"/>
                      </a:solidFill>
                    </a:lnB>
                    <a:noFill/>
                  </a:tcPr>
                </a:tc>
              </a:tr>
              <a:tr h="402336">
                <a:tc>
                  <a:txBody>
                    <a:bodyPr wrap="square"/>
                    <a:lstStyle/>
                    <a:p>
                      <a:pPr algn="l">
                        <a:lnSpc>
                          <a:spcPct val="105000"/>
                        </a:lnSpc>
                        <a:spcAft>
                          <a:spcPts val="0"/>
                        </a:spcAft>
                      </a:pPr>
                      <a:r>
                        <a:rPr sz="1500" b="1">
                          <a:solidFill>
                            <a:srgbClr val="F2994A"/>
                          </a:solidFill>
                          <a:latin typeface="Calibri"/>
                        </a:rPr>
                        <a:t>Ours, Grad-CAM++</a:t>
                      </a:r>
                      <a:endParaRPr sz="15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500" b="1">
                          <a:solidFill>
                            <a:srgbClr val="F2994A"/>
                          </a:solidFill>
                          <a:latin typeface="Calibri"/>
                        </a:rPr>
                        <a:t>0.62</a:t>
                      </a:r>
                      <a:endParaRPr sz="15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500" b="1">
                          <a:solidFill>
                            <a:srgbClr val="F2994A"/>
                          </a:solidFill>
                          <a:latin typeface="Calibri"/>
                        </a:rPr>
                        <a:t>0.42</a:t>
                      </a:r>
                      <a:endParaRPr sz="15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500" b="1">
                          <a:solidFill>
                            <a:srgbClr val="F2994A"/>
                          </a:solidFill>
                          <a:latin typeface="Calibri"/>
                        </a:rPr>
                        <a:t>0.28</a:t>
                      </a:r>
                      <a:endParaRPr sz="15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500" b="1">
                          <a:solidFill>
                            <a:srgbClr val="F2994A"/>
                          </a:solidFill>
                          <a:latin typeface="Calibri"/>
                        </a:rPr>
                        <a:t>0.18</a:t>
                      </a:r>
                      <a:endParaRPr sz="1500"/>
                    </a:p>
                  </a:txBody>
                  <a:tcPr marL="73152" marR="73152" marT="27432" marB="27432" anchor="ctr">
                    <a:lnL w="0">
                      <a:noFill/>
                    </a:lnL>
                    <a:lnR w="0">
                      <a:noFill/>
                    </a:lnR>
                    <a:lnT w="12700">
                      <a:solidFill>
                        <a:srgbClr val="5C5C5C"/>
                      </a:solidFill>
                    </a:lnT>
                    <a:lnB w="9525">
                      <a:solidFill>
                        <a:srgbClr val="2E2E2E"/>
                      </a:solidFill>
                    </a:lnB>
                    <a:noFill/>
                  </a:tcPr>
                </a:tc>
                <a:tc>
                  <a:txBody>
                    <a:bodyPr wrap="square"/>
                    <a:lstStyle/>
                    <a:p>
                      <a:pPr algn="r">
                        <a:lnSpc>
                          <a:spcPct val="105000"/>
                        </a:lnSpc>
                        <a:spcAft>
                          <a:spcPts val="0"/>
                        </a:spcAft>
                      </a:pPr>
                      <a:r>
                        <a:rPr sz="1500" b="1">
                          <a:solidFill>
                            <a:srgbClr val="F2994A"/>
                          </a:solidFill>
                          <a:latin typeface="Calibri"/>
                        </a:rPr>
                        <a:t>0.10</a:t>
                      </a:r>
                      <a:endParaRPr sz="1500"/>
                    </a:p>
                  </a:txBody>
                  <a:tcPr marL="73152" marR="73152" marT="27432" marB="27432" anchor="ctr">
                    <a:lnL w="0">
                      <a:noFill/>
                    </a:lnL>
                    <a:lnR w="0">
                      <a:noFill/>
                    </a:lnR>
                    <a:lnT w="12700">
                      <a:solidFill>
                        <a:srgbClr val="5C5C5C"/>
                      </a:solidFill>
                    </a:lnT>
                    <a:lnB w="9525">
                      <a:solidFill>
                        <a:srgbClr val="2E2E2E"/>
                      </a:solidFill>
                    </a:lnB>
                    <a:noFill/>
                  </a:tcPr>
                </a:tc>
              </a:tr>
              <a:tr h="402336">
                <a:tc>
                  <a:txBody>
                    <a:bodyPr wrap="square"/>
                    <a:lstStyle/>
                    <a:p>
                      <a:pPr algn="l">
                        <a:lnSpc>
                          <a:spcPct val="105000"/>
                        </a:lnSpc>
                        <a:spcAft>
                          <a:spcPts val="0"/>
                        </a:spcAft>
                      </a:pPr>
                      <a:r>
                        <a:rPr sz="1500" b="0">
                          <a:solidFill>
                            <a:srgbClr val="F2994A"/>
                          </a:solidFill>
                          <a:latin typeface="Calibri"/>
                        </a:rPr>
                        <a:t>Ours, CAM</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F2994A"/>
                          </a:solidFill>
                          <a:latin typeface="Calibri"/>
                        </a:rPr>
                        <a:t>0.56</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F2994A"/>
                          </a:solidFill>
                          <a:latin typeface="Calibri"/>
                        </a:rPr>
                        <a:t>0.36</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F2994A"/>
                          </a:solidFill>
                          <a:latin typeface="Calibri"/>
                        </a:rPr>
                        <a:t>0.21</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F2994A"/>
                          </a:solidFill>
                          <a:latin typeface="Calibri"/>
                        </a:rPr>
                        <a:t>0.12</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F2994A"/>
                          </a:solidFill>
                          <a:latin typeface="Calibri"/>
                        </a:rPr>
                        <a:t>0.07</a:t>
                      </a:r>
                      <a:endParaRPr sz="1500"/>
                    </a:p>
                  </a:txBody>
                  <a:tcPr marL="73152" marR="73152" marT="27432" marB="27432" anchor="ctr">
                    <a:lnL w="0">
                      <a:noFill/>
                    </a:lnL>
                    <a:lnR w="0">
                      <a:noFill/>
                    </a:lnR>
                    <a:lnT w="0">
                      <a:noFill/>
                    </a:lnT>
                    <a:lnB w="9525">
                      <a:solidFill>
                        <a:srgbClr val="2E2E2E"/>
                      </a:solidFill>
                    </a:lnB>
                    <a:noFill/>
                  </a:tcPr>
                </a:tc>
              </a:tr>
              <a:tr h="402336">
                <a:tc>
                  <a:txBody>
                    <a:bodyPr wrap="square"/>
                    <a:lstStyle/>
                    <a:p>
                      <a:pPr algn="l">
                        <a:lnSpc>
                          <a:spcPct val="105000"/>
                        </a:lnSpc>
                        <a:spcAft>
                          <a:spcPts val="0"/>
                        </a:spcAft>
                      </a:pPr>
                      <a:r>
                        <a:rPr sz="1500" b="0">
                          <a:solidFill>
                            <a:srgbClr val="8F8F8F"/>
                          </a:solidFill>
                          <a:latin typeface="Calibri"/>
                        </a:rPr>
                        <a:t>Random map</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8F8F8F"/>
                          </a:solidFill>
                          <a:latin typeface="Calibri"/>
                        </a:rPr>
                        <a:t>0.29</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8F8F8F"/>
                          </a:solidFill>
                          <a:latin typeface="Calibri"/>
                        </a:rPr>
                        <a:t>0.17</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8F8F8F"/>
                          </a:solidFill>
                          <a:latin typeface="Calibri"/>
                        </a:rPr>
                        <a:t>0.10</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8F8F8F"/>
                          </a:solidFill>
                          <a:latin typeface="Calibri"/>
                        </a:rPr>
                        <a:t>0.05</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r">
                        <a:lnSpc>
                          <a:spcPct val="105000"/>
                        </a:lnSpc>
                        <a:spcAft>
                          <a:spcPts val="0"/>
                        </a:spcAft>
                      </a:pPr>
                      <a:r>
                        <a:rPr sz="1500" b="0">
                          <a:solidFill>
                            <a:srgbClr val="8F8F8F"/>
                          </a:solidFill>
                          <a:latin typeface="Calibri"/>
                        </a:rPr>
                        <a:t>0.03</a:t>
                      </a:r>
                      <a:endParaRPr sz="15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4892040"/>
            <a:ext cx="3350666" cy="100584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At IoU above 0.5 our Grad-CAM++ boxes score 0.10, level with PCAN (0.10) and below ThoraX-PriorNet, Li et al. and CLARiTy (0.22 to 0.32).</a:t>
            </a:r>
            <a:endParaRPr sz="1400"/>
          </a:p>
        </p:txBody>
      </p:sp>
      <p:sp>
        <p:nvSpPr>
          <p:cNvPr id="8" name="TextBox 7"/>
          <p:cNvSpPr txBox="1"/>
          <p:nvPr/>
        </p:nvSpPr>
        <p:spPr>
          <a:xfrm>
            <a:off x="4374794" y="4892040"/>
            <a:ext cx="3350666" cy="100584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Those methods are built to localise, with anatomical priors, attention branches or thresholds tuned on held-out boxes. Ours are unmodified post-hoc maps.</a:t>
            </a:r>
            <a:endParaRPr sz="1400"/>
          </a:p>
        </p:txBody>
      </p:sp>
      <p:sp>
        <p:nvSpPr>
          <p:cNvPr id="9" name="TextBox 8"/>
          <p:cNvSpPr txBox="1"/>
          <p:nvPr/>
        </p:nvSpPr>
        <p:spPr>
          <a:xfrm>
            <a:off x="8200948" y="4892040"/>
            <a:ext cx="3350666" cy="1005840"/>
          </a:xfrm>
          <a:prstGeom prst="rect">
            <a:avLst/>
          </a:prstGeom>
          <a:noFill/>
        </p:spPr>
        <p:txBody>
          <a:bodyPr wrap="square" lIns="0" rIns="0" tIns="0" bIns="0" anchor="t">
            <a:noAutofit/>
          </a:bodyPr>
          <a:lstStyle/>
          <a:p>
            <a:pPr algn="l">
              <a:lnSpc>
                <a:spcPct val="108000"/>
              </a:lnSpc>
              <a:spcAft>
                <a:spcPts val="0"/>
              </a:spcAft>
            </a:pPr>
            <a:r>
              <a:rPr sz="1400" b="0">
                <a:solidFill>
                  <a:srgbClr val="D2D2D2"/>
                </a:solidFill>
                <a:latin typeface="Calibri"/>
              </a:rPr>
              <a:t>Every method, ours included, beats a random map by a wide margin (0.10 at IoU above 0.3).</a:t>
            </a:r>
            <a:endParaRPr sz="1400"/>
          </a:p>
        </p:txBody>
      </p:sp>
      <p:sp>
        <p:nvSpPr>
          <p:cNvPr id="10" name="TextBox 9"/>
          <p:cNvSpPr txBox="1"/>
          <p:nvPr/>
        </p:nvSpPr>
        <p:spPr>
          <a:xfrm>
            <a:off x="548640" y="5989320"/>
            <a:ext cx="11094415" cy="365760"/>
          </a:xfrm>
          <a:prstGeom prst="rect">
            <a:avLst/>
          </a:prstGeom>
          <a:noFill/>
        </p:spPr>
        <p:txBody>
          <a:bodyPr wrap="square" lIns="0" rIns="0" tIns="0" bIns="0" anchor="t">
            <a:noAutofit/>
          </a:bodyPr>
          <a:lstStyle/>
          <a:p>
            <a:pPr algn="l">
              <a:lnSpc>
                <a:spcPct val="105000"/>
              </a:lnSpc>
              <a:spcAft>
                <a:spcPts val="0"/>
              </a:spcAft>
            </a:pPr>
            <a:r>
              <a:rPr sz="1100" b="0">
                <a:solidFill>
                  <a:srgbClr val="8F8F8F"/>
                </a:solidFill>
                <a:latin typeface="Calibri"/>
              </a:rPr>
              <a:t>Share of boxes found, averaged over the 8 boxed findings. CLARiTy scores half of the 880 boxed images after tuning on the other half; we score all 880 with no tuning.</a:t>
            </a:r>
            <a:endParaRPr sz="11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EXAMPLES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Four test images, picked at random</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25</a:t>
            </a:r>
            <a:endParaRPr sz="1000"/>
          </a:p>
        </p:txBody>
      </p:sp>
      <p:pic>
        <p:nvPicPr>
          <p:cNvPr id="6" name="Picture 5" descr="00027726_012_Effusion_cam.jpg"/>
          <p:cNvPicPr>
            <a:picLocks noChangeAspect="1"/>
          </p:cNvPicPr>
          <p:nvPr/>
        </p:nvPicPr>
        <p:blipFill>
          <a:blip r:embed="rId3"/>
          <a:stretch>
            <a:fillRect/>
          </a:stretch>
        </p:blipFill>
        <p:spPr>
          <a:xfrm>
            <a:off x="548640" y="1554480"/>
            <a:ext cx="2560320" cy="2560320"/>
          </a:xfrm>
          <a:prstGeom prst="rect">
            <a:avLst/>
          </a:prstGeom>
        </p:spPr>
      </p:pic>
      <p:sp>
        <p:nvSpPr>
          <p:cNvPr id="7" name="TextBox 6"/>
          <p:cNvSpPr txBox="1"/>
          <p:nvPr/>
        </p:nvSpPr>
        <p:spPr>
          <a:xfrm>
            <a:off x="548640"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00027726_012  ·  NIH label: Infiltration</a:t>
            </a:r>
            <a:endParaRPr sz="1100"/>
          </a:p>
          <a:p>
            <a:pPr algn="l">
              <a:lnSpc>
                <a:spcPct val="100000"/>
              </a:lnSpc>
              <a:spcAft>
                <a:spcPts val="100"/>
              </a:spcAft>
            </a:pPr>
            <a:r>
              <a:rPr sz="1900" b="1">
                <a:solidFill>
                  <a:srgbClr val="FFFFFF"/>
                </a:solidFill>
                <a:latin typeface="Calibri"/>
              </a:rPr>
              <a:t>Effusion 0.73</a:t>
            </a:r>
            <a:endParaRPr sz="1900"/>
          </a:p>
          <a:p>
            <a:pPr algn="l">
              <a:lnSpc>
                <a:spcPct val="100000"/>
              </a:lnSpc>
              <a:spcAft>
                <a:spcPts val="500"/>
              </a:spcAft>
            </a:pPr>
            <a:r>
              <a:rPr sz="1200" b="0">
                <a:solidFill>
                  <a:srgbClr val="8F8F8F"/>
                </a:solidFill>
                <a:latin typeface="Calibri"/>
              </a:rPr>
              <a:t>next: Infiltration 0.57</a:t>
            </a:r>
            <a:endParaRPr sz="1200"/>
          </a:p>
          <a:p>
            <a:pPr algn="l">
              <a:lnSpc>
                <a:spcPct val="100000"/>
              </a:lnSpc>
              <a:spcAft>
                <a:spcPts val="0"/>
              </a:spcAft>
            </a:pPr>
            <a:r>
              <a:rPr sz="1300" b="0">
                <a:solidFill>
                  <a:srgbClr val="D2D2D2"/>
                </a:solidFill>
                <a:latin typeface="Calibri"/>
              </a:rPr>
              <a:t>evidence: centre, middle third</a:t>
            </a:r>
            <a:endParaRPr sz="1300"/>
          </a:p>
        </p:txBody>
      </p:sp>
      <p:pic>
        <p:nvPicPr>
          <p:cNvPr id="8" name="Picture 7" descr="00001900_005_Atelectasis_cam.jpg"/>
          <p:cNvPicPr>
            <a:picLocks noChangeAspect="1"/>
          </p:cNvPicPr>
          <p:nvPr/>
        </p:nvPicPr>
        <p:blipFill>
          <a:blip r:embed="rId4"/>
          <a:stretch>
            <a:fillRect/>
          </a:stretch>
        </p:blipFill>
        <p:spPr>
          <a:xfrm>
            <a:off x="3393338" y="1554480"/>
            <a:ext cx="2560320" cy="2560320"/>
          </a:xfrm>
          <a:prstGeom prst="rect">
            <a:avLst/>
          </a:prstGeom>
        </p:spPr>
      </p:pic>
      <p:sp>
        <p:nvSpPr>
          <p:cNvPr id="9" name="TextBox 8"/>
          <p:cNvSpPr txBox="1"/>
          <p:nvPr/>
        </p:nvSpPr>
        <p:spPr>
          <a:xfrm>
            <a:off x="3393338"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00001900_005  ·  NIH label: No Finding</a:t>
            </a:r>
            <a:endParaRPr sz="1100"/>
          </a:p>
          <a:p>
            <a:pPr algn="l">
              <a:lnSpc>
                <a:spcPct val="100000"/>
              </a:lnSpc>
              <a:spcAft>
                <a:spcPts val="100"/>
              </a:spcAft>
            </a:pPr>
            <a:r>
              <a:rPr sz="1900" b="1">
                <a:solidFill>
                  <a:srgbClr val="FFFFFF"/>
                </a:solidFill>
                <a:latin typeface="Calibri"/>
              </a:rPr>
              <a:t>Atelectasis 0.18</a:t>
            </a:r>
            <a:endParaRPr sz="1900"/>
          </a:p>
          <a:p>
            <a:pPr algn="l">
              <a:lnSpc>
                <a:spcPct val="100000"/>
              </a:lnSpc>
              <a:spcAft>
                <a:spcPts val="500"/>
              </a:spcAft>
            </a:pPr>
            <a:r>
              <a:rPr sz="1200" b="0">
                <a:solidFill>
                  <a:srgbClr val="8F8F8F"/>
                </a:solidFill>
                <a:latin typeface="Calibri"/>
              </a:rPr>
              <a:t>next: Infiltration 0.12</a:t>
            </a:r>
            <a:endParaRPr sz="1200"/>
          </a:p>
          <a:p>
            <a:pPr algn="l">
              <a:lnSpc>
                <a:spcPct val="100000"/>
              </a:lnSpc>
              <a:spcAft>
                <a:spcPts val="0"/>
              </a:spcAft>
            </a:pPr>
            <a:r>
              <a:rPr sz="1300" b="0">
                <a:solidFill>
                  <a:srgbClr val="D2D2D2"/>
                </a:solidFill>
                <a:latin typeface="Calibri"/>
              </a:rPr>
              <a:t>evidence: right middle zone</a:t>
            </a:r>
            <a:endParaRPr sz="1300"/>
          </a:p>
        </p:txBody>
      </p:sp>
      <p:pic>
        <p:nvPicPr>
          <p:cNvPr id="10" name="Picture 9" descr="00028462_000_Infiltration_cam.jpg"/>
          <p:cNvPicPr>
            <a:picLocks noChangeAspect="1"/>
          </p:cNvPicPr>
          <p:nvPr/>
        </p:nvPicPr>
        <p:blipFill>
          <a:blip r:embed="rId5"/>
          <a:stretch>
            <a:fillRect/>
          </a:stretch>
        </p:blipFill>
        <p:spPr>
          <a:xfrm>
            <a:off x="6238036" y="1554480"/>
            <a:ext cx="2560320" cy="2560320"/>
          </a:xfrm>
          <a:prstGeom prst="rect">
            <a:avLst/>
          </a:prstGeom>
        </p:spPr>
      </p:pic>
      <p:sp>
        <p:nvSpPr>
          <p:cNvPr id="11" name="Rectangle 10"/>
          <p:cNvSpPr/>
          <p:nvPr/>
        </p:nvSpPr>
        <p:spPr>
          <a:xfrm>
            <a:off x="6238036" y="1554480"/>
            <a:ext cx="2560320" cy="2560320"/>
          </a:xfrm>
          <a:prstGeom prst="rect">
            <a:avLst/>
          </a:prstGeom>
          <a:noFill/>
          <a:ln w="28575">
            <a:solidFill>
              <a:srgbClr val="F299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8036"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00028462_000  ·  NIH label: No Finding</a:t>
            </a:r>
            <a:endParaRPr sz="1100"/>
          </a:p>
          <a:p>
            <a:pPr algn="l">
              <a:lnSpc>
                <a:spcPct val="100000"/>
              </a:lnSpc>
              <a:spcAft>
                <a:spcPts val="100"/>
              </a:spcAft>
            </a:pPr>
            <a:r>
              <a:rPr sz="1900" b="1">
                <a:solidFill>
                  <a:srgbClr val="FFFFFF"/>
                </a:solidFill>
                <a:latin typeface="Calibri"/>
              </a:rPr>
              <a:t>Infiltration 0.33</a:t>
            </a:r>
            <a:endParaRPr sz="1900"/>
          </a:p>
          <a:p>
            <a:pPr algn="l">
              <a:lnSpc>
                <a:spcPct val="100000"/>
              </a:lnSpc>
              <a:spcAft>
                <a:spcPts val="500"/>
              </a:spcAft>
            </a:pPr>
            <a:r>
              <a:rPr sz="1200" b="0">
                <a:solidFill>
                  <a:srgbClr val="8F8F8F"/>
                </a:solidFill>
                <a:latin typeface="Calibri"/>
              </a:rPr>
              <a:t>next: Pleural thickening 0.09</a:t>
            </a:r>
            <a:endParaRPr sz="1200"/>
          </a:p>
          <a:p>
            <a:pPr algn="l">
              <a:lnSpc>
                <a:spcPct val="100000"/>
              </a:lnSpc>
              <a:spcAft>
                <a:spcPts val="0"/>
              </a:spcAft>
            </a:pPr>
            <a:r>
              <a:rPr sz="1300" b="0">
                <a:solidFill>
                  <a:srgbClr val="F2994A"/>
                </a:solidFill>
                <a:latin typeface="Calibri"/>
              </a:rPr>
              <a:t>evidence: left shoulder, outside the lungs</a:t>
            </a:r>
            <a:endParaRPr sz="1300"/>
          </a:p>
        </p:txBody>
      </p:sp>
      <p:pic>
        <p:nvPicPr>
          <p:cNvPr id="13" name="Picture 12" descr="00015530_062_Infiltration_cam.jpg"/>
          <p:cNvPicPr>
            <a:picLocks noChangeAspect="1"/>
          </p:cNvPicPr>
          <p:nvPr/>
        </p:nvPicPr>
        <p:blipFill>
          <a:blip r:embed="rId6"/>
          <a:stretch>
            <a:fillRect/>
          </a:stretch>
        </p:blipFill>
        <p:spPr>
          <a:xfrm>
            <a:off x="9082735" y="1554480"/>
            <a:ext cx="2560320" cy="2560320"/>
          </a:xfrm>
          <a:prstGeom prst="rect">
            <a:avLst/>
          </a:prstGeom>
        </p:spPr>
      </p:pic>
      <p:sp>
        <p:nvSpPr>
          <p:cNvPr id="14" name="TextBox 13"/>
          <p:cNvSpPr txBox="1"/>
          <p:nvPr/>
        </p:nvSpPr>
        <p:spPr>
          <a:xfrm>
            <a:off x="9082735" y="4224528"/>
            <a:ext cx="2560320" cy="1463040"/>
          </a:xfrm>
          <a:prstGeom prst="rect">
            <a:avLst/>
          </a:prstGeom>
          <a:noFill/>
        </p:spPr>
        <p:txBody>
          <a:bodyPr wrap="square" lIns="0" rIns="0" tIns="0" bIns="0" anchor="t">
            <a:noAutofit/>
          </a:bodyPr>
          <a:lstStyle/>
          <a:p>
            <a:pPr algn="l">
              <a:lnSpc>
                <a:spcPct val="100000"/>
              </a:lnSpc>
              <a:spcAft>
                <a:spcPts val="400"/>
              </a:spcAft>
            </a:pPr>
            <a:r>
              <a:rPr sz="1100" b="0">
                <a:solidFill>
                  <a:srgbClr val="8F8F8F"/>
                </a:solidFill>
                <a:latin typeface="Calibri"/>
              </a:rPr>
              <a:t>00015530_062  ·  NIH label: No Finding</a:t>
            </a:r>
            <a:endParaRPr sz="1100"/>
          </a:p>
          <a:p>
            <a:pPr algn="l">
              <a:lnSpc>
                <a:spcPct val="100000"/>
              </a:lnSpc>
              <a:spcAft>
                <a:spcPts val="100"/>
              </a:spcAft>
            </a:pPr>
            <a:r>
              <a:rPr sz="1900" b="1">
                <a:solidFill>
                  <a:srgbClr val="FFFFFF"/>
                </a:solidFill>
                <a:latin typeface="Calibri"/>
              </a:rPr>
              <a:t>Infiltration 0.64</a:t>
            </a:r>
            <a:endParaRPr sz="1900"/>
          </a:p>
          <a:p>
            <a:pPr algn="l">
              <a:lnSpc>
                <a:spcPct val="100000"/>
              </a:lnSpc>
              <a:spcAft>
                <a:spcPts val="500"/>
              </a:spcAft>
            </a:pPr>
            <a:r>
              <a:rPr sz="1200" b="0">
                <a:solidFill>
                  <a:srgbClr val="8F8F8F"/>
                </a:solidFill>
                <a:latin typeface="Calibri"/>
              </a:rPr>
              <a:t>next: Pneumothorax 0.46</a:t>
            </a:r>
            <a:endParaRPr sz="1200"/>
          </a:p>
          <a:p>
            <a:pPr algn="l">
              <a:lnSpc>
                <a:spcPct val="100000"/>
              </a:lnSpc>
              <a:spcAft>
                <a:spcPts val="0"/>
              </a:spcAft>
            </a:pPr>
            <a:r>
              <a:rPr sz="1300" b="0">
                <a:solidFill>
                  <a:srgbClr val="D2D2D2"/>
                </a:solidFill>
                <a:latin typeface="Calibri"/>
              </a:rPr>
              <a:t>evidence: left middle zone</a:t>
            </a:r>
            <a:endParaRPr sz="1300"/>
          </a:p>
        </p:txBody>
      </p:sp>
      <p:sp>
        <p:nvSpPr>
          <p:cNvPr id="15" name="TextBox 14"/>
          <p:cNvSpPr txBox="1"/>
          <p:nvPr/>
        </p:nvSpPr>
        <p:spPr>
          <a:xfrm>
            <a:off x="548640" y="5760720"/>
            <a:ext cx="11094415" cy="548640"/>
          </a:xfrm>
          <a:prstGeom prst="rect">
            <a:avLst/>
          </a:prstGeom>
          <a:noFill/>
        </p:spPr>
        <p:txBody>
          <a:bodyPr wrap="square" lIns="0" rIns="0" tIns="0" bIns="0" anchor="t">
            <a:noAutofit/>
          </a:bodyPr>
          <a:lstStyle/>
          <a:p>
            <a:pPr algn="l">
              <a:lnSpc>
                <a:spcPct val="105000"/>
              </a:lnSpc>
              <a:spcAft>
                <a:spcPts val="0"/>
              </a:spcAft>
            </a:pPr>
            <a:r>
              <a:rPr sz="1200" b="0">
                <a:solidFill>
                  <a:srgbClr val="8F8F8F"/>
                </a:solidFill>
                <a:latin typeface="Calibri"/>
              </a:rPr>
              <a:t>CAM maps from the seed 1337 model. Zones come from position in the image, not anatomy. The labels were text-mined and the probabilities are not calibrated, so neither the label nor 0.5 settles who is right.</a:t>
            </a:r>
            <a:endParaRPr sz="1200"/>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BUGS WE HIT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the data and the machine threw at us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26</a:t>
            </a:r>
            <a:endParaRPr sz="1000"/>
          </a:p>
        </p:txBody>
      </p:sp>
      <p:graphicFrame>
        <p:nvGraphicFramePr>
          <p:cNvPr id="6" name="Table 5"/>
          <p:cNvGraphicFramePr>
            <a:graphicFrameLocks noGrp="1"/>
          </p:cNvGraphicFramePr>
          <p:nvPr/>
        </p:nvGraphicFramePr>
        <p:xfrm>
          <a:off x="548640" y="1554480"/>
          <a:ext cx="11094415" cy="4498848"/>
        </p:xfrm>
        <a:graphic>
          <a:graphicData uri="http://schemas.openxmlformats.org/drawingml/2006/table">
            <a:tbl>
              <a:tblPr firstRow="0" bandRow="0">
                <a:tableStyleId>{2D5ABB26-0587-4C30-8999-92F81FD0307C}</a:tableStyleId>
              </a:tblPr>
              <a:tblGrid>
                <a:gridCol w="3657600"/>
                <a:gridCol w="7436815"/>
              </a:tblGrid>
              <a:tr h="384048">
                <a:tc>
                  <a:txBody>
                    <a:bodyPr wrap="square"/>
                    <a:lstStyle/>
                    <a:p>
                      <a:pPr algn="l">
                        <a:lnSpc>
                          <a:spcPct val="105000"/>
                        </a:lnSpc>
                        <a:spcAft>
                          <a:spcPts val="0"/>
                        </a:spcAft>
                      </a:pPr>
                      <a:r>
                        <a:rPr sz="1200" b="0">
                          <a:solidFill>
                            <a:srgbClr val="8F8F8F"/>
                          </a:solidFill>
                          <a:latin typeface="Calibri"/>
                        </a:rPr>
                        <a:t>what happened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we changed</a:t>
                      </a:r>
                      <a:endParaRPr sz="1200"/>
                    </a:p>
                  </a:txBody>
                  <a:tcPr marL="73152" marR="73152" marT="27432" marB="27432" anchor="ctr">
                    <a:lnL w="0">
                      <a:noFill/>
                    </a:lnL>
                    <a:lnR w="0">
                      <a:noFill/>
                    </a:lnR>
                    <a:lnT w="0">
                      <a:noFill/>
                    </a:lnT>
                    <a:lnB w="12700">
                      <a:solidFill>
                        <a:srgbClr val="5C5C5C"/>
                      </a:solidFill>
                    </a:lnB>
                    <a:noFill/>
                  </a:tcPr>
                </a:tc>
              </a:tr>
              <a:tr h="822960">
                <a:tc>
                  <a:txBody>
                    <a:bodyPr wrap="square"/>
                    <a:lstStyle/>
                    <a:p>
                      <a:pPr algn="l">
                        <a:lnSpc>
                          <a:spcPct val="105000"/>
                        </a:lnSpc>
                        <a:spcAft>
                          <a:spcPts val="0"/>
                        </a:spcAft>
                      </a:pPr>
                      <a:r>
                        <a:rPr sz="1500" b="1">
                          <a:solidFill>
                            <a:srgbClr val="FFFFFF"/>
                          </a:solidFill>
                          <a:latin typeface="Calibri"/>
                        </a:rPr>
                        <a:t>The PC slept for nine hours mid-download, then came three power cuts</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Downloads resume from partial files. Training saves weights, optimiser, schedule and random state every epoch and carries on after a restart. Tested by killing a run on purpose.</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NIH's Box folder began answering 404 part-way through the 45 GB download</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Switched to Box's direct link for each archive, after checking every size against NIH's own listing and that downloads could resume.</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NIH's box file says Infiltrate, its label file says Infiltration</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A plain match on names would silently drop those 123 boxes. Added the alias, and a check that stops on any label it cannot map.</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Batch 48 ran out of GPU memory without any error</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On Windows the NVIDIA driver spills into system RAM instead of failing, and training ran over 20 times slower. We stayed at batch 32.</a:t>
                      </a:r>
                      <a:endParaRPr sz="1400"/>
                    </a:p>
                  </a:txBody>
                  <a:tcPr marL="73152" marR="73152" marT="27432" marB="27432" anchor="ctr">
                    <a:lnL w="0">
                      <a:noFill/>
                    </a:lnL>
                    <a:lnR w="0">
                      <a:noFill/>
                    </a:lnR>
                    <a:lnT w="0">
                      <a:noFill/>
                    </a:lnT>
                    <a:lnB w="9525">
                      <a:solidFill>
                        <a:srgbClr val="2E2E2E"/>
                      </a:solidFill>
                    </a:lnB>
                    <a:noFill/>
                  </a:tcPr>
                </a:tc>
              </a:tr>
              <a:tr h="822960">
                <a:tc>
                  <a:txBody>
                    <a:bodyPr wrap="square"/>
                    <a:lstStyle/>
                    <a:p>
                      <a:pPr algn="l">
                        <a:lnSpc>
                          <a:spcPct val="105000"/>
                        </a:lnSpc>
                        <a:spcAft>
                          <a:spcPts val="0"/>
                        </a:spcAft>
                      </a:pPr>
                      <a:r>
                        <a:rPr sz="1500" b="1">
                          <a:solidFill>
                            <a:srgbClr val="FFFFFF"/>
                          </a:solidFill>
                          <a:latin typeface="Calibri"/>
                        </a:rPr>
                        <a:t>The test pass crashed right after training finished</a:t>
                      </a:r>
                      <a:endParaRPr sz="15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400" b="0">
                          <a:solidFill>
                            <a:srgbClr val="D2D2D2"/>
                          </a:solidFill>
                          <a:latin typeface="Calibri"/>
                        </a:rPr>
                        <a:t>Train and validation loaders kept their workers alive: 27 Python processes, 95.9 of 96 GB of memory committed. The weights were safe. Loaders are now freed first, and one-off passes use fewer workers.</a:t>
                      </a:r>
                      <a:endParaRPr sz="1400"/>
                    </a:p>
                  </a:txBody>
                  <a:tcPr marL="73152" marR="73152"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BUGS WE HIT</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Traps in checking the explanations</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27</a:t>
            </a:r>
            <a:endParaRPr sz="1000"/>
          </a:p>
        </p:txBody>
      </p:sp>
      <p:graphicFrame>
        <p:nvGraphicFramePr>
          <p:cNvPr id="6" name="Table 5"/>
          <p:cNvGraphicFramePr>
            <a:graphicFrameLocks noGrp="1"/>
          </p:cNvGraphicFramePr>
          <p:nvPr/>
        </p:nvGraphicFramePr>
        <p:xfrm>
          <a:off x="548640" y="1554480"/>
          <a:ext cx="11094415" cy="3456432"/>
        </p:xfrm>
        <a:graphic>
          <a:graphicData uri="http://schemas.openxmlformats.org/drawingml/2006/table">
            <a:tbl>
              <a:tblPr firstRow="0" bandRow="0">
                <a:tableStyleId>{2D5ABB26-0587-4C30-8999-92F81FD0307C}</a:tableStyleId>
              </a:tblPr>
              <a:tblGrid>
                <a:gridCol w="3657600"/>
                <a:gridCol w="7436815"/>
              </a:tblGrid>
              <a:tr h="384048">
                <a:tc>
                  <a:txBody>
                    <a:bodyPr wrap="square"/>
                    <a:lstStyle/>
                    <a:p>
                      <a:pPr algn="l">
                        <a:lnSpc>
                          <a:spcPct val="105000"/>
                        </a:lnSpc>
                        <a:spcAft>
                          <a:spcPts val="0"/>
                        </a:spcAft>
                      </a:pPr>
                      <a:r>
                        <a:rPr sz="1200" b="0">
                          <a:solidFill>
                            <a:srgbClr val="8F8F8F"/>
                          </a:solidFill>
                          <a:latin typeface="Calibri"/>
                        </a:rPr>
                        <a:t>what happened</a:t>
                      </a:r>
                      <a:endParaRPr sz="1200"/>
                    </a:p>
                  </a:txBody>
                  <a:tcPr marL="73152" marR="73152" marT="27432" marB="27432" anchor="ctr">
                    <a:lnL w="0">
                      <a:noFill/>
                    </a:lnL>
                    <a:lnR w="0">
                      <a:noFill/>
                    </a:lnR>
                    <a:lnT w="0">
                      <a:noFill/>
                    </a:lnT>
                    <a:lnB w="12700">
                      <a:solidFill>
                        <a:srgbClr val="5C5C5C"/>
                      </a:solidFill>
                    </a:lnB>
                    <a:noFill/>
                  </a:tcPr>
                </a:tc>
                <a:tc>
                  <a:txBody>
                    <a:bodyPr wrap="square"/>
                    <a:lstStyle/>
                    <a:p>
                      <a:pPr algn="l">
                        <a:lnSpc>
                          <a:spcPct val="105000"/>
                        </a:lnSpc>
                        <a:spcAft>
                          <a:spcPts val="0"/>
                        </a:spcAft>
                      </a:pPr>
                      <a:r>
                        <a:rPr sz="1200" b="0">
                          <a:solidFill>
                            <a:srgbClr val="8F8F8F"/>
                          </a:solidFill>
                          <a:latin typeface="Calibri"/>
                        </a:rPr>
                        <a:t>what we changed</a:t>
                      </a:r>
                      <a:endParaRPr sz="1200"/>
                    </a:p>
                  </a:txBody>
                  <a:tcPr marL="73152" marR="73152" marT="27432" marB="27432" anchor="ctr">
                    <a:lnL w="0">
                      <a:noFill/>
                    </a:lnL>
                    <a:lnR w="0">
                      <a:noFill/>
                    </a:lnR>
                    <a:lnT w="0">
                      <a:noFill/>
                    </a:lnT>
                    <a:lnB w="12700">
                      <a:solidFill>
                        <a:srgbClr val="5C5C5C"/>
                      </a:solidFill>
                    </a:lnB>
                    <a:noFill/>
                  </a:tcPr>
                </a:tc>
              </a:tr>
              <a:tr h="1024128">
                <a:tc>
                  <a:txBody>
                    <a:bodyPr wrap="square"/>
                    <a:lstStyle/>
                    <a:p>
                      <a:pPr algn="l">
                        <a:lnSpc>
                          <a:spcPct val="105000"/>
                        </a:lnSpc>
                        <a:spcAft>
                          <a:spcPts val="0"/>
                        </a:spcAft>
                      </a:pPr>
                      <a:r>
                        <a:rPr sz="1600" b="1">
                          <a:solidFill>
                            <a:srgbClr val="FFFFFF"/>
                          </a:solidFill>
                          <a:latin typeface="Calibri"/>
                        </a:rPr>
                        <a:t>The randomisation check returned NaN for every method</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Scrambling a layer's weights leaves BatchNorm's running mean and variance alone, because they are not weights. Those stale statistics pushed activations to infinity across the network. They are now reset too, and 242 of 242 correlations come back finite.</a:t>
                      </a:r>
                      <a:endParaRPr sz="1500"/>
                    </a:p>
                  </a:txBody>
                  <a:tcPr marL="73152" marR="73152" marT="27432" marB="27432" anchor="ctr">
                    <a:lnL w="0">
                      <a:noFill/>
                    </a:lnL>
                    <a:lnR w="0">
                      <a:noFill/>
                    </a:lnR>
                    <a:lnT w="0">
                      <a:noFill/>
                    </a:lnT>
                    <a:lnB w="9525">
                      <a:solidFill>
                        <a:srgbClr val="2E2E2E"/>
                      </a:solidFill>
                    </a:lnB>
                    <a:noFill/>
                  </a:tcPr>
                </a:tc>
              </a:tr>
              <a:tr h="1024128">
                <a:tc>
                  <a:txBody>
                    <a:bodyPr wrap="square"/>
                    <a:lstStyle/>
                    <a:p>
                      <a:pPr algn="l">
                        <a:lnSpc>
                          <a:spcPct val="105000"/>
                        </a:lnSpc>
                        <a:spcAft>
                          <a:spcPts val="0"/>
                        </a:spcAft>
                      </a:pPr>
                      <a:r>
                        <a:rPr sz="1600" b="1">
                          <a:solidFill>
                            <a:srgbClr val="FFFFFF"/>
                          </a:solidFill>
                          <a:latin typeface="Calibri"/>
                        </a:rPr>
                        <a:t>EigenCAM crashed the whole faithfulness run</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Its SVD does not converge on a scrambled network, and one crash threw away the four methods that had worked. Methods now run independently, and a failure is recorded as a result.</a:t>
                      </a:r>
                      <a:endParaRPr sz="1500"/>
                    </a:p>
                  </a:txBody>
                  <a:tcPr marL="73152" marR="73152" marT="27432" marB="27432" anchor="ctr">
                    <a:lnL w="0">
                      <a:noFill/>
                    </a:lnL>
                    <a:lnR w="0">
                      <a:noFill/>
                    </a:lnR>
                    <a:lnT w="0">
                      <a:noFill/>
                    </a:lnT>
                    <a:lnB w="9525">
                      <a:solidFill>
                        <a:srgbClr val="2E2E2E"/>
                      </a:solidFill>
                    </a:lnB>
                    <a:noFill/>
                  </a:tcPr>
                </a:tc>
              </a:tr>
              <a:tr h="1024128">
                <a:tc>
                  <a:txBody>
                    <a:bodyPr wrap="square"/>
                    <a:lstStyle/>
                    <a:p>
                      <a:pPr algn="l">
                        <a:lnSpc>
                          <a:spcPct val="105000"/>
                        </a:lnSpc>
                        <a:spcAft>
                          <a:spcPts val="0"/>
                        </a:spcAft>
                      </a:pPr>
                      <a:r>
                        <a:rPr sz="1600" b="1">
                          <a:solidFill>
                            <a:srgbClr val="FFFFFF"/>
                          </a:solidFill>
                          <a:latin typeface="Calibri"/>
                        </a:rPr>
                        <a:t>Boxes drawn from Grad-CAM maps covered the whole X-ray</a:t>
                      </a:r>
                      <a:endParaRPr sz="16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500" b="0">
                          <a:solidFill>
                            <a:srgbClr val="D2D2D2"/>
                          </a:solidFill>
                          <a:latin typeface="Calibri"/>
                        </a:rPr>
                        <a:t>Grad-CAM sets negative values to zero, so on a mostly empty map the 95th percentile is 0, and 'at or above the threshold' selects every pixel. The cut-off is now strict and a flat map gives no box.</a:t>
                      </a:r>
                      <a:endParaRPr sz="1500"/>
                    </a:p>
                  </a:txBody>
                  <a:tcPr marL="73152" marR="73152" marT="27432" marB="27432" anchor="ctr">
                    <a:lnL w="0">
                      <a:noFill/>
                    </a:lnL>
                    <a:lnR w="0">
                      <a:noFill/>
                    </a:lnR>
                    <a:lnT w="0">
                      <a:noFill/>
                    </a:lnT>
                    <a:lnB w="9525">
                      <a:solidFill>
                        <a:srgbClr val="2E2E2E"/>
                      </a:solidFill>
                    </a:lnB>
                    <a:noFill/>
                  </a:tcPr>
                </a:tc>
              </a:tr>
            </a:tbl>
          </a:graphicData>
        </a:graphic>
      </p:graphicFrame>
      <p:sp>
        <p:nvSpPr>
          <p:cNvPr id="7" name="TextBox 6"/>
          <p:cNvSpPr txBox="1"/>
          <p:nvPr/>
        </p:nvSpPr>
        <p:spPr>
          <a:xfrm>
            <a:off x="548640" y="5623560"/>
            <a:ext cx="11094415" cy="548640"/>
          </a:xfrm>
          <a:prstGeom prst="rect">
            <a:avLst/>
          </a:prstGeom>
          <a:noFill/>
        </p:spPr>
        <p:txBody>
          <a:bodyPr wrap="square" lIns="0" rIns="0" tIns="0" bIns="0" anchor="t">
            <a:noAutofit/>
          </a:bodyPr>
          <a:lstStyle/>
          <a:p>
            <a:pPr algn="l">
              <a:lnSpc>
                <a:spcPct val="105000"/>
              </a:lnSpc>
              <a:spcAft>
                <a:spcPts val="0"/>
              </a:spcAft>
            </a:pPr>
            <a:r>
              <a:rPr sz="1500" b="0">
                <a:solidFill>
                  <a:srgbClr val="FFFFFF"/>
                </a:solidFill>
                <a:latin typeface="Calibri"/>
              </a:rPr>
              <a:t>All three were caught before any number was reported. The third is the dangerous kind: its wrong numbers would have looked normal.</a:t>
            </a:r>
            <a:endParaRPr sz="15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OPEN PROBLEMS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What is still wrong</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28</a:t>
            </a:r>
            <a:endParaRPr sz="1000"/>
          </a:p>
        </p:txBody>
      </p:sp>
      <p:sp>
        <p:nvSpPr>
          <p:cNvPr id="6" name="Rectangle 5"/>
          <p:cNvSpPr/>
          <p:nvPr/>
        </p:nvSpPr>
        <p:spPr>
          <a:xfrm>
            <a:off x="548640" y="167335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Rare findings rest on few cases</a:t>
            </a:r>
            <a:endParaRPr sz="1900"/>
          </a:p>
        </p:txBody>
      </p:sp>
      <p:sp>
        <p:nvSpPr>
          <p:cNvPr id="8" name="TextBox 7"/>
          <p:cNvSpPr txBox="1"/>
          <p:nvPr/>
        </p:nvSpPr>
        <p:spPr>
          <a:xfrm>
            <a:off x="777240" y="201168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Calibration is done (error 0.117 down to 0.011), but the cut-offs for rare findings rest on few validation cases. Hernia has 16, and its 90% cut-off caught 78% on test.</a:t>
            </a:r>
            <a:endParaRPr sz="1500"/>
          </a:p>
        </p:txBody>
      </p:sp>
      <p:sp>
        <p:nvSpPr>
          <p:cNvPr id="9" name="Rectangle 8"/>
          <p:cNvSpPr/>
          <p:nvPr/>
        </p:nvSpPr>
        <p:spPr>
          <a:xfrm>
            <a:off x="6324447" y="167335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53047" y="160020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Pneumonia is close to useless</a:t>
            </a:r>
            <a:endParaRPr sz="1900"/>
          </a:p>
        </p:txBody>
      </p:sp>
      <p:sp>
        <p:nvSpPr>
          <p:cNvPr id="11" name="TextBox 10"/>
          <p:cNvSpPr txBox="1"/>
          <p:nvPr/>
        </p:nvSpPr>
        <p:spPr>
          <a:xfrm>
            <a:off x="6553047" y="201168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AUPRC 0.048 at 2.2% prevalence, about twice chance.</a:t>
            </a:r>
            <a:endParaRPr sz="1500"/>
          </a:p>
        </p:txBody>
      </p:sp>
      <p:sp>
        <p:nvSpPr>
          <p:cNvPr id="12" name="Rectangle 11"/>
          <p:cNvSpPr/>
          <p:nvPr/>
        </p:nvSpPr>
        <p:spPr>
          <a:xfrm>
            <a:off x="548640" y="309067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01752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Pneumothorax maps point elsewhere</a:t>
            </a:r>
            <a:endParaRPr sz="1900"/>
          </a:p>
        </p:txBody>
      </p:sp>
      <p:sp>
        <p:nvSpPr>
          <p:cNvPr id="14" name="TextBox 13"/>
          <p:cNvSpPr txBox="1"/>
          <p:nvPr/>
        </p:nvSpPr>
        <p:spPr>
          <a:xfrm>
            <a:off x="777240" y="342900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Pointing game 0.22 even with the best method. First check: whether the maps land on chest drains.</a:t>
            </a:r>
            <a:endParaRPr sz="1500"/>
          </a:p>
        </p:txBody>
      </p:sp>
      <p:sp>
        <p:nvSpPr>
          <p:cNvPr id="15" name="Rectangle 14"/>
          <p:cNvSpPr/>
          <p:nvPr/>
        </p:nvSpPr>
        <p:spPr>
          <a:xfrm>
            <a:off x="6324447" y="309067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53047" y="301752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A possible shortcut</a:t>
            </a:r>
            <a:endParaRPr sz="1900"/>
          </a:p>
        </p:txBody>
      </p:sp>
      <p:sp>
        <p:nvSpPr>
          <p:cNvPr id="17" name="TextBox 16"/>
          <p:cNvSpPr txBox="1"/>
          <p:nvPr/>
        </p:nvSpPr>
        <p:spPr>
          <a:xfrm>
            <a:off x="6553047" y="342900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One of four random images puts its evidence on the shoulder. One image proves nothing; it needs a check over the whole test set.</a:t>
            </a:r>
            <a:endParaRPr sz="1500"/>
          </a:p>
        </p:txBody>
      </p:sp>
      <p:sp>
        <p:nvSpPr>
          <p:cNvPr id="18" name="Rectangle 17"/>
          <p:cNvSpPr/>
          <p:nvPr/>
        </p:nvSpPr>
        <p:spPr>
          <a:xfrm>
            <a:off x="548640" y="450799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43484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Validation does not rank runs</a:t>
            </a:r>
            <a:endParaRPr sz="1900"/>
          </a:p>
        </p:txBody>
      </p:sp>
      <p:sp>
        <p:nvSpPr>
          <p:cNvPr id="20" name="TextBox 19"/>
          <p:cNvSpPr txBox="1"/>
          <p:nvPr/>
        </p:nvSpPr>
        <p:spPr>
          <a:xfrm>
            <a:off x="777240" y="484632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The run with the best validation score tested worst of the three.</a:t>
            </a:r>
            <a:endParaRPr sz="1500"/>
          </a:p>
        </p:txBody>
      </p:sp>
      <p:sp>
        <p:nvSpPr>
          <p:cNvPr id="21" name="Rectangle 20"/>
          <p:cNvSpPr/>
          <p:nvPr/>
        </p:nvSpPr>
        <p:spPr>
          <a:xfrm>
            <a:off x="6324447" y="4507992"/>
            <a:ext cx="91440" cy="91440"/>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3047" y="4434840"/>
            <a:ext cx="5090007" cy="384048"/>
          </a:xfrm>
          <a:prstGeom prst="rect">
            <a:avLst/>
          </a:prstGeom>
          <a:noFill/>
        </p:spPr>
        <p:txBody>
          <a:bodyPr wrap="square" lIns="0" rIns="0" tIns="0" bIns="0" anchor="t">
            <a:noAutofit/>
          </a:bodyPr>
          <a:lstStyle/>
          <a:p>
            <a:pPr algn="l">
              <a:lnSpc>
                <a:spcPct val="105000"/>
              </a:lnSpc>
              <a:spcAft>
                <a:spcPts val="0"/>
              </a:spcAft>
            </a:pPr>
            <a:r>
              <a:rPr sz="1900" b="1">
                <a:solidFill>
                  <a:srgbClr val="FFFFFF"/>
                </a:solidFill>
                <a:latin typeface="Calibri"/>
              </a:rPr>
              <a:t>Limits of the data</a:t>
            </a:r>
            <a:endParaRPr sz="1900"/>
          </a:p>
        </p:txBody>
      </p:sp>
      <p:sp>
        <p:nvSpPr>
          <p:cNvPr id="23" name="TextBox 22"/>
          <p:cNvSpPr txBox="1"/>
          <p:nvPr/>
        </p:nvSpPr>
        <p:spPr>
          <a:xfrm>
            <a:off x="6553047" y="4846320"/>
            <a:ext cx="5090007" cy="914400"/>
          </a:xfrm>
          <a:prstGeom prst="rect">
            <a:avLst/>
          </a:prstGeom>
          <a:noFill/>
        </p:spPr>
        <p:txBody>
          <a:bodyPr wrap="square" lIns="0" rIns="0" tIns="0" bIns="0" anchor="t">
            <a:noAutofit/>
          </a:bodyPr>
          <a:lstStyle/>
          <a:p>
            <a:pPr algn="l">
              <a:lnSpc>
                <a:spcPct val="108000"/>
              </a:lnSpc>
              <a:spcAft>
                <a:spcPts val="0"/>
              </a:spcAft>
            </a:pPr>
            <a:r>
              <a:rPr sz="1500" b="0">
                <a:solidFill>
                  <a:srgbClr val="D2D2D2"/>
                </a:solidFill>
                <a:latin typeface="Calibri"/>
              </a:rPr>
              <a:t>Text-mined labels, boxes for 8 findings only, one hospital. On this dataset these can be stated, not fixed.</a:t>
            </a:r>
            <a:endParaRPr sz="15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WHERE THIS GOES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Where this is headed</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29</a:t>
            </a:r>
            <a:endParaRPr sz="1000"/>
          </a:p>
        </p:txBody>
      </p:sp>
      <p:sp>
        <p:nvSpPr>
          <p:cNvPr id="6" name="TextBox 5"/>
          <p:cNvSpPr txBox="1"/>
          <p:nvPr/>
        </p:nvSpPr>
        <p:spPr>
          <a:xfrm>
            <a:off x="548640" y="1645920"/>
            <a:ext cx="10424160" cy="1188720"/>
          </a:xfrm>
          <a:prstGeom prst="rect">
            <a:avLst/>
          </a:prstGeom>
          <a:noFill/>
        </p:spPr>
        <p:txBody>
          <a:bodyPr wrap="square" lIns="0" rIns="0" tIns="0" bIns="0" anchor="t">
            <a:noAutofit/>
          </a:bodyPr>
          <a:lstStyle/>
          <a:p>
            <a:pPr algn="l">
              <a:lnSpc>
                <a:spcPct val="105000"/>
              </a:lnSpc>
              <a:spcAft>
                <a:spcPts val="0"/>
              </a:spcAft>
            </a:pPr>
            <a:r>
              <a:rPr sz="3000" b="0">
                <a:solidFill>
                  <a:srgbClr val="FFFFFF"/>
                </a:solidFill>
                <a:latin typeface="Calibri Light"/>
              </a:rPr>
              <a:t>Do the explanations that medical imaging papers rely on agree with the radiologist, with the model, and with each other?</a:t>
            </a:r>
            <a:endParaRPr sz="3000"/>
          </a:p>
        </p:txBody>
      </p:sp>
      <p:sp>
        <p:nvSpPr>
          <p:cNvPr id="7" name="TextBox 6"/>
          <p:cNvSpPr txBox="1"/>
          <p:nvPr/>
        </p:nvSpPr>
        <p:spPr>
          <a:xfrm>
            <a:off x="548640" y="3063240"/>
            <a:ext cx="11094415" cy="320040"/>
          </a:xfrm>
          <a:prstGeom prst="rect">
            <a:avLst/>
          </a:prstGeom>
          <a:noFill/>
        </p:spPr>
        <p:txBody>
          <a:bodyPr wrap="square" lIns="0" rIns="0" tIns="0" bIns="0" anchor="t">
            <a:noAutofit/>
          </a:bodyPr>
          <a:lstStyle/>
          <a:p>
            <a:pPr algn="l">
              <a:lnSpc>
                <a:spcPct val="105000"/>
              </a:lnSpc>
              <a:spcAft>
                <a:spcPts val="0"/>
              </a:spcAft>
            </a:pPr>
            <a:r>
              <a:rPr sz="1200" b="1" spc="150">
                <a:solidFill>
                  <a:srgbClr val="F2994A"/>
                </a:solidFill>
                <a:latin typeface="Calibri"/>
              </a:rPr>
              <a:t>WHAT OUR FIRST RESULTS SAY</a:t>
            </a:r>
            <a:endParaRPr sz="1200"/>
          </a:p>
        </p:txBody>
      </p:sp>
      <p:graphicFrame>
        <p:nvGraphicFramePr>
          <p:cNvPr id="8" name="Table 7"/>
          <p:cNvGraphicFramePr>
            <a:graphicFrameLocks noGrp="1"/>
          </p:cNvGraphicFramePr>
          <p:nvPr/>
        </p:nvGraphicFramePr>
        <p:xfrm>
          <a:off x="548640" y="3429000"/>
          <a:ext cx="11094415" cy="1700784"/>
        </p:xfrm>
        <a:graphic>
          <a:graphicData uri="http://schemas.openxmlformats.org/drawingml/2006/table">
            <a:tbl>
              <a:tblPr firstRow="0" bandRow="0">
                <a:tableStyleId>{2D5ABB26-0587-4C30-8999-92F81FD0307C}</a:tableStyleId>
              </a:tblPr>
              <a:tblGrid>
                <a:gridCol w="2834640"/>
                <a:gridCol w="8259775"/>
              </a:tblGrid>
              <a:tr h="566928">
                <a:tc>
                  <a:txBody>
                    <a:bodyPr wrap="square"/>
                    <a:lstStyle/>
                    <a:p>
                      <a:pPr algn="l">
                        <a:lnSpc>
                          <a:spcPct val="105000"/>
                        </a:lnSpc>
                        <a:spcAft>
                          <a:spcPts val="0"/>
                        </a:spcAft>
                      </a:pPr>
                      <a:r>
                        <a:rPr sz="1700" b="1">
                          <a:solidFill>
                            <a:srgbClr val="FFFFFF"/>
                          </a:solidFill>
                          <a:latin typeface="Calibri"/>
                        </a:rPr>
                        <a:t>With the radiologist</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More than twice as often as a random map. Weakest on pneumothorax, and not measurable on nodules at this resolution.</a:t>
                      </a:r>
                      <a:endParaRPr sz="17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700" b="1">
                          <a:solidFill>
                            <a:srgbClr val="FFFFFF"/>
                          </a:solidFill>
                          <a:latin typeface="Calibri"/>
                        </a:rPr>
                        <a:t>With the model</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All four pass the faithfulness test and the randomisation check, CAM and Grad-CAM by the widest margin.</a:t>
                      </a:r>
                      <a:endParaRPr sz="1700"/>
                    </a:p>
                  </a:txBody>
                  <a:tcPr marL="73152" marR="73152" marT="27432" marB="27432" anchor="ctr">
                    <a:lnL w="0">
                      <a:noFill/>
                    </a:lnL>
                    <a:lnR w="0">
                      <a:noFill/>
                    </a:lnR>
                    <a:lnT w="0">
                      <a:noFill/>
                    </a:lnT>
                    <a:lnB w="9525">
                      <a:solidFill>
                        <a:srgbClr val="2E2E2E"/>
                      </a:solidFill>
                    </a:lnB>
                    <a:noFill/>
                  </a:tcPr>
                </a:tc>
              </a:tr>
              <a:tr h="566928">
                <a:tc>
                  <a:txBody>
                    <a:bodyPr wrap="square"/>
                    <a:lstStyle/>
                    <a:p>
                      <a:pPr algn="l">
                        <a:lnSpc>
                          <a:spcPct val="105000"/>
                        </a:lnSpc>
                        <a:spcAft>
                          <a:spcPts val="0"/>
                        </a:spcAft>
                      </a:pPr>
                      <a:r>
                        <a:rPr sz="1700" b="1">
                          <a:solidFill>
                            <a:srgbClr val="FFFFFF"/>
                          </a:solidFill>
                          <a:latin typeface="Calibri"/>
                        </a:rPr>
                        <a:t>With each other</a:t>
                      </a:r>
                      <a:endParaRPr sz="1700"/>
                    </a:p>
                  </a:txBody>
                  <a:tcPr marL="73152" marR="73152"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700" b="0">
                          <a:solidFill>
                            <a:srgbClr val="D2D2D2"/>
                          </a:solidFill>
                          <a:latin typeface="Calibri"/>
                        </a:rPr>
                        <a:t>No single method comes out best on all three tests.</a:t>
                      </a:r>
                      <a:endParaRPr sz="1700"/>
                    </a:p>
                  </a:txBody>
                  <a:tcPr marL="73152" marR="73152" marT="27432" marB="27432" anchor="ctr">
                    <a:lnL w="0">
                      <a:noFill/>
                    </a:lnL>
                    <a:lnR w="0">
                      <a:noFill/>
                    </a:lnR>
                    <a:lnT w="0">
                      <a:noFill/>
                    </a:lnT>
                    <a:lnB w="9525">
                      <a:solidFill>
                        <a:srgbClr val="2E2E2E"/>
                      </a:solidFill>
                    </a:lnB>
                    <a:noFill/>
                  </a:tcPr>
                </a:tc>
              </a:tr>
            </a:tbl>
          </a:graphicData>
        </a:graphic>
      </p:graphicFrame>
      <p:sp>
        <p:nvSpPr>
          <p:cNvPr id="9" name="TextBox 8"/>
          <p:cNvSpPr txBox="1"/>
          <p:nvPr/>
        </p:nvSpPr>
        <p:spPr>
          <a:xfrm>
            <a:off x="548640" y="5577840"/>
            <a:ext cx="11094415" cy="548640"/>
          </a:xfrm>
          <a:prstGeom prst="rect">
            <a:avLst/>
          </a:prstGeom>
          <a:noFill/>
        </p:spPr>
        <p:txBody>
          <a:bodyPr wrap="square" lIns="0" rIns="0" tIns="0" bIns="0" anchor="t">
            <a:noAutofit/>
          </a:bodyPr>
          <a:lstStyle/>
          <a:p>
            <a:pPr algn="l">
              <a:lnSpc>
                <a:spcPct val="105000"/>
              </a:lnSpc>
              <a:spcAft>
                <a:spcPts val="0"/>
              </a:spcAft>
            </a:pPr>
            <a:r>
              <a:rPr sz="1700" b="0">
                <a:solidFill>
                  <a:srgbClr val="FFFFFF"/>
                </a:solidFill>
                <a:latin typeface="Calibri"/>
              </a:rPr>
              <a:t>A measurement paper like this needs a classifier that matches published work, not one that beats it. We have that.</a:t>
            </a:r>
            <a:endParaRPr sz="17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WHERE THIS GOES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How we plan to get there</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30</a:t>
            </a:r>
            <a:endParaRPr sz="1000"/>
          </a:p>
        </p:txBody>
      </p:sp>
      <p:sp>
        <p:nvSpPr>
          <p:cNvPr id="6" name="TextBox 5"/>
          <p:cNvSpPr txBox="1"/>
          <p:nvPr/>
        </p:nvSpPr>
        <p:spPr>
          <a:xfrm>
            <a:off x="548640"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Now</a:t>
            </a:r>
            <a:endParaRPr sz="2600"/>
          </a:p>
        </p:txBody>
      </p:sp>
      <p:sp>
        <p:nvSpPr>
          <p:cNvPr id="7" name="TextBox 6"/>
          <p:cNvSpPr txBox="1"/>
          <p:nvPr/>
        </p:nvSpPr>
        <p:spPr>
          <a:xfrm>
            <a:off x="548640"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with what we have</a:t>
            </a:r>
            <a:endParaRPr sz="1300"/>
          </a:p>
        </p:txBody>
      </p:sp>
      <p:sp>
        <p:nvSpPr>
          <p:cNvPr id="8" name="TextBox 7"/>
          <p:cNvSpPr txBox="1"/>
          <p:nvPr/>
        </p:nvSpPr>
        <p:spPr>
          <a:xfrm>
            <a:off x="548640"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Done: calibration and cut-offs</a:t>
            </a:r>
            <a:endParaRPr sz="1600"/>
          </a:p>
          <a:p>
            <a:pPr algn="l">
              <a:lnSpc>
                <a:spcPct val="105000"/>
              </a:lnSpc>
              <a:spcAft>
                <a:spcPts val="0"/>
              </a:spcAft>
            </a:pPr>
            <a:r>
              <a:rPr sz="1400" b="0">
                <a:solidFill>
                  <a:srgbClr val="D2D2D2"/>
                </a:solidFill>
                <a:latin typeface="Calibri"/>
              </a:rPr>
              <a:t>Platt scaling and a cut-off per finding, fitted on validation. Error fell from 0.117 to 0.011.</a:t>
            </a:r>
            <a:endParaRPr sz="1400"/>
          </a:p>
        </p:txBody>
      </p:sp>
      <p:sp>
        <p:nvSpPr>
          <p:cNvPr id="9" name="TextBox 8"/>
          <p:cNvSpPr txBox="1"/>
          <p:nvPr/>
        </p:nvSpPr>
        <p:spPr>
          <a:xfrm>
            <a:off x="548640"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Measure the shortcut</a:t>
            </a:r>
            <a:endParaRPr sz="1600"/>
          </a:p>
          <a:p>
            <a:pPr algn="l">
              <a:lnSpc>
                <a:spcPct val="105000"/>
              </a:lnSpc>
              <a:spcAft>
                <a:spcPts val="0"/>
              </a:spcAft>
            </a:pPr>
            <a:r>
              <a:rPr sz="1400" b="0">
                <a:solidFill>
                  <a:srgbClr val="D2D2D2"/>
                </a:solidFill>
                <a:latin typeface="Calibri"/>
              </a:rPr>
              <a:t>How much of each map falls outside the chest or on the border, over all 25,596 test images, against a random map.</a:t>
            </a:r>
            <a:endParaRPr sz="1400"/>
          </a:p>
        </p:txBody>
      </p:sp>
      <p:sp>
        <p:nvSpPr>
          <p:cNvPr id="10" name="TextBox 9"/>
          <p:cNvSpPr txBox="1"/>
          <p:nvPr/>
        </p:nvSpPr>
        <p:spPr>
          <a:xfrm>
            <a:off x="548640"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Score the other three methods</a:t>
            </a:r>
            <a:endParaRPr sz="1600"/>
          </a:p>
          <a:p>
            <a:pPr algn="l">
              <a:lnSpc>
                <a:spcPct val="105000"/>
              </a:lnSpc>
              <a:spcAft>
                <a:spcPts val="0"/>
              </a:spcAft>
            </a:pPr>
            <a:r>
              <a:rPr sz="1400" b="0">
                <a:solidFill>
                  <a:srgbClr val="D2D2D2"/>
                </a:solidFill>
                <a:latin typeface="Calibri"/>
              </a:rPr>
              <a:t>Score-CAM, Integrated Gradients and occlusion through the same three tests.</a:t>
            </a:r>
            <a:endParaRPr sz="1400"/>
          </a:p>
        </p:txBody>
      </p:sp>
      <p:sp>
        <p:nvSpPr>
          <p:cNvPr id="11" name="TextBox 10"/>
          <p:cNvSpPr txBox="1"/>
          <p:nvPr/>
        </p:nvSpPr>
        <p:spPr>
          <a:xfrm>
            <a:off x="4374794"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Next</a:t>
            </a:r>
            <a:endParaRPr sz="2600"/>
          </a:p>
        </p:txBody>
      </p:sp>
      <p:sp>
        <p:nvSpPr>
          <p:cNvPr id="12" name="TextBox 11"/>
          <p:cNvSpPr txBox="1"/>
          <p:nvPr/>
        </p:nvSpPr>
        <p:spPr>
          <a:xfrm>
            <a:off x="4374794"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make it hold up</a:t>
            </a:r>
            <a:endParaRPr sz="1300"/>
          </a:p>
        </p:txBody>
      </p:sp>
      <p:sp>
        <p:nvSpPr>
          <p:cNvPr id="13" name="TextBox 12"/>
          <p:cNvSpPr txBox="1"/>
          <p:nvPr/>
        </p:nvSpPr>
        <p:spPr>
          <a:xfrm>
            <a:off x="4374794"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second hospital</a:t>
            </a:r>
            <a:endParaRPr sz="1600"/>
          </a:p>
          <a:p>
            <a:pPr algn="l">
              <a:lnSpc>
                <a:spcPct val="105000"/>
              </a:lnSpc>
              <a:spcAft>
                <a:spcPts val="0"/>
              </a:spcAft>
            </a:pPr>
            <a:r>
              <a:rPr sz="1400" b="0">
                <a:solidFill>
                  <a:srgbClr val="D2D2D2"/>
                </a:solidFill>
                <a:latin typeface="Calibri"/>
              </a:rPr>
              <a:t>The frozen model and every method on VinDr-CXR or CheXlocalize annotations.</a:t>
            </a:r>
            <a:endParaRPr sz="1400"/>
          </a:p>
        </p:txBody>
      </p:sp>
      <p:sp>
        <p:nvSpPr>
          <p:cNvPr id="14" name="TextBox 13"/>
          <p:cNvSpPr txBox="1"/>
          <p:nvPr/>
        </p:nvSpPr>
        <p:spPr>
          <a:xfrm>
            <a:off x="4374794"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Finer maps for nodules</a:t>
            </a:r>
            <a:endParaRPr sz="1600"/>
          </a:p>
          <a:p>
            <a:pPr algn="l">
              <a:lnSpc>
                <a:spcPct val="105000"/>
              </a:lnSpc>
              <a:spcAft>
                <a:spcPts val="0"/>
              </a:spcAft>
            </a:pPr>
            <a:r>
              <a:rPr sz="1400" b="0">
                <a:solidFill>
                  <a:srgbClr val="D2D2D2"/>
                </a:solidFill>
                <a:latin typeface="Calibri"/>
              </a:rPr>
              <a:t>Maps from the 32 × 32 grid of dense block 3, or a larger input, then rerun the nodule check.</a:t>
            </a:r>
            <a:endParaRPr sz="1400"/>
          </a:p>
        </p:txBody>
      </p:sp>
      <p:sp>
        <p:nvSpPr>
          <p:cNvPr id="15" name="TextBox 14"/>
          <p:cNvSpPr txBox="1"/>
          <p:nvPr/>
        </p:nvSpPr>
        <p:spPr>
          <a:xfrm>
            <a:off x="4374794"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closer look at pneumothorax</a:t>
            </a:r>
            <a:endParaRPr sz="1600"/>
          </a:p>
          <a:p>
            <a:pPr algn="l">
              <a:lnSpc>
                <a:spcPct val="105000"/>
              </a:lnSpc>
              <a:spcAft>
                <a:spcPts val="0"/>
              </a:spcAft>
            </a:pPr>
            <a:r>
              <a:rPr sz="1400" b="0">
                <a:solidFill>
                  <a:srgbClr val="D2D2D2"/>
                </a:solidFill>
                <a:latin typeface="Calibri"/>
              </a:rPr>
              <a:t>Check whether its maps land on chest drains.</a:t>
            </a:r>
            <a:endParaRPr sz="1400"/>
          </a:p>
        </p:txBody>
      </p:sp>
      <p:sp>
        <p:nvSpPr>
          <p:cNvPr id="16" name="TextBox 15"/>
          <p:cNvSpPr txBox="1"/>
          <p:nvPr/>
        </p:nvSpPr>
        <p:spPr>
          <a:xfrm>
            <a:off x="8200948" y="1554480"/>
            <a:ext cx="3442106" cy="457200"/>
          </a:xfrm>
          <a:prstGeom prst="rect">
            <a:avLst/>
          </a:prstGeom>
          <a:noFill/>
        </p:spPr>
        <p:txBody>
          <a:bodyPr wrap="square" lIns="0" rIns="0" tIns="0" bIns="0" anchor="t">
            <a:noAutofit/>
          </a:bodyPr>
          <a:lstStyle/>
          <a:p>
            <a:pPr algn="l">
              <a:lnSpc>
                <a:spcPct val="105000"/>
              </a:lnSpc>
              <a:spcAft>
                <a:spcPts val="0"/>
              </a:spcAft>
            </a:pPr>
            <a:r>
              <a:rPr sz="2600" b="1">
                <a:solidFill>
                  <a:srgbClr val="F2994A"/>
                </a:solidFill>
                <a:latin typeface="Calibri"/>
              </a:rPr>
              <a:t>Later</a:t>
            </a:r>
            <a:endParaRPr sz="2600"/>
          </a:p>
        </p:txBody>
      </p:sp>
      <p:sp>
        <p:nvSpPr>
          <p:cNvPr id="17" name="TextBox 16"/>
          <p:cNvSpPr txBox="1"/>
          <p:nvPr/>
        </p:nvSpPr>
        <p:spPr>
          <a:xfrm>
            <a:off x="8200948" y="2011680"/>
            <a:ext cx="3442106" cy="32004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bigger changes</a:t>
            </a:r>
            <a:endParaRPr sz="1300"/>
          </a:p>
        </p:txBody>
      </p:sp>
      <p:sp>
        <p:nvSpPr>
          <p:cNvPr id="18" name="TextBox 17"/>
          <p:cNvSpPr txBox="1"/>
          <p:nvPr/>
        </p:nvSpPr>
        <p:spPr>
          <a:xfrm>
            <a:off x="8200948" y="2514600"/>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Explanations built into the model</a:t>
            </a:r>
            <a:endParaRPr sz="1600"/>
          </a:p>
          <a:p>
            <a:pPr algn="l">
              <a:lnSpc>
                <a:spcPct val="105000"/>
              </a:lnSpc>
              <a:spcAft>
                <a:spcPts val="0"/>
              </a:spcAft>
            </a:pPr>
            <a:r>
              <a:rPr sz="1400" b="0">
                <a:solidFill>
                  <a:srgbClr val="D2D2D2"/>
                </a:solidFill>
                <a:latin typeface="Calibri"/>
              </a:rPr>
              <a:t>An attention-pooling head or a prototype network, judged by the same three tests.</a:t>
            </a:r>
            <a:endParaRPr sz="1400"/>
          </a:p>
        </p:txBody>
      </p:sp>
      <p:sp>
        <p:nvSpPr>
          <p:cNvPr id="19" name="TextBox 18"/>
          <p:cNvSpPr txBox="1"/>
          <p:nvPr/>
        </p:nvSpPr>
        <p:spPr>
          <a:xfrm>
            <a:off x="8200948" y="3630168"/>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better recipe, then backbone</a:t>
            </a:r>
            <a:endParaRPr sz="1600"/>
          </a:p>
          <a:p>
            <a:pPr algn="l">
              <a:lnSpc>
                <a:spcPct val="105000"/>
              </a:lnSpc>
              <a:spcAft>
                <a:spcPts val="0"/>
              </a:spcAft>
            </a:pPr>
            <a:r>
              <a:rPr sz="1400" b="0">
                <a:solidFill>
                  <a:srgbClr val="D2D2D2"/>
                </a:solidFill>
                <a:latin typeface="Calibri"/>
              </a:rPr>
              <a:t>Close the gap to the best DenseNet-121 results (0.822) first, then try a transformer pretrained on X-rays (0.830 to 0.834).</a:t>
            </a:r>
            <a:endParaRPr sz="1400"/>
          </a:p>
        </p:txBody>
      </p:sp>
      <p:sp>
        <p:nvSpPr>
          <p:cNvPr id="20" name="TextBox 19"/>
          <p:cNvSpPr txBox="1"/>
          <p:nvPr/>
        </p:nvSpPr>
        <p:spPr>
          <a:xfrm>
            <a:off x="8200948" y="4745736"/>
            <a:ext cx="3304946" cy="1097280"/>
          </a:xfrm>
          <a:prstGeom prst="rect">
            <a:avLst/>
          </a:prstGeom>
          <a:noFill/>
        </p:spPr>
        <p:txBody>
          <a:bodyPr wrap="square" lIns="0" rIns="0" tIns="0" bIns="0" anchor="t">
            <a:noAutofit/>
          </a:bodyPr>
          <a:lstStyle/>
          <a:p>
            <a:pPr algn="l">
              <a:lnSpc>
                <a:spcPct val="105000"/>
              </a:lnSpc>
              <a:spcAft>
                <a:spcPts val="300"/>
              </a:spcAft>
            </a:pPr>
            <a:r>
              <a:rPr sz="1600" b="1">
                <a:solidFill>
                  <a:srgbClr val="FFFFFF"/>
                </a:solidFill>
                <a:latin typeface="Calibri"/>
              </a:rPr>
              <a:t>A radiologist's view</a:t>
            </a:r>
            <a:endParaRPr sz="1600"/>
          </a:p>
          <a:p>
            <a:pPr algn="l">
              <a:lnSpc>
                <a:spcPct val="105000"/>
              </a:lnSpc>
              <a:spcAft>
                <a:spcPts val="0"/>
              </a:spcAft>
            </a:pPr>
            <a:r>
              <a:rPr sz="1400" b="0">
                <a:solidFill>
                  <a:srgbClr val="D2D2D2"/>
                </a:solidFill>
                <a:latin typeface="Calibri"/>
              </a:rPr>
              <a:t>A radiologist rates a sample of the maps.</a:t>
            </a:r>
            <a:endParaRPr sz="14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FOR OUR MENTOR</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Questions for you</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31</a:t>
            </a:r>
            <a:endParaRPr sz="1000"/>
          </a:p>
        </p:txBody>
      </p:sp>
      <p:sp>
        <p:nvSpPr>
          <p:cNvPr id="6" name="TextBox 5"/>
          <p:cNvSpPr txBox="1"/>
          <p:nvPr/>
        </p:nvSpPr>
        <p:spPr>
          <a:xfrm>
            <a:off x="548640" y="160020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1</a:t>
            </a:r>
            <a:endParaRPr sz="4000"/>
          </a:p>
        </p:txBody>
      </p:sp>
      <p:sp>
        <p:nvSpPr>
          <p:cNvPr id="7" name="TextBox 6"/>
          <p:cNvSpPr txBox="1"/>
          <p:nvPr/>
        </p:nvSpPr>
        <p:spPr>
          <a:xfrm>
            <a:off x="1280160" y="169164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Which venue or format do you have in mind? It decides how many extra experiments are worth running.</a:t>
            </a:r>
            <a:endParaRPr sz="2100"/>
          </a:p>
        </p:txBody>
      </p:sp>
      <p:sp>
        <p:nvSpPr>
          <p:cNvPr id="8" name="TextBox 7"/>
          <p:cNvSpPr txBox="1"/>
          <p:nvPr/>
        </p:nvSpPr>
        <p:spPr>
          <a:xfrm>
            <a:off x="548640" y="256032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2</a:t>
            </a:r>
            <a:endParaRPr sz="4000"/>
          </a:p>
        </p:txBody>
      </p:sp>
      <p:sp>
        <p:nvSpPr>
          <p:cNvPr id="9" name="TextBox 8"/>
          <p:cNvSpPr txBox="1"/>
          <p:nvPr/>
        </p:nvSpPr>
        <p:spPr>
          <a:xfrm>
            <a:off x="1280160" y="265176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Should the first version include a second hospital's test set, or should that wait for a follow-up?</a:t>
            </a:r>
            <a:endParaRPr sz="2100"/>
          </a:p>
        </p:txBody>
      </p:sp>
      <p:sp>
        <p:nvSpPr>
          <p:cNvPr id="10" name="TextBox 9"/>
          <p:cNvSpPr txBox="1"/>
          <p:nvPr/>
        </p:nvSpPr>
        <p:spPr>
          <a:xfrm>
            <a:off x="548640" y="352044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3</a:t>
            </a:r>
            <a:endParaRPr sz="4000"/>
          </a:p>
        </p:txBody>
      </p:sp>
      <p:sp>
        <p:nvSpPr>
          <p:cNvPr id="11" name="TextBox 10"/>
          <p:cNvSpPr txBox="1"/>
          <p:nvPr/>
        </p:nvSpPr>
        <p:spPr>
          <a:xfrm>
            <a:off x="1280160" y="361188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With the same seed, our recipe scored 0.802 at 224 px and 0.816 at 512 px. Should the paper report both?</a:t>
            </a:r>
            <a:endParaRPr sz="2100"/>
          </a:p>
        </p:txBody>
      </p:sp>
      <p:sp>
        <p:nvSpPr>
          <p:cNvPr id="12" name="TextBox 11"/>
          <p:cNvSpPr txBox="1"/>
          <p:nvPr/>
        </p:nvSpPr>
        <p:spPr>
          <a:xfrm>
            <a:off x="548640" y="4480560"/>
            <a:ext cx="640080" cy="685800"/>
          </a:xfrm>
          <a:prstGeom prst="rect">
            <a:avLst/>
          </a:prstGeom>
          <a:noFill/>
        </p:spPr>
        <p:txBody>
          <a:bodyPr wrap="square" lIns="0" rIns="0" tIns="0" bIns="0" anchor="t">
            <a:noAutofit/>
          </a:bodyPr>
          <a:lstStyle/>
          <a:p>
            <a:pPr algn="l">
              <a:lnSpc>
                <a:spcPct val="105000"/>
              </a:lnSpc>
              <a:spcAft>
                <a:spcPts val="0"/>
              </a:spcAft>
            </a:pPr>
            <a:r>
              <a:rPr sz="4000" b="0">
                <a:solidFill>
                  <a:srgbClr val="F2994A"/>
                </a:solidFill>
                <a:latin typeface="Calibri Light"/>
              </a:rPr>
              <a:t>4</a:t>
            </a:r>
            <a:endParaRPr sz="4000"/>
          </a:p>
        </p:txBody>
      </p:sp>
      <p:sp>
        <p:nvSpPr>
          <p:cNvPr id="13" name="TextBox 12"/>
          <p:cNvSpPr txBox="1"/>
          <p:nvPr/>
        </p:nvSpPr>
        <p:spPr>
          <a:xfrm>
            <a:off x="1280160" y="4572000"/>
            <a:ext cx="10362895" cy="822960"/>
          </a:xfrm>
          <a:prstGeom prst="rect">
            <a:avLst/>
          </a:prstGeom>
          <a:noFill/>
        </p:spPr>
        <p:txBody>
          <a:bodyPr wrap="square" lIns="0" rIns="0" tIns="0" bIns="0" anchor="t">
            <a:noAutofit/>
          </a:bodyPr>
          <a:lstStyle/>
          <a:p>
            <a:pPr algn="l">
              <a:lnSpc>
                <a:spcPct val="105000"/>
              </a:lnSpc>
              <a:spcAft>
                <a:spcPts val="0"/>
              </a:spcAft>
            </a:pPr>
            <a:r>
              <a:rPr sz="2100" b="0">
                <a:solidFill>
                  <a:srgbClr val="FFFFFF"/>
                </a:solidFill>
                <a:latin typeface="Calibri"/>
              </a:rPr>
              <a:t>Does the department need ethics paperwork, even for public, de-identified data?</a:t>
            </a:r>
            <a:endParaRPr sz="2100"/>
          </a:p>
        </p:txBody>
      </p:sp>
      <p:sp>
        <p:nvSpPr>
          <p:cNvPr id="14" name="TextBox 13"/>
          <p:cNvSpPr txBox="1"/>
          <p:nvPr/>
        </p:nvSpPr>
        <p:spPr>
          <a:xfrm>
            <a:off x="548640" y="5760720"/>
            <a:ext cx="11094415" cy="411480"/>
          </a:xfrm>
          <a:prstGeom prst="rect">
            <a:avLst/>
          </a:prstGeom>
          <a:noFill/>
        </p:spPr>
        <p:txBody>
          <a:bodyPr wrap="square" lIns="0" rIns="0" tIns="0" bIns="0" anchor="t">
            <a:noAutofit/>
          </a:bodyPr>
          <a:lstStyle/>
          <a:p>
            <a:pPr algn="l">
              <a:lnSpc>
                <a:spcPct val="105000"/>
              </a:lnSpc>
              <a:spcAft>
                <a:spcPts val="0"/>
              </a:spcAft>
            </a:pPr>
            <a:r>
              <a:rPr sz="1300" b="0">
                <a:solidFill>
                  <a:srgbClr val="8F8F8F"/>
                </a:solidFill>
                <a:latin typeface="Calibri"/>
              </a:rPr>
              <a:t>Everything shown is saved and scripted: four runs with weights, history and test scores (three seeds at 512 px, one at 224 px), the explanation tables, and 44 passing unit tests.</a:t>
            </a:r>
            <a:endParaRPr sz="130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548640" y="475488"/>
            <a:ext cx="100584" cy="100584"/>
          </a:xfrm>
          <a:prstGeom prst="rect">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416052"/>
            <a:ext cx="8229600" cy="274320"/>
          </a:xfrm>
          <a:prstGeom prst="rect">
            <a:avLst/>
          </a:prstGeom>
          <a:noFill/>
        </p:spPr>
        <p:txBody>
          <a:bodyPr wrap="square" lIns="0" rIns="0" tIns="0" bIns="0" anchor="t">
            <a:noAutofit/>
          </a:bodyPr>
          <a:lstStyle/>
          <a:p>
            <a:pPr algn="l">
              <a:lnSpc>
                <a:spcPct val="105000"/>
              </a:lnSpc>
              <a:spcAft>
                <a:spcPts val="0"/>
              </a:spcAft>
            </a:pPr>
            <a:r>
              <a:rPr sz="1200" b="1" spc="200">
                <a:solidFill>
                  <a:srgbClr val="F2994A"/>
                </a:solidFill>
                <a:latin typeface="Calibri"/>
              </a:rPr>
              <a:t>REFERENCES</a:t>
            </a:r>
            <a:endParaRPr sz="1200"/>
          </a:p>
        </p:txBody>
      </p:sp>
      <p:sp>
        <p:nvSpPr>
          <p:cNvPr id="4" name="TextBox 3"/>
          <p:cNvSpPr txBox="1"/>
          <p:nvPr/>
        </p:nvSpPr>
        <p:spPr>
          <a:xfrm>
            <a:off x="548640" y="676656"/>
            <a:ext cx="11094415" cy="731520"/>
          </a:xfrm>
          <a:prstGeom prst="rect">
            <a:avLst/>
          </a:prstGeom>
          <a:noFill/>
        </p:spPr>
        <p:txBody>
          <a:bodyPr wrap="square" lIns="0" rIns="0" tIns="0" bIns="0" anchor="t">
            <a:noAutofit/>
          </a:bodyPr>
          <a:lstStyle/>
          <a:p>
            <a:pPr algn="l">
              <a:lnSpc>
                <a:spcPct val="105000"/>
              </a:lnSpc>
              <a:spcAft>
                <a:spcPts val="0"/>
              </a:spcAft>
            </a:pPr>
            <a:r>
              <a:rPr sz="3200" b="1">
                <a:solidFill>
                  <a:srgbClr val="FFFFFF"/>
                </a:solidFill>
                <a:latin typeface="Calibri"/>
              </a:rPr>
              <a:t>Papers compared in this deck</a:t>
            </a:r>
            <a:endParaRPr sz="3200"/>
          </a:p>
        </p:txBody>
      </p:sp>
      <p:sp>
        <p:nvSpPr>
          <p:cNvPr id="5" name="TextBox 4"/>
          <p:cNvSpPr txBox="1"/>
          <p:nvPr/>
        </p:nvSpPr>
        <p:spPr>
          <a:xfrm>
            <a:off x="10728655" y="6400800"/>
            <a:ext cx="914400" cy="228600"/>
          </a:xfrm>
          <a:prstGeom prst="rect">
            <a:avLst/>
          </a:prstGeom>
          <a:noFill/>
        </p:spPr>
        <p:txBody>
          <a:bodyPr wrap="square" lIns="0" rIns="0" tIns="0" bIns="0" anchor="t">
            <a:noAutofit/>
          </a:bodyPr>
          <a:lstStyle/>
          <a:p>
            <a:pPr algn="r">
              <a:lnSpc>
                <a:spcPct val="105000"/>
              </a:lnSpc>
              <a:spcAft>
                <a:spcPts val="0"/>
              </a:spcAft>
            </a:pPr>
            <a:r>
              <a:rPr sz="1000" b="0">
                <a:solidFill>
                  <a:srgbClr val="5C5C5C"/>
                </a:solidFill>
                <a:latin typeface="Calibri"/>
              </a:rPr>
              <a:t>32</a:t>
            </a:r>
            <a:endParaRPr sz="1000"/>
          </a:p>
        </p:txBody>
      </p:sp>
      <p:graphicFrame>
        <p:nvGraphicFramePr>
          <p:cNvPr id="6" name="Table 5"/>
          <p:cNvGraphicFramePr>
            <a:graphicFrameLocks noGrp="1"/>
          </p:cNvGraphicFramePr>
          <p:nvPr/>
        </p:nvGraphicFramePr>
        <p:xfrm>
          <a:off x="548640" y="1645920"/>
          <a:ext cx="5387187" cy="3584448"/>
        </p:xfrm>
        <a:graphic>
          <a:graphicData uri="http://schemas.openxmlformats.org/drawingml/2006/table">
            <a:tbl>
              <a:tblPr firstRow="0" bandRow="0">
                <a:tableStyleId>{2D5ABB26-0587-4C30-8999-92F81FD0307C}</a:tableStyleId>
              </a:tblPr>
              <a:tblGrid>
                <a:gridCol w="2468880"/>
                <a:gridCol w="2918307"/>
              </a:tblGrid>
              <a:tr h="512064">
                <a:tc>
                  <a:txBody>
                    <a:bodyPr wrap="square"/>
                    <a:lstStyle/>
                    <a:p>
                      <a:pPr algn="l">
                        <a:lnSpc>
                          <a:spcPct val="105000"/>
                        </a:lnSpc>
                        <a:spcAft>
                          <a:spcPts val="0"/>
                        </a:spcAft>
                      </a:pPr>
                      <a:r>
                        <a:rPr sz="1200" b="0">
                          <a:solidFill>
                            <a:srgbClr val="FFFFFF"/>
                          </a:solidFill>
                          <a:latin typeface="Calibri"/>
                        </a:rPr>
                        <a:t>Kim et al. 2021, XProtoNet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3"/>
                        </a:rPr>
                        <a:t>arxiv.org/abs/2103.10663</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Arun et al. 2021, saliency trust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4"/>
                        </a:rPr>
                        <a:t>doi.org/10.1148/ryai.2021200267</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DeGrave et al. 2021, shortcuts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5"/>
                        </a:rPr>
                        <a:t>doi.org/10.1038/s42256-021-00338-7</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Taslimi et al. 2022, SwinCheX</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6"/>
                        </a:rPr>
                        <a:t>arxiv.org/abs/2206.04246</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Saporta et al. 2022, CheXlocalize</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7"/>
                        </a:rPr>
                        <a:t>doi.org/10.1038/s42256-022-00536-x</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Li et al. 2022, CNN-ViT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8"/>
                        </a:rPr>
                        <a:t>pmc.ncbi.nlm.nih.gov/articles/PMC9131331/</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Zhu et al. 2022, PCAN</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9"/>
                        </a:rPr>
                        <a:t>doi.org/10.1016/j.compmedimag.2022.102137</a:t>
                      </a:r>
                      <a:endParaRPr sz="1100"/>
                    </a:p>
                  </a:txBody>
                  <a:tcPr marL="54864" marR="54864" marT="27432" marB="27432" anchor="ctr">
                    <a:lnL w="0">
                      <a:noFill/>
                    </a:lnL>
                    <a:lnR w="0">
                      <a:noFill/>
                    </a:lnR>
                    <a:lnT w="0">
                      <a:noFill/>
                    </a:lnT>
                    <a:lnB w="9525">
                      <a:solidFill>
                        <a:srgbClr val="2E2E2E"/>
                      </a:solidFill>
                    </a:lnB>
                    <a:noFill/>
                  </a:tcPr>
                </a:tc>
              </a:tr>
            </a:tbl>
          </a:graphicData>
        </a:graphic>
      </p:graphicFrame>
      <p:graphicFrame>
        <p:nvGraphicFramePr>
          <p:cNvPr id="7" name="Table 6"/>
          <p:cNvGraphicFramePr>
            <a:graphicFrameLocks noGrp="1"/>
          </p:cNvGraphicFramePr>
          <p:nvPr/>
        </p:nvGraphicFramePr>
        <p:xfrm>
          <a:off x="6255867" y="1645920"/>
          <a:ext cx="5387187" cy="3584448"/>
        </p:xfrm>
        <a:graphic>
          <a:graphicData uri="http://schemas.openxmlformats.org/drawingml/2006/table">
            <a:tbl>
              <a:tblPr firstRow="0" bandRow="0">
                <a:tableStyleId>{2D5ABB26-0587-4C30-8999-92F81FD0307C}</a:tableStyleId>
              </a:tblPr>
              <a:tblGrid>
                <a:gridCol w="2468880"/>
                <a:gridCol w="2918307"/>
              </a:tblGrid>
              <a:tr h="512064">
                <a:tc>
                  <a:txBody>
                    <a:bodyPr wrap="square"/>
                    <a:lstStyle/>
                    <a:p>
                      <a:pPr algn="l">
                        <a:lnSpc>
                          <a:spcPct val="105000"/>
                        </a:lnSpc>
                        <a:spcAft>
                          <a:spcPts val="0"/>
                        </a:spcAft>
                      </a:pPr>
                      <a:r>
                        <a:rPr sz="1200" b="0">
                          <a:solidFill>
                            <a:srgbClr val="FFFFFF"/>
                          </a:solidFill>
                          <a:latin typeface="Calibri"/>
                        </a:rPr>
                        <a:t>Xiao et al. 2023, MAE for X-rays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0"/>
                        </a:rPr>
                        <a:t>arxiv.org/abs/2210.12843</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Jiménez-Sánchez et al. 2023, drains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1"/>
                        </a:rPr>
                        <a:t>arxiv.org/abs/2211.04279</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Goel et al. 2024, low-rank features</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2"/>
                        </a:rPr>
                        <a:t>arxiv.org/abs/2404.18933</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Hossain et al. 2024, ThoraX-PriorNet</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3"/>
                        </a:rPr>
                        <a:t>arxiv.org/abs/2210.02998</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Yao et al. 2025, EVA-X</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4"/>
                        </a:rPr>
                        <a:t>doi.org/10.1038/s41746-025-02032-z</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Statheros et al. 2025, CLARiTy</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5"/>
                        </a:rPr>
                        <a:t>arxiv.org/abs/2512.16700</a:t>
                      </a:r>
                      <a:endParaRPr sz="1100"/>
                    </a:p>
                  </a:txBody>
                  <a:tcPr marL="54864" marR="54864" marT="27432" marB="27432" anchor="ctr">
                    <a:lnL w="0">
                      <a:noFill/>
                    </a:lnL>
                    <a:lnR w="0">
                      <a:noFill/>
                    </a:lnR>
                    <a:lnT w="0">
                      <a:noFill/>
                    </a:lnT>
                    <a:lnB w="9525">
                      <a:solidFill>
                        <a:srgbClr val="2E2E2E"/>
                      </a:solidFill>
                    </a:lnB>
                    <a:noFill/>
                  </a:tcPr>
                </a:tc>
              </a:tr>
              <a:tr h="512064">
                <a:tc>
                  <a:txBody>
                    <a:bodyPr wrap="square"/>
                    <a:lstStyle/>
                    <a:p>
                      <a:pPr algn="l">
                        <a:lnSpc>
                          <a:spcPct val="105000"/>
                        </a:lnSpc>
                        <a:spcAft>
                          <a:spcPts val="0"/>
                        </a:spcAft>
                      </a:pPr>
                      <a:r>
                        <a:rPr sz="1200" b="0">
                          <a:solidFill>
                            <a:srgbClr val="FFFFFF"/>
                          </a:solidFill>
                          <a:latin typeface="Calibri"/>
                        </a:rPr>
                        <a:t>Dataset: Wang et al. 2017 (required)</a:t>
                      </a:r>
                      <a:endParaRPr sz="1200"/>
                    </a:p>
                  </a:txBody>
                  <a:tcPr marL="54864" marR="54864" marT="27432" marB="27432" anchor="ctr">
                    <a:lnL w="0">
                      <a:noFill/>
                    </a:lnL>
                    <a:lnR w="0">
                      <a:noFill/>
                    </a:lnR>
                    <a:lnT w="0">
                      <a:noFill/>
                    </a:lnT>
                    <a:lnB w="9525">
                      <a:solidFill>
                        <a:srgbClr val="2E2E2E"/>
                      </a:solidFill>
                    </a:lnB>
                    <a:noFill/>
                  </a:tcPr>
                </a:tc>
                <a:tc>
                  <a:txBody>
                    <a:bodyPr wrap="square"/>
                    <a:lstStyle/>
                    <a:p>
                      <a:pPr algn="l">
                        <a:lnSpc>
                          <a:spcPct val="105000"/>
                        </a:lnSpc>
                        <a:spcAft>
                          <a:spcPts val="0"/>
                        </a:spcAft>
                      </a:pPr>
                      <a:r>
                        <a:rPr sz="1100" b="0">
                          <a:solidFill>
                            <a:srgbClr val="F2994A"/>
                          </a:solidFill>
                          <a:latin typeface="Calibri"/>
                          <a:hlinkClick r:id="rId16"/>
                        </a:rPr>
                        <a:t>arxiv.org/abs/1705.02315</a:t>
                      </a:r>
                      <a:endParaRPr sz="1100"/>
                    </a:p>
                  </a:txBody>
                  <a:tcPr marL="54864" marR="54864" marT="27432" marB="27432" anchor="ctr">
                    <a:lnL w="0">
                      <a:noFill/>
                    </a:lnL>
                    <a:lnR w="0">
                      <a:noFill/>
                    </a:lnR>
                    <a:lnT w="0">
                      <a:noFill/>
                    </a:lnT>
                    <a:lnB w="9525">
                      <a:solidFill>
                        <a:srgbClr val="2E2E2E"/>
                      </a:solidFill>
                    </a:lnB>
                    <a:no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2994A"/>
      </a:hlink>
      <a:folHlink>
        <a:srgbClr val="F2994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chest X-ray classification</dc:title>
  <dc:subject>First review</dc:subject>
  <dc:creator/>
  <cp:keywords/>
  <dc:description>generated using python-pptx</dc:description>
  <cp:lastModifiedBy/>
  <cp:revision>1</cp:revision>
  <dcterms:created xsi:type="dcterms:W3CDTF">2013-01-27T09:14:16Z</dcterms:created>
  <dcterms:modified xsi:type="dcterms:W3CDTF">2013-01-27T09:15:58Z</dcterms:modified>
  <cp:category/>
</cp:coreProperties>
</file>